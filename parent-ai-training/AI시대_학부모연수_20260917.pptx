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인사와 함께 오늘의 결론을 먼저 보여 줍니다. ‘AI를 쓰게 할까 말까’가 아니라 ‘아이의 생각을 지키면서 어떻게 쓰게 할까’가 오늘의 질문임을 밝힙니다. 90분 동안 설명만 듣는 시간이 아니라 여섯 번의 짧은 참여 활동이 있다고 예고합니다.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네 가지를 읽어 주고 손을 들게 합니다. 가장 많이 나온 항목을 기억해 두었다가 해당 구간(숙제=22~27장, 사실 확인=30~31장, 시작 나이=10~16장)에서 다시 언급하면 몰입도가 올라갑니다.</a:t>
            </a:r>
          </a:p>
          <a:p>
            <a:r>
              <a:rPr sz="1100">
                <a:latin typeface="맑은 고딕"/>
                <a:ea typeface="맑은 고딕"/>
                <a:cs typeface="맑은 고딕"/>
              </a:rPr>
              <a:t>수치 안내: 한국언론진흥재단 『2025 10대 청소년 미디어 이용 조사』, 초4~고3 2,674명 대상, ‘최근 일주일 내 인공지능 이용’ 응답 기준(전체 67.6%). 매일 이용은 초등 3.7%로 아직 낮습니다. ‘많이 쓴다’가 아니라 ‘이미 접하고 있다’는 뜻으로 해석해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세 가지를 손가락으로 세어 보이며 말합니다. ‘AI를 얼마나 일찍 배우느냐’보다 ‘아이의 생각을 지키면서 어떻게 쓰느냐’가 오늘의 축이라고 분명히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정답은 X입니다. 투표 결과를 먼저 세어 보고 시작하면 다음 장의 연구 결과가 훨씬 잘 들립니다.</a:t>
            </a:r>
          </a:p>
          <a:p>
            <a:r>
              <a:rPr sz="1100">
                <a:latin typeface="맑은 고딕"/>
                <a:ea typeface="맑은 고딕"/>
                <a:cs typeface="맑은 고딕"/>
              </a:rPr>
              <a:t>여기서 결론을 길게 설명하지 마십시오. 5~9장에서 근거를 제시합니다. ‘화면을 닫고 설명하게 하기’는 오늘 연수에서 반복되는 핵심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비유: ‘엄청나게 많은 글을 읽고 다음에 올 말을 아주 잘 맞히는 프로그램’. ‘정답을 찾아 주는 기계’가 아니라 ‘문장을 완성하는 기계’라는 점이 핵심입니다.</a:t>
            </a:r>
          </a:p>
          <a:p>
            <a:r>
              <a:rPr sz="1100">
                <a:latin typeface="맑은 고딕"/>
                <a:ea typeface="맑은 고딕"/>
                <a:cs typeface="맑은 고딕"/>
              </a:rPr>
              <a:t>여기서 ‘환각(hallucination)’이라는 용어를 한 번만 언급하고 넘어가되, 30장에서 다시 다룬다고 예고합니다. 서비스마다 검색 연결 여부가 다르므로 특정 제품의 특성을 모든 AI로 일반화하지 않도록 주의합니다.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A와 B는 같은 AI, 같은 문제입니다. 다른 것은 아이가 무엇을 요청했는가뿐입니다. 26장 ‘답 알려줘를 바꿔봅시다’ 활동이 바로 이 갈림길을 B로 돌리는 연습이라고 연결해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학부모가 기사에서 만나는 ‘AI가 성적을 올린다 / 떨어뜨린다’ 류의 상반된 제목을 스스로 판단하도록 돕는 장입니다.</a:t>
            </a:r>
          </a:p>
          <a:p>
            <a:r>
              <a:rPr sz="1100">
                <a:latin typeface="맑은 고딕"/>
                <a:ea typeface="맑은 고딕"/>
                <a:cs typeface="맑은 고딕"/>
              </a:rPr>
              <a:t>세 번째 질문이 오늘 연수에서 가장 중요합니다. 대부분의 낙관적 보도는 ‘AI를 쓰는 동안’의 성과를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이 장은 오늘 연수의 근거 중심입니다. 천천히 읽어 주십시오.</a:t>
            </a:r>
          </a:p>
          <a:p>
            <a:r>
              <a:rPr sz="1100">
                <a:latin typeface="맑은 고딕"/>
                <a:ea typeface="맑은 고딕"/>
                <a:cs typeface="맑은 고딕"/>
              </a:rPr>
              <a:t>연구 개요: 튀르키예의 한 고등학교, 2023–24학년도 1학기, 고등학생 약 1,000명, 수학 연습 문제. 두 가지 AI를 비교했습니다. ①일반 챗봇과 같은 인터페이스(GPT Base) ②정답 대신 교사가 설계한 힌트를 주도록 안전장치를 넣은 튜터(GPT Tutor).</a:t>
            </a:r>
          </a:p>
          <a:p>
            <a:r>
              <a:rPr sz="1100">
                <a:latin typeface="맑은 고딕"/>
                <a:ea typeface="맑은 고딕"/>
                <a:cs typeface="맑은 고딕"/>
              </a:rPr>
              <a:t>결과: 연습 중에는 각각 48%, 127% 성적이 올랐지만, AI를 치우고 본 시험에서 일반 챗봇을 쓴 학생은 AI를 쓴 적 없는 학생보다 17% 낮았습니다. 튜터 쪽은 부정적 효과가 대부분 사라졌습니다.</a:t>
            </a:r>
          </a:p>
          <a:p>
            <a:r>
              <a:rPr sz="1100">
                <a:latin typeface="맑은 고딕"/>
                <a:ea typeface="맑은 고딕"/>
                <a:cs typeface="맑은 고딕"/>
              </a:rPr>
              <a:t>해석의 한계를 반드시 함께 말해 주십시오. ①고등학생 대상이므로 초등학생에게 그대로 적용할 수 없습니다. ②수학 연습 문제라는 특정 과제입니다. ③‘AI가 나쁘다’가 아니라 ‘안전장치 없이 정답을 주는 방식이 위험하다’는 연구입니다. 논문 제목 자체가 ‘without guardrails(안전장치 없이)’입니다.</a:t>
            </a:r>
          </a:p>
          <a:p>
            <a:r>
              <a:rPr sz="1100">
                <a:latin typeface="맑은 고딕"/>
                <a:ea typeface="맑은 고딕"/>
                <a:cs typeface="맑은 고딕"/>
              </a:rPr>
              <a:t>인용 시 참고: 해당 논문에는 2025년 8월 정정 공지(Correction)가 함께 게재되어 있으므로, 자료집에 옮길 때 PNAS 최종본을 확인하시기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8장 연구가 ‘시험 점수’를 봤다면, 이 장은 ‘머릿속에서 무슨 일이 일어나는가’를 봅니다. 학부모에게 오늘 연수의 핵심 개념 하나를 남긴다면 ‘인지 부채’입니다.</a:t>
            </a:r>
          </a:p>
          <a:p>
            <a:r>
              <a:rPr sz="1100">
                <a:latin typeface="맑은 고딕"/>
                <a:ea typeface="맑은 고딕"/>
                <a:cs typeface="맑은 고딕"/>
              </a:rPr>
              <a:t>왼쪽: MIT 미디어랩 연구진이 성인 54명에게 에세이를 쓰게 하면서 뇌파(EEG)를 측정했습니다. 도구 없이 쓴 그룹의 뇌 연결이 가장 넓고 강했고, 검색엔진 그룹이 중간, AI 그룹이 가장 약했습니다. AI로 쓴 사람들은 조금 전 자기가 쓴 글을 인용하지 못했고, ‘내 글’이라는 느낌도 약했습니다. 연구진은 이를 ‘인지 부채’라고 불렀습니다. 당장은 편하지만 나중에 갚아야 하는 빚이라는 뜻입니다.</a:t>
            </a:r>
          </a:p>
          <a:p>
            <a:r>
              <a:rPr sz="1100">
                <a:latin typeface="맑은 고딕"/>
                <a:ea typeface="맑은 고딕"/>
                <a:cs typeface="맑은 고딕"/>
              </a:rPr>
              <a:t>오른쪽: 성인 666명을 조사한 다른 연구에서는 AI를 자주 쓸수록 비판적 사고 점수가 낮은 경향이 나타났고, ‘인지적 외주화’(생각을 밖에 맡기는 것)가 그 사이를 매개했습니다. 젊은 층일수록 의존이 크고 점수가 낮았습니다.</a:t>
            </a:r>
          </a:p>
          <a:p>
            <a:r>
              <a:rPr sz="1100">
                <a:latin typeface="맑은 고딕"/>
                <a:ea typeface="맑은 고딕"/>
                <a:cs typeface="맑은 고딕"/>
              </a:rPr>
              <a:t>해석의 한계를 반드시 함께 말해 주십시오. ①둘 다 성인 대상입니다. ②MIT 연구는 54명의 소규모 실험이고 아직 학계 논의가 진행 중입니다(반론 논문도 나와 있습니다). ③두 번째 연구는 상관 분석이라 ‘AI 때문에 사고력이 낮아졌다’고 단정할 수 없습니다. ‘생각을 많이 맡기는 사람이 원래 그렇다’는 반대 설명도 가능합니다.</a:t>
            </a:r>
          </a:p>
          <a:p>
            <a:r>
              <a:rPr sz="1100">
                <a:latin typeface="맑은 고딕"/>
                <a:ea typeface="맑은 고딕"/>
                <a:cs typeface="맑은 고딕"/>
              </a:rPr>
              <a:t>가정에서의 실천은 이미 배운 것과 같습니다. 화면을 닫고 자기 말로 설명하게 하기. 그것이 빌린 생각을 갚는 절차라고 정리해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학부모가 가장 많이 묻는 질문이지만, 하나의 숫자로 답하지 않는 것이 정확합니다.</a:t>
            </a:r>
          </a:p>
          <a:p>
            <a:r>
              <a:rPr sz="1100">
                <a:latin typeface="맑은 고딕"/>
                <a:ea typeface="맑은 고딕"/>
                <a:cs typeface="맑은 고딕"/>
              </a:rPr>
              <a:t>다음 장에서 세 번째 관문(준비도)을, 14장에서 첫 번째 관문(서비스별 연령 조건)을 구체적으로 다룹니다. 두 번째 관문(학교 지침)은 12~13장, 22장입니다.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이 네 가지는 집에서 5분이면 확인할 수 있습니다. 실제로 틀린 답을 하나 같이 찾아보는 것이 가장 빠른 방법입니다(31장 활동과 연결).</a:t>
            </a:r>
          </a:p>
          <a:p>
            <a:r>
              <a:rPr sz="1100">
                <a:latin typeface="맑은 고딕"/>
                <a:ea typeface="맑은 고딕"/>
                <a:cs typeface="맑은 고딕"/>
              </a:rPr>
              <a:t>‘아직 안 됨 = 금지’가 아니라 ‘아직 안 됨 = 동반 사용’이라는 메시지를 꼭 전해 주십시오. 금지만 하면 아이는 부모가 모르는 곳에서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학부모가 ‘학교는 뭘 하고 있나’라고 묻는 지점입니다. 세 갈래를 구분해 주면 오해가 줄어듭니다.</a:t>
            </a:r>
          </a:p>
          <a:p>
            <a:r>
              <a:rPr sz="1100">
                <a:latin typeface="맑은 고딕"/>
                <a:ea typeface="맑은 고딕"/>
                <a:cs typeface="맑은 고딕"/>
              </a:rPr>
              <a:t>시수 안내: 2022 개정 교육과정에서 초등 정보 교육은 실과 내 17시간에서 34시간 이상으로, 중학교 정보는 34시간에서 68시간 이상으로 확대되었습니다. 학교마다 편성 방식(학교 자율시간 활용 등)이 다르므로, 우리 학교의 실제 운영은 다음 장의 체크리스트로 확인하도록 안내합니다.</a:t>
            </a:r>
          </a:p>
          <a:p>
            <a:r>
              <a:rPr sz="1100">
                <a:latin typeface="맑은 고딕"/>
                <a:ea typeface="맑은 고딕"/>
                <a:cs typeface="맑은 고딕"/>
              </a:rPr>
              <a:t>주의: 개별 학교의 도입률이나 특정 사업 참여 학교 수는 확인된 자료가 아니면 말하지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이 장은 사진을 찍어 가시라고 안내하면 좋습니다.</a:t>
            </a:r>
          </a:p>
          <a:p>
            <a:r>
              <a:rPr sz="1100">
                <a:latin typeface="맑은 고딕"/>
                <a:ea typeface="맑은 고딕"/>
                <a:cs typeface="맑은 고딕"/>
              </a:rPr>
              <a:t>따지려는 질문이 아니라 ‘가정에서 같은 기준을 쓰기 위해서’ 묻는 것이라는 태도를 강조해 주십시오. 특히 세 번째와 네 번째는 학년·과목마다 다를 수 있으므로 담임 선생님께 확인하는 것이 정확합니다.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계정 이야기는 이 한 장으로 정리됩니다. 네 줄을 차례로 읽어 주세요.</a:t>
            </a:r>
          </a:p>
          <a:p>
            <a:r>
              <a:rPr sz="1100">
                <a:latin typeface="맑은 고딕"/>
                <a:ea typeface="맑은 고딕"/>
                <a:cs typeface="맑은 고딕"/>
              </a:rPr>
              <a:t>①ChatGPT는 약관상 만 13세 이상입니다. 초등학생은 자기 이름으로 가입할 수 없습니다. ②Gemini는 예외적으로 길이 있습니다. 보호자가 Family Link에서 자녀 계정에 접근을 켜 주는 방식이라, 부모 설정이 먼저입니다. ③국내 개인정보 보호법상 만 14세 미만은 보호자 동의가 필수입니다. 초등학생은 대부분 여기에 해당합니다. ‘구글로 로그인’ 같은 소셜 로그인도 개인정보를 그 서비스에 넘기는 데 동의하는 절차라는 점을 짚어 주시면 좋겠습니다.</a:t>
            </a:r>
          </a:p>
          <a:p>
            <a:r>
              <a:rPr sz="1100">
                <a:latin typeface="맑은 고딕"/>
                <a:ea typeface="맑은 고딕"/>
                <a:cs typeface="맑은 고딕"/>
              </a:rPr>
              <a:t>④서울시교육청 「학교급별 생성형 AI 활용 지침」은 초등학생의 경우 교사 시연을 통한 간접 체험을 원칙으로 하고, 교사가 추가 작업으로 안정성을 확보하면 직접 사용도 가능하다고 안내합니다. 수업이나 방과후에 활용할 때는 가정통신문 등으로 학부모 동의를 받습니다.</a:t>
            </a:r>
          </a:p>
          <a:p>
            <a:r>
              <a:rPr sz="1100">
                <a:latin typeface="맑은 고딕"/>
                <a:ea typeface="맑은 고딕"/>
                <a:cs typeface="맑은 고딕"/>
              </a:rPr>
              <a:t>※ 이 항목은 서울시교육청 기준입니다. 다른 지역이라면 해당 시도교육청 지침을 확인해 바꿔서 안내해 주십시오.</a:t>
            </a:r>
          </a:p>
          <a:p>
            <a:r>
              <a:rPr sz="1100">
                <a:latin typeface="맑은 고딕"/>
                <a:ea typeface="맑은 고딕"/>
                <a:cs typeface="맑은 고딕"/>
              </a:rPr>
              <a:t>‘자녀 계정 연결’ 질문이 나오면: ChatGPT의 보호자 관리 기능은 부모 계정과 아이 본인 계정을 묶는 것이라 만 13~18세용입니다. 초등학생은 계정 자체가 없으니 해당되지 않습니다. 그 기능도 사용 금지 시간대나 기능 제한은 걸 수 있지만 대화 내용을 읽을 수는 없습니다.</a:t>
            </a:r>
          </a:p>
          <a:p>
            <a:r>
              <a:rPr sz="1100">
                <a:latin typeface="맑은 고딕"/>
                <a:ea typeface="맑은 고딕"/>
                <a:cs typeface="맑은 고딕"/>
              </a:rPr>
              <a:t>정리 문장을 크게 읽어 주세요. 오늘 계정 부분에서 가져갈 것은 이 한 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‘그래서 뭘 쓰게 해야 하나요’라는 질문에 대한 답입니다. 표를 천천히 읽어 주세요.</a:t>
            </a:r>
          </a:p>
          <a:p>
            <a:r>
              <a:rPr sz="1100">
                <a:latin typeface="맑은 고딕"/>
                <a:ea typeface="맑은 고딕"/>
                <a:cs typeface="맑은 고딕"/>
              </a:rPr>
              <a:t>가장 중요한 메시지: 범용 AI 챗봇은 대부분 만 13세 이상입니다. 초등학생은 원칙적으로 자기 계정을 만들 수 없습니다. Claude는 보호자가 동의해도 만 18세 미만은 쓸 수 없습니다.</a:t>
            </a:r>
          </a:p>
          <a:p>
            <a:r>
              <a:rPr sz="1100">
                <a:latin typeface="맑은 고딕"/>
                <a:ea typeface="맑은 고딕"/>
                <a:cs typeface="맑은 고딕"/>
              </a:rPr>
              <a:t>예외가 두 갈래 있습니다. ①Google Gemini와 뤼튼처럼 보호자가 관리·동의하면 열리는 서비스 ②똑똑! 수학탐험대, AI펭톡처럼 처음부터 초등학생을 위해 만든 학교 제공 서비스입니다. 특히 후자는 교육부가 제공하는 것이라 연령·개인정보 문제에서 가장 안전합니다.</a:t>
            </a:r>
          </a:p>
          <a:p>
            <a:r>
              <a:rPr sz="1100">
                <a:latin typeface="맑은 고딕"/>
                <a:ea typeface="맑은 고딕"/>
                <a:cs typeface="맑은 고딕"/>
              </a:rPr>
              <a:t>국내법 기준도 함께 짚어 주십시오. 개인정보 보호법상 만 14세 미만 아동이 온라인 서비스에 가입할 때는 법정대리인(보호자) 동의가 필요합니다. 초등학생은 대부분 여기에 해당합니다.</a:t>
            </a:r>
          </a:p>
          <a:p>
            <a:r>
              <a:rPr sz="1100">
                <a:latin typeface="맑은 고딕"/>
                <a:ea typeface="맑은 고딕"/>
                <a:cs typeface="맑은 고딕"/>
              </a:rPr>
              <a:t>각 줄의 서비스 이름에 공식 안내 링크를 걸어 두었습니다. 발표 전에 눌러서 바뀐 내용이 없는지 확인하시면 좋겠습니다. 연령 정책은 자주 바뀝니다.</a:t>
            </a:r>
          </a:p>
          <a:p>
            <a:r>
              <a:rPr sz="1100">
                <a:latin typeface="맑은 고딕"/>
                <a:ea typeface="맑은 고딕"/>
                <a:cs typeface="맑은 고딕"/>
              </a:rPr>
              <a:t>특정 제품을 권하는 자리가 아니라는 점, 그리고 표에 없는 서비스도 많다는 점을 덧붙여 주세요.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15장에서 Gemini가 △였던 이유가 이 설정입니다. 실제로 해 보실 분들을 위한 화면입니다.</a:t>
            </a:r>
          </a:p>
          <a:p>
            <a:r>
              <a:rPr sz="1100">
                <a:latin typeface="맑은 고딕"/>
                <a:ea typeface="맑은 고딕"/>
                <a:cs typeface="맑은 고딕"/>
              </a:rPr>
              <a:t>진행 요령: 다섯 단계를 천천히 읽어 주시고, 관심 있는 분은 지금 휴대폰으로 따라 해 보시라고 해도 좋습니다. 다만 강사가 먼저 한 번 해 보고 오시는 편이 좋습니다. 메뉴 이름과 위치가 앱 버전에 따라 다를 수 있습니다.</a:t>
            </a:r>
          </a:p>
          <a:p>
            <a:r>
              <a:rPr sz="1100">
                <a:latin typeface="맑은 고딕"/>
                <a:ea typeface="맑은 고딕"/>
                <a:cs typeface="맑은 고딕"/>
              </a:rPr>
              <a:t>구글이 안내하는 주의사항 두 가지를 꼭 함께 전해 주세요. ①감독 대상 계정에 대한 제미나이 지원이 점진적으로 확대되는 중이라 아직 보이지 않을 수 있습니다. ②설정을 바꿔도 반영되는 데 몇 시간이 걸릴 수 있고, 안 되면 앱을 다시 시작해 보라고 안내되어 있습니다.</a:t>
            </a:r>
          </a:p>
          <a:p>
            <a:r>
              <a:rPr sz="1100">
                <a:latin typeface="맑은 고딕"/>
                <a:ea typeface="맑은 고딕"/>
                <a:cs typeface="맑은 고딕"/>
              </a:rPr>
              <a:t>가장 중요한 것은 아래 띠입니다. 켜는 방법보다 켜기 전에 정하는 세 가지가 오늘 연수의 핵심입니다. ‘설정은 5분이면 끝나지만, 약속은 계속 쓰입니다’라고 정리해 주시면 좋겠습니다.</a:t>
            </a:r>
          </a:p>
          <a:p>
            <a:r>
              <a:rPr sz="1100">
                <a:latin typeface="맑은 고딕"/>
                <a:ea typeface="맑은 고딕"/>
                <a:cs typeface="맑은 고딕"/>
              </a:rPr>
              <a:t>이 장은 제미나이를 권하는 자리가 아닙니다. 허용하기로 이미 정한 가정을 위한 안내라는 점을 한 번 짚어 주십시오. 41장 ‘우리 집 AI 사용 약속’에서 이 세 가지를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신호등은 냉장고에 붙여 두기 좋은 형태입니다. 41장에서 각 가정이 직접 채웁니다.</a:t>
            </a:r>
          </a:p>
          <a:p>
            <a:r>
              <a:rPr sz="1100">
                <a:latin typeface="맑은 고딕"/>
                <a:ea typeface="맑은 고딕"/>
                <a:cs typeface="맑은 고딕"/>
              </a:rPr>
              <a:t>빨강은 협상하지 않는 선(개인정보·대필·결제)만 짧게 둡니다. 빨강이 길어지면 아이가 전부를 금지로 받아들입니다.</a:t>
            </a:r>
          </a:p>
          <a:p>
            <a:r>
              <a:rPr sz="1100">
                <a:latin typeface="맑은 고딕"/>
                <a:ea typeface="맑은 고딕"/>
                <a:cs typeface="맑은 고딕"/>
              </a:rPr>
              <a:t>노랑의 ‘물어본다’는 허락을 받으라는 뜻이면서, 부모가 아이의 사용을 알게 되는 통로이기도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예시로 풀어 주면 좋습니다. ‘동물 조사 숙제’라면 ①내가 아는 것 말하기 → ②도감·교과서에서 사실 찾기 → ③어려운 낱말을 AI에게 설명 요청 → ④찾은 사실을 자료와 대조 → ⑤자기 말로 발표 연습.</a:t>
            </a:r>
          </a:p>
          <a:p>
            <a:r>
              <a:rPr sz="1100">
                <a:latin typeface="맑은 고딕"/>
                <a:ea typeface="맑은 고딕"/>
                <a:cs typeface="맑은 고딕"/>
              </a:rPr>
              <a:t>부모가 개입할 지점은 1번과 5번입니다. 이 두 곳만 지켜도 나머지는 크게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‘AI가 다 해 주는데 왜 책을 읽어야 하나요’라는 질문에 대한 답입니다. AI는 설명은 잘하지만 그 설명이 맞는지는 보증하지 않습니다. 검색은 원문에 닿게 해 주고, 책은 앞뒤 맥락을 줍니다. 셋의 기능이 겹치지 않는다는 점을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앞 장에서 ‘책은 맥락을 읽는다’고 했던 것의 근거입니다.</a:t>
            </a:r>
          </a:p>
          <a:p>
            <a:r>
              <a:rPr sz="1100">
                <a:latin typeface="맑은 고딕"/>
                <a:ea typeface="맑은 고딕"/>
                <a:cs typeface="맑은 고딕"/>
              </a:rPr>
              <a:t>이 메타분석은 2000~2017년에 발표된 연구들을 모아, 같은 글을 종이와 디지털 기기로 읽었을 때를 비교했습니다. 연구 설계와 관계없이 종이로 읽을 때 학습 효과가 더 컸습니다. 논문 제목이 ‘Don’t throw away your printed books(인쇄된 책을 버리지 마세요)’입니다.</a:t>
            </a:r>
          </a:p>
          <a:p>
            <a:r>
              <a:rPr sz="1100">
                <a:latin typeface="맑은 고딕"/>
                <a:ea typeface="맑은 고딕"/>
                <a:cs typeface="맑은 고딕"/>
              </a:rPr>
              <a:t>해석의 주의: ①대부분 성인·청소년 대상 연구이므로 초등학생에게 그대로 적용하기는 어렵습니다. ②디지털 읽기가 쓸모없다는 뜻이 아니라, 깊이 읽어야 하는 글에서 차이가 난다는 뜻입니다. ③2017년까지의 연구라는 점도 함께 말해 주십시오.</a:t>
            </a:r>
          </a:p>
          <a:p>
            <a:r>
              <a:rPr sz="1100">
                <a:latin typeface="맑은 고딕"/>
                <a:ea typeface="맑은 고딕"/>
                <a:cs typeface="맑은 고딕"/>
              </a:rPr>
              <a:t>가정에서 할 일 한 가지로 정리하면: 숙제로 읽어야 하는 긴 글은 인쇄해서 읽히거나 책으로 읽히기. 짧은 검색은 화면으로 해도 괜찮습니다.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‘기기를 쓰게 할까 말까’라는 이분법을 깨는 장입니다.</a:t>
            </a:r>
          </a:p>
          <a:p>
            <a:r>
              <a:rPr sz="1100">
                <a:latin typeface="맑은 고딕"/>
                <a:ea typeface="맑은 고딕"/>
                <a:cs typeface="맑은 고딕"/>
              </a:rPr>
              <a:t>PISA 2022에서 OECD 평균 59%의 학생이 수학 수업에서 다른 학생의 휴대폰·태블릿·노트북 사용 때문에 주의가 흐트러진 적이 있다고 답했습니다. 매 수업 또는 대부분의 수업에서 방해받는다고 답한 학생은 그렇지 않은 학생보다 수학 점수가 15점 낮았습니다. PISA에서 15세 학생의 연간 학습량이 약 20점이므로, 15점은 약 4분의 3년치에 해당합니다.</a:t>
            </a:r>
          </a:p>
          <a:p>
            <a:r>
              <a:rPr sz="1100">
                <a:latin typeface="맑은 고딕"/>
                <a:ea typeface="맑은 고딕"/>
                <a:cs typeface="맑은 고딕"/>
              </a:rPr>
              <a:t>반대쪽 결과도 꼭 같이 전해 주세요. 학교에서 학습 목적으로 하루 1시간 이하 사용한 학생은 전혀 쓰지 않은 학생보다 14점 높았습니다. 반면 여가 목적으로 하루 1시간을 넘기면 점수가 크게 떨어졌습니다.</a:t>
            </a:r>
          </a:p>
          <a:p>
            <a:r>
              <a:rPr sz="1100">
                <a:latin typeface="맑은 고딕"/>
                <a:ea typeface="맑은 고딕"/>
                <a:cs typeface="맑은 고딕"/>
              </a:rPr>
              <a:t>해석의 주의: 만 15세 대상이고, 인과관계가 아니라 상관관계를 보여 주는 자료입니다. ‘공부 잘하는 학생이 기기를 적게 쓴다’는 반대 방향의 설명도 가능하다는 점을 짚어 주시면 좋습니다.</a:t>
            </a:r>
          </a:p>
          <a:p>
            <a:r>
              <a:rPr sz="1100">
                <a:latin typeface="맑은 고딕"/>
                <a:ea typeface="맑은 고딕"/>
                <a:cs typeface="맑은 고딕"/>
              </a:rPr>
              <a:t>17장 신호등의 ‘노랑’ 기준이 왜 시간이 아니라 용도인지가 여기서 설명됩니다.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학부모가 가장 궁금해하는 지점입니다. 핵심은 ‘무조건 안 된다’가 아니라 ‘교사가 정한 범위 안에서’입니다.</a:t>
            </a:r>
          </a:p>
          <a:p>
            <a:r>
              <a:rPr sz="1100">
                <a:latin typeface="맑은 고딕"/>
                <a:ea typeface="맑은 고딕"/>
                <a:cs typeface="맑은 고딕"/>
              </a:rPr>
              <a:t>안내 시 주의: 이 방안은 수행평가 관리에 초점이 있고 중·고등학교 상황이 중심입니다. 초등학교 과제에 그대로 적용되는 규정이 아니라 방향을 보여 주는 자료로 소개해 주십시오. 우리 학교·우리 학년의 실제 기준은 13장의 체크리스트로 확인하는 것이 정확합니다.</a:t>
            </a:r>
          </a:p>
          <a:p>
            <a:r>
              <a:rPr sz="1100">
                <a:latin typeface="맑은 고딕"/>
                <a:ea typeface="맑은 고딕"/>
                <a:cs typeface="맑은 고딕"/>
              </a:rPr>
              <a:t>표기 지도(②) 내용도 함께 언급하면 좋습니다. 자료 탐색 등에 AI를 활용한 경우 사용한 AI의 종류, 입력한 질문(프롬프트), 결과물에 반영한 방식과 부분, 출처를 적도록 안내합니다. 즉 ‘쓰면 안 된다’가 아니라 ‘쓴 것을 밝힌다’가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8장의 연구와 직접 연결됩니다. 정답을 그대로 주는 방식(4단계 쪽)이 학습을 해쳤고, 힌트를 주도록 설계한 방식(2단계 쪽)은 그렇지 않았습니다.</a:t>
            </a:r>
          </a:p>
          <a:p>
            <a:r>
              <a:rPr sz="1100">
                <a:latin typeface="맑은 고딕"/>
                <a:ea typeface="맑은 고딕"/>
                <a:cs typeface="맑은 고딕"/>
              </a:rPr>
              <a:t>중요한 단서: 글쓰기 과제에서 ‘맞춤법 검사’는 초록이지만, 평가 목표가 ‘맞춤법’이라면 같은 행동이 빨강이 됩니다. 그래서 단계표만으로는 부족하고 과제의 목적을 함께 봐야 합니다.</a:t>
            </a:r>
          </a:p>
          <a:p>
            <a:r>
              <a:rPr sz="1100">
                <a:latin typeface="맑은 고딕"/>
                <a:ea typeface="맑은 고딕"/>
                <a:cs typeface="맑은 고딕"/>
              </a:rPr>
              <a:t>‘아이가 설명할 수 있으면 다 괜찮다’는 말도 조심해야 합니다. 설명은 필요조건이지 충분조건이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앞 장이 ‘지원 수준’이라는 세로축이었다면, 이 장은 ‘과제 종류’라는 가로축입니다. 학부모가 집에서 바로 판단할 수 있는 형태입니다.</a:t>
            </a:r>
          </a:p>
          <a:p>
            <a:r>
              <a:rPr sz="1100">
                <a:latin typeface="맑은 고딕"/>
                <a:ea typeface="맑은 고딕"/>
                <a:cs typeface="맑은 고딕"/>
              </a:rPr>
              <a:t>빨강의 공통점을 짚어 주세요. 받아쓰기, 연산, 암기, 일기, 독서록은 결과물이 목적이 아니라 그 과정 자체가 훈련인 과제입니다. AI가 대신하면 남는 것이 없습니다.</a:t>
            </a:r>
          </a:p>
          <a:p>
            <a:r>
              <a:rPr sz="1100">
                <a:latin typeface="맑은 고딕"/>
                <a:ea typeface="맑은 고딕"/>
                <a:cs typeface="맑은 고딕"/>
              </a:rPr>
              <a:t>노랑에서 중요한 것은 순서입니다. ‘AI에게 먼저 시키고 고치기’가 아니라 ‘내가 먼저 쓰고 점검받기’입니다. 순서가 뒤집히면 노랑이 아니라 빨강이 됩니다.</a:t>
            </a:r>
          </a:p>
          <a:p>
            <a:r>
              <a:rPr sz="1100">
                <a:latin typeface="맑은 고딕"/>
                <a:ea typeface="맑은 고딕"/>
                <a:cs typeface="맑은 고딕"/>
              </a:rPr>
              <a:t>초록은 마음 놓고 권해도 되는 영역입니다. 모르는 낱말과 개념을 물어보는 것까지 막으면 아이는 부모 몰래 쓰게 됩니다.</a:t>
            </a:r>
          </a:p>
          <a:p>
            <a:r>
              <a:rPr sz="1100">
                <a:latin typeface="맑은 고딕"/>
                <a:ea typeface="맑은 고딕"/>
                <a:cs typeface="맑은 고딕"/>
              </a:rPr>
              <a:t>오른쪽 상자는 따로 시간을 들여 말씀해 주세요. ‘학원 숙제가 너무 많아 AI를 쓴다’는 상담이 실제로 자주 들어옵니다. 이건 AI 규칙으로 풀 문제가 아니라 학습량 문제이고, 학원과 상의할 일이라고 분명히 해 주시면 학부모가 안도합니다.</a:t>
            </a:r>
          </a:p>
          <a:p>
            <a:r>
              <a:rPr sz="1100">
                <a:latin typeface="맑은 고딕"/>
                <a:ea typeface="맑은 고딕"/>
                <a:cs typeface="맑은 고딕"/>
              </a:rPr>
              <a:t>주의: 표의 구분은 교육부 방안의 취지를 과제 유형에 적용해 정리한 것입니다. 교육부가 과제별 목록을 이렇게 고시한 것은 아니므로, ‘참고 기준’이라고 안내해 주십시오. 최종 기준은 담임 선생님의 과제 지침입니다.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먼저 손을 들게 한 뒤 답을 공개합니다. ‘다 학생’에서 의견이 갈리는 것이 이 활동의 목적입니다.</a:t>
            </a:r>
          </a:p>
          <a:p>
            <a:r>
              <a:rPr sz="1100">
                <a:latin typeface="맑은 고딕"/>
                <a:ea typeface="맑은 고딕"/>
                <a:cs typeface="맑은 고딕"/>
              </a:rPr>
              <a:t>정답 해설: ‘다 학생’이 낸 느낀 점은 본인의 글이지만, 그 느낌의 근거가 되는 ‘읽기’를 건너뛰었습니다. 과제 목표가 ‘독서’라면 빨강, 과제 목표가 ‘감상 표현’이고 책은 이미 읽은 상태라면 노랑이 됩니다.</a:t>
            </a:r>
          </a:p>
          <a:p>
            <a:r>
              <a:rPr sz="1100">
                <a:latin typeface="맑은 고딕"/>
                <a:ea typeface="맑은 고딕"/>
                <a:cs typeface="맑은 고딕"/>
              </a:rPr>
              <a:t>참가자에게 되물어 주십시오. “우리 아이 과제는 무엇을 평가하려는 것이었나요?”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2~3분 실습입니다. 두 명씩 짝을 지어 아이가 실제로 하는 질문 하나를 바꿔 보게 합니다.</a:t>
            </a:r>
          </a:p>
          <a:p>
            <a:r>
              <a:rPr sz="1100">
                <a:latin typeface="맑은 고딕"/>
                <a:ea typeface="맑은 고딕"/>
                <a:cs typeface="맑은 고딕"/>
              </a:rPr>
              <a:t>돌아다니며 한두 사례를 받아 전체에 공유하면 다음 장(좋은 질문의 네 요소)이 자연스럽게 이어집니다.</a:t>
            </a:r>
          </a:p>
          <a:p>
            <a:r>
              <a:rPr sz="1100">
                <a:latin typeface="맑은 고딕"/>
                <a:ea typeface="맑은 고딕"/>
                <a:cs typeface="맑은 고딕"/>
              </a:rPr>
              <a:t>요령: ‘정답은 말하지 말고’라는 한 구절만 붙여도 대부분의 AI가 힌트 방식으로 바뀝니다. 이 문장을 아이에게 외우게 하는 것이 오늘 배운 것 중 가장 실용적입니다.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이 프롬프트는 유인물에 그대로 넣어 드리는 것이 좋습니다. 부모가 아이 옆에서 한 번만 같이 써 보면 아이가 형식을 금방 익힙니다.</a:t>
            </a:r>
          </a:p>
          <a:p>
            <a:r>
              <a:rPr sz="1100">
                <a:latin typeface="맑은 고딕"/>
                <a:ea typeface="맑은 고딕"/>
                <a:cs typeface="맑은 고딕"/>
              </a:rPr>
              <a:t>네 번째(답변 방식)가 핵심입니다. 8장 연구에서 효과를 만든 것이 바로 이 부분, 즉 ‘정답 대신 힌트’ 설정이었습니다.</a:t>
            </a:r>
          </a:p>
          <a:p>
            <a:r>
              <a:rPr sz="1100">
                <a:latin typeface="맑은 고딕"/>
                <a:ea typeface="맑은 고딕"/>
                <a:cs typeface="맑은 고딕"/>
              </a:rPr>
              <a:t>주의: 좋은 공식이 답을 유용하게 만들어 주지만 정확성까지 보장하지는 않습니다. 30장에서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다음 장 ‘틈만 나면 AI를 찾는 아이에게’로 넘어가기 전에 배경을 깔아 주는 장입니다.</a:t>
            </a:r>
          </a:p>
          <a:p>
            <a:r>
              <a:rPr sz="1100">
                <a:latin typeface="맑은 고딕"/>
                <a:ea typeface="맑은 고딕"/>
                <a:cs typeface="맑은 고딕"/>
              </a:rPr>
              <a:t>2024년 조사에서 청소년(만 10~19세) 42.6%, 유아동(만 3~9세) 25.9%가 스마트폰 과의존 위험군(고위험군 + 잠재적위험군)으로 나타났습니다. 두 연령대 모두 전년보다 올랐고, 성인과 60대는 오히려 줄었습니다.</a:t>
            </a:r>
          </a:p>
          <a:p>
            <a:r>
              <a:rPr sz="1100">
                <a:latin typeface="맑은 고딕"/>
                <a:ea typeface="맑은 고딕"/>
                <a:cs typeface="맑은 고딕"/>
              </a:rPr>
              <a:t>‘위험군’이라는 말이 무겁게 들릴 수 있으니 설명을 덧붙여 주세요. 고위험군과 잠재적위험군을 합한 수치이며, 대부분은 잠재적위험군입니다. 진단이 아니라 조사 분류라는 점을 말해 주시면 학부모의 불안이 과해지지 않습니다.</a:t>
            </a:r>
          </a:p>
          <a:p>
            <a:r>
              <a:rPr sz="1100">
                <a:latin typeface="맑은 고딕"/>
                <a:ea typeface="맑은 고딕"/>
                <a:cs typeface="맑은 고딕"/>
              </a:rPr>
              <a:t>연결 문장: AI 사용 시간을 따로 정하려 하지 마시고, 이미 있는 스마트폰 규칙 안에 넣으시는 편이 지켜집니다. 41장 ‘우리 집 AI 사용 약속’을 쓸 때 이 점을 다시 짚어 주세요.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‘사용 시간’보다 ‘사용 방식’을 다루는 장입니다. 시간 제한만으로는 습관이 바뀌지 않습니다.</a:t>
            </a:r>
          </a:p>
          <a:p>
            <a:r>
              <a:rPr sz="1100">
                <a:latin typeface="맑은 고딕"/>
                <a:ea typeface="맑은 고딕"/>
                <a:cs typeface="맑은 고딕"/>
              </a:rPr>
              <a:t>수치 안내: 같은 조사에서 매일 이용 비율은 초등 3.7%, 중학 7.5%, 고등 15.3%입니다. 학년이 올라갈수록 늘어나므로, 초등 시기가 기준을 세우기 좋은 때라고 연결해 주십시오.</a:t>
            </a:r>
          </a:p>
          <a:p>
            <a:r>
              <a:rPr sz="1100">
                <a:latin typeface="맑은 고딕"/>
                <a:ea typeface="맑은 고딕"/>
                <a:cs typeface="맑은 고딕"/>
              </a:rPr>
              <a:t>사용 시간과 종료 시점은 정답이 없습니다. 가정 상황에 맞게 아이와 함께 정하도록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‘AI는 거짓말을 한다’보다 ‘AI는 모르면 그럴듯하게 채운다’가 정확한 표현입니다(5장과 연결). 이것을 할루시네이션이라고 부른다고 여기서 한 번 짚어 주세요.</a:t>
            </a:r>
          </a:p>
          <a:p>
            <a:r>
              <a:rPr sz="1100">
                <a:latin typeface="맑은 고딕"/>
                <a:ea typeface="맑은 고딕"/>
                <a:cs typeface="맑은 고딕"/>
              </a:rPr>
              <a:t>1~3번은 출처를 확인하는 절차입니다. 링크가 열리는지, 원문에 정말 그 내용이 있는지, 날짜와 대상이 우리 상황과 맞는지 순서로 봅니다.</a:t>
            </a:r>
          </a:p>
          <a:p>
            <a:r>
              <a:rPr sz="1100">
                <a:latin typeface="맑은 고딕"/>
                <a:ea typeface="맑은 고딕"/>
                <a:cs typeface="맑은 고딕"/>
              </a:rPr>
              <a:t>4번이 새로운 기술입니다. 같은 AI에게 “정말 맞아?”라고 되묻는 것은 검증이 아닙니다. 대개 “죄송합니다”라며 말을 바꿀 뿐입니다. 대신 “방금 답이 틀렸다고 가정하고 반박해 줘”라고 시켜 보십시오. 근거가 탄탄하면 반박이 궁색하고, 근거가 약했으면 순순히 말을 바꿉니다. 그 반응 자체가 신호입니다.</a:t>
            </a:r>
          </a:p>
          <a:p>
            <a:r>
              <a:rPr sz="1100">
                <a:latin typeface="맑은 고딕"/>
                <a:ea typeface="맑은 고딕"/>
                <a:cs typeface="맑은 고딕"/>
              </a:rPr>
              <a:t>수치 안내: 한국청소년정책연구원 조사에서 ‘정보가 사실인지 확인할 수 있다’는 자기 평가는 3.36점, ‘편향 여부를 판단할 수 있다’는 3.45점으로 낮았습니다. 학업 성취도가 낮을수록 허위 정보를 구분하기 어려워하는 경향도 보고되었습니다.</a:t>
            </a:r>
          </a:p>
          <a:p>
            <a:r>
              <a:rPr sz="1100">
                <a:latin typeface="맑은 고딕"/>
                <a:ea typeface="맑은 고딕"/>
                <a:cs typeface="맑은 고딕"/>
              </a:rPr>
              <a:t>주의: 특정 모델의 오류율을 모든 AI의 특성처럼 말하지 않도록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중요: 이 답변은 활동을 위해 강사가 만든 가상의 예시입니다. 실제 조사 결과가 아니며, 인용하거나 배포 자료에 사실처럼 옮기지 않도록 슬라이드에서 분명히 말해 주십시오.</a:t>
            </a:r>
          </a:p>
          <a:p>
            <a:r>
              <a:rPr sz="1100">
                <a:latin typeface="맑은 고딕"/>
                <a:ea typeface="맑은 고딕"/>
                <a:cs typeface="맑은 고딕"/>
              </a:rPr>
              <a:t>진행 방법: 2분간 짝과 찾게 한 뒤 하나씩 공개합니다. 네 가지 단서는 실제 AI 답변에서도 가장 자주 나타나는 신호입니다.</a:t>
            </a:r>
          </a:p>
          <a:p>
            <a:r>
              <a:rPr sz="1100">
                <a:latin typeface="맑은 고딕"/>
                <a:ea typeface="맑은 고딕"/>
                <a:cs typeface="맑은 고딕"/>
              </a:rPr>
              <a:t>마무리 한 줄: 숫자가 구체적일수록, 표현이 단정적일수록 오히려 확인이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‘가짜 이름으로 바꾸기’는 아이가 바로 따라 할 수 있는 기술입니다. 실제로 한 번 시연해 주십시오.</a:t>
            </a:r>
          </a:p>
          <a:p>
            <a:r>
              <a:rPr sz="1100">
                <a:latin typeface="맑은 고딕"/>
                <a:ea typeface="맑은 고딕"/>
                <a:cs typeface="맑은 고딕"/>
              </a:rPr>
              <a:t>덧붙일 내용: 사진에는 교복, 아파트 동호수, 학교 이름표 같은 정보가 함께 담기는 경우가 많습니다. 친구의 글이나 사진을 올리는 것은 다른 사람의 정보를 내가 입력하는 일이라는 점도 짚어 주십시오.</a:t>
            </a:r>
          </a:p>
          <a:p>
            <a:r>
              <a:rPr sz="1100">
                <a:latin typeface="맑은 고딕"/>
                <a:ea typeface="맑은 고딕"/>
                <a:cs typeface="맑은 고딕"/>
              </a:rPr>
              <a:t>서비스 설정에서 대화 내용을 학습에 사용하지 않도록 선택할 수 있는 경우가 있으나, 서비스와 계정 유형마다 다르므로 각자 확인이 필요하다고만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AI 이야기를 걱정으로만 듣던 학부모의 표정이 바뀌는 장입니다.</a:t>
            </a:r>
          </a:p>
          <a:p>
            <a:r>
              <a:rPr sz="1100">
                <a:latin typeface="맑은 고딕"/>
                <a:ea typeface="맑은 고딕"/>
                <a:cs typeface="맑은 고딕"/>
              </a:rPr>
              <a:t>태국에는 검진이 필요한 당뇨병 환자가 약 500만 명인데 안과 전문의는 약 1,400명뿐입니다. 한 사람이 수천 명을 봐야 하는 구조라 검진을 받지 못한 채 실명하는 경우가 많았습니다. 구글이 라자위티병원과 함께 안저 사진을 AI가 분석하는 검진을 도입했고, 90% 이상의 정확도로 위험군을 가려내고 있습니다.</a:t>
            </a:r>
          </a:p>
          <a:p>
            <a:r>
              <a:rPr sz="1100">
                <a:latin typeface="맑은 고딕"/>
                <a:ea typeface="맑은 고딕"/>
                <a:cs typeface="맑은 고딕"/>
              </a:rPr>
              <a:t>핵심 메시지: AI가 의사를 대신한 것이 아니라, 의사가 없는 자리를 메웠습니다. ‘AI가 사람 일자리를 뺏는다’는 단순한 구도와 다른 사례라는 점을 짚어 주세요.</a:t>
            </a:r>
          </a:p>
          <a:p>
            <a:r>
              <a:rPr sz="1100">
                <a:latin typeface="맑은 고딕"/>
                <a:ea typeface="맑은 고딕"/>
                <a:cs typeface="맑은 고딕"/>
              </a:rPr>
              <a:t>해석의 주의: 실제 진료 현장에서는 사진 화질이나 인터넷 속도 때문에 어려움도 보고되었습니다. 완성된 기술이라기보다 진행 중인 시도로 소개해 주십시오.</a:t>
            </a:r>
          </a:p>
          <a:p>
            <a:r>
              <a:rPr sz="1100">
                <a:latin typeface="맑은 고딕"/>
                <a:ea typeface="맑은 고딕"/>
                <a:cs typeface="맑은 고딕"/>
              </a:rPr>
              <a:t>아이에게 건넬 질문: ‘너라면 AI로 어떤 문제를 풀어 보고 싶어?’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앞 장의 태국 사례가 하나의 예였다면, 이 장은 그런 시도가 모여 있는 흐름을 보여 줍니다.</a:t>
            </a:r>
          </a:p>
          <a:p>
            <a:r>
              <a:rPr sz="1100">
                <a:latin typeface="맑은 고딕"/>
                <a:ea typeface="맑은 고딕"/>
                <a:cs typeface="맑은 고딕"/>
              </a:rPr>
              <a:t>AI for Good은 2017년 유엔 산하 국제전기통신연합(ITU)이 시작했고, 빈곤·기아·보건·교육·환경 같은 지구적 과제에 AI를 쓰자는 플랫폼입니다. 매년 제네바에서 총회가 열리고 150개국 넘게 참여합니다.</a:t>
            </a:r>
          </a:p>
          <a:p>
            <a:r>
              <a:rPr sz="1100">
                <a:latin typeface="맑은 고딕"/>
                <a:ea typeface="맑은 고딕"/>
                <a:cs typeface="맑은 고딕"/>
              </a:rPr>
              <a:t>사례를 하나씩 짚어 주세요. 홍수 예측은 대피 시간을 벌어 주고, 위성 영상 분석은 재난을 몇 분 만에 감지합니다. 알파폴드가 밝힌 단백질 구조는 공개되어 신약 연구에 쓰이고 있습니다.</a:t>
            </a:r>
          </a:p>
          <a:p>
            <a:r>
              <a:rPr sz="1100">
                <a:latin typeface="맑은 고딕"/>
                <a:ea typeface="맑은 고딕"/>
                <a:cs typeface="맑은 고딕"/>
              </a:rPr>
              <a:t>가장 중요한 것은 맨 아래 문장입니다. 오늘 연수에서 부모가 아이에게 건넬 수 있는 가장 좋은 질문이 ‘이걸로 누구를 도울 수 있을까’입니다. 성능이나 점수가 아니라 쓰임을 묻는 질문이고, 이것이 39장 도구 3층과 43장 마무리로 이어집니다.</a:t>
            </a:r>
          </a:p>
          <a:p>
            <a:r>
              <a:rPr sz="1100">
                <a:latin typeface="맑은 고딕"/>
                <a:ea typeface="맑은 고딕"/>
                <a:cs typeface="맑은 고딕"/>
              </a:rPr>
              <a:t>시간이 부족하면 이 장은 사례 하나만 말하고 아래 문장으로 바로 넘어가셔도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미래 직업 이야기를 여는 장입니다. 학부모의 관심이 가장 크게 움직이는 지점이기도 합니다.</a:t>
            </a:r>
          </a:p>
          <a:p>
            <a:r>
              <a:rPr sz="1100">
                <a:latin typeface="맑은 고딕"/>
                <a:ea typeface="맑은 고딕"/>
                <a:cs typeface="맑은 고딕"/>
              </a:rPr>
              <a:t>2024년 노벨 물리학상은 인공신경망의 기초를 세운 존 홉필드와 제프리 힌턴에게, 화학상은 AI로 단백질 구조를 예측·설계한 데이비드 베이커, 데미스 허사비스, 존 점퍼에게 돌아갔습니다. 한 해에 두 개 분야의 노벨상이 AI 관련 연구에 간 것은 처음입니다.</a:t>
            </a:r>
          </a:p>
          <a:p>
            <a:r>
              <a:rPr sz="1100">
                <a:latin typeface="맑은 고딕"/>
                <a:ea typeface="맑은 고딕"/>
                <a:cs typeface="맑은 고딕"/>
              </a:rPr>
              <a:t>가장 중요한 해석은 아래 띠입니다. 이분들은 ‘AI 전공자’여서가 아니라 자기 분야의 오래된 문제를 AI라는 도구로 풀어서 상을 받았습니다. 아이에게 필요한 것도 ‘AI를 다루는 법’이 아니라 ‘풀고 싶은 문제’와 ‘그 분야의 실력’이라는 점으로 이어 주십시오.</a:t>
            </a:r>
          </a:p>
          <a:p>
            <a:r>
              <a:rPr sz="1100">
                <a:latin typeface="맑은 고딕"/>
                <a:ea typeface="맑은 고딕"/>
                <a:cs typeface="맑은 고딕"/>
              </a:rPr>
              <a:t>코딩 학원을 보내야 하느냐는 질문이 나오면 이 장으로 답하시면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학부모가 가장 놀라는 장입니다. 천천히 읽어 주세요.</a:t>
            </a:r>
          </a:p>
          <a:p>
            <a:r>
              <a:rPr sz="1100">
                <a:latin typeface="맑은 고딕"/>
                <a:ea typeface="맑은 고딕"/>
                <a:cs typeface="맑은 고딕"/>
              </a:rPr>
              <a:t>한국은행이 AI 특허 정보를 이용해 직업별 ‘AI 노출 지수’를 계산한 결과, 국내 취업자 약 341만 명(전체의 12%)이 AI로 대체될 가능성이 높은 것으로 나타났습니다.</a:t>
            </a:r>
          </a:p>
          <a:p>
            <a:r>
              <a:rPr sz="1100">
                <a:latin typeface="맑은 고딕"/>
                <a:ea typeface="맑은 고딕"/>
                <a:cs typeface="맑은 고딕"/>
              </a:rPr>
              <a:t>노출 지수가 높은 직업으로 일반 의사와 한의사가 상위 1% 이내, 전문 의사 7%, 회계사와 자산운용가 19%, 변호사 21%로 보고되었습니다. 그래프에서 점이 모두 왼쪽 끝에 몰려 있는 것이 이 이야기의 핵심입니다.</a:t>
            </a:r>
          </a:p>
          <a:p>
            <a:r>
              <a:rPr sz="1100">
                <a:latin typeface="맑은 고딕"/>
                <a:ea typeface="맑은 고딕"/>
                <a:cs typeface="맑은 고딕"/>
              </a:rPr>
              <a:t>해석의 주의: ①‘대체 가능성이 높다’는 것이 ‘그 직업이 없어진다’는 뜻은 아닙니다. 업무의 일부가 바뀐다는 의미로 읽어야 합니다. ②2023년 분석이고 기술 변화가 빠른 분야입니다. ③특정 직업을 폄하하는 자리가 아니라, ‘안전한 직업을 찍어 주는 방식’이 잘 통하지 않는다는 점을 보여 주는 자료입니다. 이 단서를 꼭 함께 말해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이 장은 오늘 연수에서 가장 정직한 장입니다. 다른 학부모 연수에서 이 수치를 들은 분도 계실 겁니다.</a:t>
            </a:r>
          </a:p>
          <a:p>
            <a:r>
              <a:rPr sz="1100">
                <a:latin typeface="맑은 고딕"/>
                <a:ea typeface="맑은 고딕"/>
                <a:cs typeface="맑은 고딕"/>
              </a:rPr>
              <a:t>설명 순서: 먼저 문장을 읽어 주고 ‘들어보신 분?’ 하고 손을 들게 합니다. 그다음 세 카드를 넘기며 이 수치의 출처가 확인되지 않는다는 점을 전합니다.</a:t>
            </a:r>
          </a:p>
          <a:p>
            <a:r>
              <a:rPr sz="1100">
                <a:latin typeface="맑은 고딕"/>
                <a:ea typeface="맑은 고딕"/>
                <a:cs typeface="맑은 고딕"/>
              </a:rPr>
              <a:t>주의: ‘거짓말이다’라고 단정하지는 마십시오. 정확한 표현은 ‘근거가 되는 원 연구를 확인할 수 없다’입니다. 미래에 새로운 직업이 생긴다는 방향 자체가 틀렸다는 뜻도 아닙니다. 숫자의 정확성과 방향의 타당성은 다른 문제라고 정리해 주세요.</a:t>
            </a:r>
          </a:p>
          <a:p>
            <a:r>
              <a:rPr sz="1100">
                <a:latin typeface="맑은 고딕"/>
                <a:ea typeface="맑은 고딕"/>
                <a:cs typeface="맑은 고딕"/>
              </a:rPr>
              <a:t>31장 ‘사실 확인 탐정’ 활동과 연결됩니다. 아이에게 가르치려는 습관을 어른이 먼저 쓴 사례라고 말씀하시면 설득력이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미래 직업 묶음(노벨상 → 한국은행 → 65% → 이 장)의 결론입니다.</a:t>
            </a:r>
          </a:p>
          <a:p>
            <a:r>
              <a:rPr sz="1100">
                <a:latin typeface="맑은 고딕"/>
                <a:ea typeface="맑은 고딕"/>
                <a:cs typeface="맑은 고딕"/>
              </a:rPr>
              <a:t>세계경제포럼은 2030년까지 1억 7천만 개의 일자리가 새로 생기고 9,200만 개가 사라져 순증 7,800만 개가 될 것으로 전망했습니다. 전체 일자리의 22%가 지형이 바뀌고, 직무에 필요한 기술의 약 40%가 달라질 것으로 보았습니다.</a:t>
            </a:r>
          </a:p>
          <a:p>
            <a:r>
              <a:rPr sz="1100">
                <a:latin typeface="맑은 고딕"/>
                <a:ea typeface="맑은 고딕"/>
                <a:cs typeface="맑은 고딕"/>
              </a:rPr>
              <a:t>숫자를 다 외우게 하려는 장이 아닙니다. ‘없어진다’보다 ‘바뀐다’가 크다는 점, 그리고 필요한 기술이 절반 가까이 바뀐다는 점 두 가지만 남기면 충분합니다.</a:t>
            </a:r>
          </a:p>
          <a:p>
            <a:r>
              <a:rPr sz="1100">
                <a:latin typeface="맑은 고딕"/>
                <a:ea typeface="맑은 고딕"/>
                <a:cs typeface="맑은 고딕"/>
              </a:rPr>
              <a:t>해석의 주의: 전 세계 기업 대상 설문에 기반한 전망치입니다. 한국의 개별 직업에 그대로 적용되는 숫자가 아니라는 점을 한마디 덧붙여 주십시오.</a:t>
            </a:r>
          </a:p>
          <a:p>
            <a:r>
              <a:rPr sz="1100">
                <a:latin typeface="맑은 고딕"/>
                <a:ea typeface="맑은 고딕"/>
                <a:cs typeface="맑은 고딕"/>
              </a:rPr>
              <a:t>바로 다음 장에서 ‘그럼 무엇부터 가르치나’에 답합니다. 두 장을 붙여서 진행해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‘우리 아이만 뒤처지는 것 아닌가’와 ‘몇 학년에 뭘 가르쳐야 하나’에 한꺼번에 답하는 장입니다.</a:t>
            </a:r>
          </a:p>
          <a:p>
            <a:r>
              <a:rPr sz="1100">
                <a:latin typeface="맑은 고딕"/>
                <a:ea typeface="맑은 고딕"/>
                <a:cs typeface="맑은 고딕"/>
              </a:rPr>
              <a:t>순서가 핵심입니다. 1층 기록(타자, 메모, 파일 정리)이 되어야 2층 정리(표, 마인드맵)가 되고, 그래야 3층 표현(슬라이드, 영상, 발표)이 가능합니다. AI는 그 위에 얹히는 지붕입니다. 학년 표기는 참고용이며 아이마다 다릅니다.</a:t>
            </a:r>
          </a:p>
          <a:p>
            <a:r>
              <a:rPr sz="1100">
                <a:latin typeface="맑은 고딕"/>
                <a:ea typeface="맑은 고딕"/>
                <a:cs typeface="맑은 고딕"/>
              </a:rPr>
              <a:t>오른쪽 상자를 강조해 주세요. 타자와 검색어 만들기는 학원에서 안 가르치지만 가장 오래 쓰입니다. 특히 검색어를 만드는 일은 ‘내가 무엇을 모르는지 한 문장으로 말하기’와 같고, 그게 곧 27장에서 배운 프롬프트 공식입니다.</a:t>
            </a:r>
          </a:p>
          <a:p>
            <a:r>
              <a:rPr sz="1100">
                <a:latin typeface="맑은 고딕"/>
                <a:ea typeface="맑은 고딕"/>
                <a:cs typeface="맑은 고딕"/>
              </a:rPr>
              <a:t>출처 표시와 개인정보 관리는 어느 한 층의 기술이 아니라 모든 층에 걸칩니다. 1층에서 사진을 정리할 때부터 시작되는 습관이라고 말씀해 주세요.</a:t>
            </a:r>
          </a:p>
          <a:p>
            <a:r>
              <a:rPr sz="1100">
                <a:latin typeface="맑은 고딕"/>
                <a:ea typeface="맑은 고딕"/>
                <a:cs typeface="맑은 고딕"/>
              </a:rPr>
              <a:t>특정 AI 제품 사용법을 일찍 배우는 것이 경쟁력이 되지는 않는다는 점, 그러나 ‘그러니 아무것도 안 해도 된다’로 들리지 않게 균형을 잡아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실제로 가장 많이 어긋나는 지점입니다. 놀란 부모가 먼저 화를 내면 아이는 다음부터 숨깁니다.</a:t>
            </a:r>
          </a:p>
          <a:p>
            <a:r>
              <a:rPr sz="1100">
                <a:latin typeface="맑은 고딕"/>
                <a:ea typeface="맑은 고딕"/>
                <a:cs typeface="맑은 고딕"/>
              </a:rPr>
              <a:t>서비스별로 신고 기능과 보호자 관리 기능이 있고, 계정 연결로 사용 시간대나 기능을 제한할 수 있는 경우도 있습니다(14장). 다만 기능은 자주 바뀌므로 각자 확인이 필요하다고 안내합니다.</a:t>
            </a:r>
          </a:p>
          <a:p>
            <a:r>
              <a:rPr sz="1100">
                <a:latin typeface="맑은 고딕"/>
                <a:ea typeface="맑은 고딕"/>
                <a:cs typeface="맑은 고딕"/>
              </a:rPr>
              <a:t>심각한 내용(자해·성적 대화·협박 등)이라면 담임 교사, 학교 상담 선생님과 상의하도록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8~10분 활동입니다. 유인물로 나눠 드리고 직접 쓰게 하십시오. 완성본을 냉장고에 붙이도록 권합니다.</a:t>
            </a:r>
          </a:p>
          <a:p>
            <a:r>
              <a:rPr sz="1100">
                <a:latin typeface="맑은 고딕"/>
                <a:ea typeface="맑은 고딕"/>
                <a:cs typeface="맑은 고딕"/>
              </a:rPr>
              <a:t>진행 요령: 모두 채우려 하지 말고 오늘 정할 수 있는 두세 칸만 채우게 합니다. 나머지는 집에 가서 아이와 함께 채우는 것이 더 좋습니다. 아이가 직접 쓴 규칙이 훨씬 오래 갑니다.</a:t>
            </a:r>
          </a:p>
          <a:p>
            <a:r>
              <a:rPr sz="1100">
                <a:latin typeface="맑은 고딕"/>
                <a:ea typeface="맑은 고딕"/>
                <a:cs typeface="맑은 고딕"/>
              </a:rPr>
              <a:t>1~2 가정에서 발표를 받으면 마무리가 자연스럽습니다.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질의응답 시간에 띄워 두는 장입니다. 질문이 나오면 해당 칸을 짚으며 답하면 됩니다.</a:t>
            </a:r>
          </a:p>
          <a:p>
            <a:r>
              <a:rPr sz="1100">
                <a:latin typeface="맑은 고딕"/>
                <a:ea typeface="맑은 고딕"/>
                <a:cs typeface="맑은 고딕"/>
              </a:rPr>
              <a:t>답을 모르는 질문이 나오면 추측하지 말고 ‘확인해서 알려 드리겠다’고 하십시오. 특히 특정 서비스의 최신 약관, 우리 학교의 구체적 지침은 그 자리에서 단정하지 않는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맑은 고딕"/>
                <a:ea typeface="맑은 고딕"/>
                <a:cs typeface="맑은 고딕"/>
              </a:rPr>
              <a:t>마무리입니다. 참석자에게 오늘 배운 것 중 ‘집에 가서 바로 할 한 가지’를 마음속으로 정하게 하고, 원한다면 한두 분께 말로 표현하게 합니다.</a:t>
            </a:r>
          </a:p>
          <a:p>
            <a:r>
              <a:rPr sz="1100">
                <a:latin typeface="맑은 고딕"/>
                <a:ea typeface="맑은 고딕"/>
                <a:cs typeface="맑은 고딕"/>
              </a:rPr>
              <a:t>가장 많이 선택되는 것: ①쓰기 전 ‘네 생각은?’ 묻기 ②화면 닫고 설명하게 하기 ③‘정답 말고 힌트만’ 문장 알려 주기 ④신호등 만들기.</a:t>
            </a:r>
          </a:p>
          <a:p>
            <a:r>
              <a:rPr sz="1100">
                <a:latin typeface="맑은 고딕"/>
                <a:ea typeface="맑은 고딕"/>
                <a:cs typeface="맑은 고딕"/>
              </a:rPr>
              <a:t>연수 자료와 유인물(약속 양식, 프롬프트 예시)을 어디서 받을 수 있는지 안내하고 마칩니다.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pf.or.kr/front/research/consumerDetail.do?seq=600223"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nas.org/doi/10.1073/pnas.2422633122"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6.08872"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cic.re.kr/"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elp.openai.com/en/articles/8313401-is-chatgpt-safe-for-all-ages" TargetMode="External"/><Relationship Id="rId3" Type="http://schemas.openxmlformats.org/officeDocument/2006/relationships/hyperlink" Target="https://support.google.com/families/answer/16109150?hl=ko" TargetMode="External"/><Relationship Id="rId4" Type="http://schemas.openxmlformats.org/officeDocument/2006/relationships/hyperlink" Target="https://www.privacy.go.kr/front/contents/cntntsView.do?contsNo=94" TargetMode="External"/><Relationship Id="rId5" Type="http://schemas.openxmlformats.org/officeDocument/2006/relationships/hyperlink" Target="https://buseo.sen.go.kr/component/file/ND_fileDownload.do?q_fileSn=2082299&amp;q_fileId=50df45ef-69f0-48a3-8855-2ed6d9c7ce39" TargetMode="Externa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elp.openai.com/en/articles/8313401-is-chatgpt-safe-for-all-ages" TargetMode="External"/><Relationship Id="rId3" Type="http://schemas.openxmlformats.org/officeDocument/2006/relationships/hyperlink" Target="https://support.claude.com/en/articles/13117299-minimum-age-requirement-access-restriction" TargetMode="External"/><Relationship Id="rId4" Type="http://schemas.openxmlformats.org/officeDocument/2006/relationships/hyperlink" Target="https://support.microsoft.com/en-us/microsoft-copilot/microsoft-copilot-age-limits-and-parental-controls" TargetMode="External"/><Relationship Id="rId5" Type="http://schemas.openxmlformats.org/officeDocument/2006/relationships/hyperlink" Target="https://www.perplexity.ai/hub/legal/terms-of-service" TargetMode="External"/><Relationship Id="rId6" Type="http://schemas.openxmlformats.org/officeDocument/2006/relationships/hyperlink" Target="https://support.google.com/families/answer/16109150?hl=ko" TargetMode="External"/><Relationship Id="rId7" Type="http://schemas.openxmlformats.org/officeDocument/2006/relationships/hyperlink" Target="https://help.wrtn.ai/account_14" TargetMode="External"/><Relationship Id="rId8" Type="http://schemas.openxmlformats.org/officeDocument/2006/relationships/hyperlink" Target="https://www.toctocmath.kr/" TargetMode="External"/><Relationship Id="rId9" Type="http://schemas.openxmlformats.org/officeDocument/2006/relationships/hyperlink" Target="https://about.ebs.co.kr/kor/elearning/grade?tabVal=aipengtalk" TargetMode="Externa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pport.google.com/families/answer/16109150?hl=ko"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earntechlib.org/p/204447/"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ecd.org/en/publications/pisa-2022-results-volume-i_53f23881-en.html"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e.go.kr/boardCnts/viewRenew.do?boardID=294&amp;boardSeq=104984&amp;lev=0&amp;m=020402"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nas.org/doi/10.1073/pnas.2422633122"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e.go.kr/boardCnts/viewRenew.do?boardID=294&amp;boardSeq=104984&amp;lev=0&amp;m=020402"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ia.or.kr/site/nia_kor/ex/bbs/View.do?cbIdx=65914&amp;bcIdx=27831&amp;parentSeq=27831" TargetMode="Externa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pf.or.kr/front/research/consumerDetail.do?seq=600223" TargetMode="Externa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ypi.re.kr/repository/handle/2022.oak/6296"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e.go.kr/boardCnts/viewRenew.do?boardID=294&amp;boardSeq=104984&amp;lev=0&amp;m=020402"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ioin.or.kr/board.do?num=284299&amp;cmd=view&amp;bid=industry"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iforgood.itu.int/"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obelprize.org/prizes/physics/2024/summary/" TargetMode="Externa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ok.or.kr/portal/bbs/P0002353/view.do?menuNo=200433&amp;nttId=10080538"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luralist.com/future-of-work-statistic-closer-look/"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eforum.org/press/2025/01/future-of-jobs-report-2025-78-million-new-job-opportunities-by-2030-but-urgent-upskilling-needed-to-prepare-workforces/" TargetMode="Externa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elp.openai.com/en/articles/12315553" TargetMode="Externa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17320"/>
            <a:ext cx="5852160" cy="274320"/>
          </a:xfrm>
          <a:prstGeom prst="rect">
            <a:avLst/>
          </a:prstGeom>
          <a:noFill/>
        </p:spPr>
        <p:txBody>
          <a:bodyPr wrap="square" anchor="t" lIns="0" rIns="0" tIns="0" bIns="0">
            <a:spAutoFit/>
          </a:bodyPr>
          <a:lstStyle/>
          <a:p>
            <a:pPr algn="l">
              <a:lnSpc>
                <a:spcPct val="115000"/>
              </a:lnSpc>
            </a:pPr>
            <a:r>
              <a:rPr sz="1400" b="1">
                <a:solidFill>
                  <a:srgbClr val="0E7C86"/>
                </a:solidFill>
                <a:latin typeface="맑은 고딕"/>
                <a:ea typeface="맑은 고딕"/>
                <a:cs typeface="맑은 고딕"/>
              </a:rPr>
              <a:t>학부모 연수</a:t>
            </a:r>
          </a:p>
        </p:txBody>
      </p:sp>
      <p:sp>
        <p:nvSpPr>
          <p:cNvPr id="4" name="Rectangle 3"/>
          <p:cNvSpPr/>
          <p:nvPr/>
        </p:nvSpPr>
        <p:spPr>
          <a:xfrm>
            <a:off x="777240" y="1755648"/>
            <a:ext cx="658368" cy="5486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57400"/>
            <a:ext cx="6035040" cy="1737360"/>
          </a:xfrm>
          <a:prstGeom prst="rect">
            <a:avLst/>
          </a:prstGeom>
          <a:noFill/>
        </p:spPr>
        <p:txBody>
          <a:bodyPr wrap="square" anchor="t" lIns="0" rIns="0" tIns="0" bIns="0">
            <a:spAutoFit/>
          </a:bodyPr>
          <a:lstStyle/>
          <a:p>
            <a:pPr algn="l">
              <a:lnSpc>
                <a:spcPct val="118000"/>
              </a:lnSpc>
            </a:pPr>
            <a:r>
              <a:rPr sz="3600" b="1">
                <a:solidFill>
                  <a:srgbClr val="1F2933"/>
                </a:solidFill>
                <a:latin typeface="맑은 고딕"/>
                <a:ea typeface="맑은 고딕"/>
                <a:cs typeface="맑은 고딕"/>
              </a:rPr>
              <a:t>AI 시대,</a:t>
            </a:r>
          </a:p>
          <a:p>
            <a:pPr algn="l">
              <a:lnSpc>
                <a:spcPct val="118000"/>
              </a:lnSpc>
            </a:pPr>
            <a:r>
              <a:rPr sz="3600" b="1">
                <a:solidFill>
                  <a:srgbClr val="1F2933"/>
                </a:solidFill>
                <a:latin typeface="맑은 고딕"/>
                <a:ea typeface="맑은 고딕"/>
                <a:cs typeface="맑은 고딕"/>
              </a:rPr>
              <a:t>우리 아이의 미래를 준비하는 부모 교육</a:t>
            </a:r>
          </a:p>
        </p:txBody>
      </p:sp>
      <p:sp>
        <p:nvSpPr>
          <p:cNvPr id="6" name="TextBox 5"/>
          <p:cNvSpPr txBox="1"/>
          <p:nvPr/>
        </p:nvSpPr>
        <p:spPr>
          <a:xfrm>
            <a:off x="777240" y="3950208"/>
            <a:ext cx="5943600" cy="731520"/>
          </a:xfrm>
          <a:prstGeom prst="rect">
            <a:avLst/>
          </a:prstGeom>
          <a:noFill/>
        </p:spPr>
        <p:txBody>
          <a:bodyPr wrap="square" anchor="t" lIns="0" rIns="0" tIns="0" bIns="0">
            <a:spAutoFit/>
          </a:bodyPr>
          <a:lstStyle/>
          <a:p>
            <a:pPr algn="l">
              <a:lnSpc>
                <a:spcPct val="135000"/>
              </a:lnSpc>
            </a:pPr>
            <a:r>
              <a:rPr sz="1600" b="0">
                <a:solidFill>
                  <a:srgbClr val="7B8894"/>
                </a:solidFill>
                <a:latin typeface="맑은 고딕"/>
                <a:ea typeface="맑은 고딕"/>
                <a:cs typeface="맑은 고딕"/>
              </a:rPr>
              <a:t>학교의 AI 교육부터</a:t>
            </a:r>
          </a:p>
          <a:p>
            <a:pPr algn="l">
              <a:lnSpc>
                <a:spcPct val="135000"/>
              </a:lnSpc>
            </a:pPr>
            <a:r>
              <a:rPr sz="1600" b="0">
                <a:solidFill>
                  <a:srgbClr val="7B8894"/>
                </a:solidFill>
                <a:latin typeface="맑은 고딕"/>
                <a:ea typeface="맑은 고딕"/>
                <a:cs typeface="맑은 고딕"/>
              </a:rPr>
              <a:t>가정에서 실천하는 올바른 AI 활용법까지</a:t>
            </a:r>
          </a:p>
        </p:txBody>
      </p:sp>
      <p:sp>
        <p:nvSpPr>
          <p:cNvPr id="7" name="Rounded Rectangle 6"/>
          <p:cNvSpPr/>
          <p:nvPr/>
        </p:nvSpPr>
        <p:spPr>
          <a:xfrm>
            <a:off x="777240" y="5074920"/>
            <a:ext cx="3886200" cy="512064"/>
          </a:xfrm>
          <a:prstGeom prst="roundRect">
            <a:avLst>
              <a:gd name="adj" fmla="val 3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77240" y="5221224"/>
            <a:ext cx="3886200" cy="274320"/>
          </a:xfrm>
          <a:prstGeom prst="rect">
            <a:avLst/>
          </a:prstGeom>
          <a:noFill/>
        </p:spPr>
        <p:txBody>
          <a:bodyPr wrap="square" anchor="t" lIns="0" rIns="0" tIns="0" bIns="0">
            <a:spAutoFit/>
          </a:bodyPr>
          <a:lstStyle/>
          <a:p>
            <a:pPr algn="ctr">
              <a:lnSpc>
                <a:spcPct val="115000"/>
              </a:lnSpc>
            </a:pPr>
            <a:r>
              <a:rPr sz="1450" b="1">
                <a:solidFill>
                  <a:srgbClr val="1D4ED8"/>
                </a:solidFill>
                <a:latin typeface="맑은 고딕"/>
                <a:ea typeface="맑은 고딕"/>
                <a:cs typeface="맑은 고딕"/>
              </a:rPr>
              <a:t>2026. 9. 17.(목)  15:00 ~ 16:30</a:t>
            </a:r>
          </a:p>
        </p:txBody>
      </p:sp>
      <p:sp>
        <p:nvSpPr>
          <p:cNvPr id="9" name="Rounded Rectangle 8"/>
          <p:cNvSpPr/>
          <p:nvPr/>
        </p:nvSpPr>
        <p:spPr>
          <a:xfrm>
            <a:off x="7086600" y="1874519"/>
            <a:ext cx="4297680" cy="1097280"/>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97496" y="2112263"/>
            <a:ext cx="914400"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아이</a:t>
            </a:r>
          </a:p>
        </p:txBody>
      </p:sp>
      <p:sp>
        <p:nvSpPr>
          <p:cNvPr id="11" name="TextBox 10"/>
          <p:cNvSpPr txBox="1"/>
          <p:nvPr/>
        </p:nvSpPr>
        <p:spPr>
          <a:xfrm>
            <a:off x="7397496" y="2423160"/>
            <a:ext cx="3657600" cy="365760"/>
          </a:xfrm>
          <a:prstGeom prst="rect">
            <a:avLst/>
          </a:prstGeom>
          <a:noFill/>
        </p:spPr>
        <p:txBody>
          <a:bodyPr wrap="square" anchor="t" lIns="0" rIns="0" tIns="0" bIns="0">
            <a:spAutoFit/>
          </a:bodyPr>
          <a:lstStyle/>
          <a:p>
            <a:pPr algn="l">
              <a:lnSpc>
                <a:spcPct val="115000"/>
              </a:lnSpc>
            </a:pPr>
            <a:r>
              <a:rPr sz="1600" b="0">
                <a:solidFill>
                  <a:srgbClr val="1F2933"/>
                </a:solidFill>
                <a:latin typeface="맑은 고딕"/>
                <a:ea typeface="맑은 고딕"/>
                <a:cs typeface="맑은 고딕"/>
              </a:rPr>
              <a:t>“이거 AI한테 물어봐도 돼요?”</a:t>
            </a:r>
          </a:p>
        </p:txBody>
      </p:sp>
      <p:sp>
        <p:nvSpPr>
          <p:cNvPr id="12" name="Right Arrow 11"/>
          <p:cNvSpPr/>
          <p:nvPr/>
        </p:nvSpPr>
        <p:spPr>
          <a:xfrm rot="5400000">
            <a:off x="9079992" y="3099815"/>
            <a:ext cx="310896" cy="347472"/>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86600" y="3657600"/>
            <a:ext cx="4297680" cy="1097280"/>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97496" y="3895344"/>
            <a:ext cx="109728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부모</a:t>
            </a:r>
          </a:p>
        </p:txBody>
      </p:sp>
      <p:sp>
        <p:nvSpPr>
          <p:cNvPr id="15" name="TextBox 14"/>
          <p:cNvSpPr txBox="1"/>
          <p:nvPr/>
        </p:nvSpPr>
        <p:spPr>
          <a:xfrm>
            <a:off x="7397496" y="4206240"/>
            <a:ext cx="3657600" cy="36576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“먼저 네 생각은 어때?”</a:t>
            </a:r>
          </a:p>
        </p:txBody>
      </p:sp>
      <p:sp>
        <p:nvSpPr>
          <p:cNvPr id="16" name="TextBox 15"/>
          <p:cNvSpPr txBox="1"/>
          <p:nvPr/>
        </p:nvSpPr>
        <p:spPr>
          <a:xfrm>
            <a:off x="7086600" y="4983479"/>
            <a:ext cx="4297680" cy="310896"/>
          </a:xfrm>
          <a:prstGeom prst="rect">
            <a:avLst/>
          </a:prstGeom>
          <a:noFill/>
        </p:spPr>
        <p:txBody>
          <a:bodyPr wrap="square" anchor="t" lIns="0" rIns="0" tIns="0" bIns="0">
            <a:spAutoFit/>
          </a:bodyPr>
          <a:lstStyle/>
          <a:p>
            <a:pPr algn="ctr">
              <a:lnSpc>
                <a:spcPct val="115000"/>
              </a:lnSpc>
            </a:pPr>
            <a:r>
              <a:rPr sz="1250" b="0">
                <a:solidFill>
                  <a:srgbClr val="7B8894"/>
                </a:solidFill>
                <a:latin typeface="맑은 고딕"/>
                <a:ea typeface="맑은 고딕"/>
                <a:cs typeface="맑은 고딕"/>
              </a:rPr>
              <a:t>오늘 바꿔 보려는 건 이 한 장면입니다.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여는 활동 · 손들기</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집에서는 어떤 일이 생기나요?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가장 가까운 것 하나에 손을 들어 주세요.</a:t>
            </a:r>
          </a:p>
        </p:txBody>
      </p:sp>
      <p:sp>
        <p:nvSpPr>
          <p:cNvPr id="6" name="Rounded Rectangle 5"/>
          <p:cNvSpPr/>
          <p:nvPr/>
        </p:nvSpPr>
        <p:spPr>
          <a:xfrm>
            <a:off x="777240" y="2029968"/>
            <a:ext cx="2450592" cy="2286000"/>
          </a:xfrm>
          <a:prstGeom prst="roundRect">
            <a:avLst>
              <a:gd name="adj" fmla="val 6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33271" y="2286000"/>
            <a:ext cx="384048"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450592"/>
            <a:ext cx="1938528" cy="384048"/>
          </a:xfrm>
          <a:prstGeom prst="rect">
            <a:avLst/>
          </a:prstGeom>
          <a:noFill/>
        </p:spPr>
        <p:txBody>
          <a:bodyPr wrap="square" anchor="t" lIns="0" rIns="0" tIns="0" bIns="0">
            <a:spAutoFit/>
          </a:bodyPr>
          <a:lstStyle/>
          <a:p>
            <a:pPr algn="l">
              <a:lnSpc>
                <a:spcPct val="112000"/>
              </a:lnSpc>
            </a:pPr>
            <a:r>
              <a:rPr sz="1800" b="1">
                <a:solidFill>
                  <a:srgbClr val="1F2933"/>
                </a:solidFill>
                <a:latin typeface="맑은 고딕"/>
                <a:ea typeface="맑은 고딕"/>
                <a:cs typeface="맑은 고딕"/>
              </a:rPr>
              <a:t>숙제를 맡겨요</a:t>
            </a:r>
          </a:p>
        </p:txBody>
      </p:sp>
      <p:sp>
        <p:nvSpPr>
          <p:cNvPr id="9" name="TextBox 8"/>
          <p:cNvSpPr txBox="1"/>
          <p:nvPr/>
        </p:nvSpPr>
        <p:spPr>
          <a:xfrm>
            <a:off x="1033271" y="2882188"/>
            <a:ext cx="1938528" cy="1324051"/>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물어보면 답이 바로 나오니</a:t>
            </a:r>
          </a:p>
          <a:p>
            <a:pPr algn="l">
              <a:lnSpc>
                <a:spcPct val="132000"/>
              </a:lnSpc>
              <a:spcAft>
                <a:spcPts val="400"/>
              </a:spcAft>
            </a:pPr>
            <a:r>
              <a:rPr sz="1350" b="0">
                <a:solidFill>
                  <a:srgbClr val="3E4C59"/>
                </a:solidFill>
                <a:latin typeface="맑은 고딕"/>
                <a:ea typeface="맑은 고딕"/>
                <a:cs typeface="맑은 고딕"/>
              </a:rPr>
              <a:t>먼저 AI부터 켭니다.</a:t>
            </a:r>
          </a:p>
        </p:txBody>
      </p:sp>
      <p:sp>
        <p:nvSpPr>
          <p:cNvPr id="10" name="Rounded Rectangle 9"/>
          <p:cNvSpPr/>
          <p:nvPr/>
        </p:nvSpPr>
        <p:spPr>
          <a:xfrm>
            <a:off x="3511296" y="2029968"/>
            <a:ext cx="2450592" cy="2286000"/>
          </a:xfrm>
          <a:prstGeom prst="roundRect">
            <a:avLst>
              <a:gd name="adj" fmla="val 6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767328" y="2286000"/>
            <a:ext cx="384048"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7328" y="2450592"/>
            <a:ext cx="1938528" cy="384048"/>
          </a:xfrm>
          <a:prstGeom prst="rect">
            <a:avLst/>
          </a:prstGeom>
          <a:noFill/>
        </p:spPr>
        <p:txBody>
          <a:bodyPr wrap="square" anchor="t" lIns="0" rIns="0" tIns="0" bIns="0">
            <a:spAutoFit/>
          </a:bodyPr>
          <a:lstStyle/>
          <a:p>
            <a:pPr algn="l">
              <a:lnSpc>
                <a:spcPct val="112000"/>
              </a:lnSpc>
            </a:pPr>
            <a:r>
              <a:rPr sz="1800" b="1">
                <a:solidFill>
                  <a:srgbClr val="1F2933"/>
                </a:solidFill>
                <a:latin typeface="맑은 고딕"/>
                <a:ea typeface="맑은 고딕"/>
                <a:cs typeface="맑은 고딕"/>
              </a:rPr>
              <a:t>계속 물어봐요</a:t>
            </a:r>
          </a:p>
        </p:txBody>
      </p:sp>
      <p:sp>
        <p:nvSpPr>
          <p:cNvPr id="13" name="TextBox 12"/>
          <p:cNvSpPr txBox="1"/>
          <p:nvPr/>
        </p:nvSpPr>
        <p:spPr>
          <a:xfrm>
            <a:off x="3767328" y="2882188"/>
            <a:ext cx="1938528" cy="1324051"/>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생각하기 전에</a:t>
            </a:r>
          </a:p>
          <a:p>
            <a:pPr algn="l">
              <a:lnSpc>
                <a:spcPct val="132000"/>
              </a:lnSpc>
              <a:spcAft>
                <a:spcPts val="400"/>
              </a:spcAft>
            </a:pPr>
            <a:r>
              <a:rPr sz="1350" b="0">
                <a:solidFill>
                  <a:srgbClr val="3E4C59"/>
                </a:solidFill>
                <a:latin typeface="맑은 고딕"/>
                <a:ea typeface="맑은 고딕"/>
                <a:cs typeface="맑은 고딕"/>
              </a:rPr>
              <a:t>습관처럼 AI를 찾습니다.</a:t>
            </a:r>
          </a:p>
        </p:txBody>
      </p:sp>
      <p:sp>
        <p:nvSpPr>
          <p:cNvPr id="14" name="Rounded Rectangle 13"/>
          <p:cNvSpPr/>
          <p:nvPr/>
        </p:nvSpPr>
        <p:spPr>
          <a:xfrm>
            <a:off x="6245352" y="2029968"/>
            <a:ext cx="2450592" cy="2286000"/>
          </a:xfrm>
          <a:prstGeom prst="roundRect">
            <a:avLst>
              <a:gd name="adj" fmla="val 6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01384" y="2286000"/>
            <a:ext cx="384048"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01384" y="2450592"/>
            <a:ext cx="1938528" cy="384048"/>
          </a:xfrm>
          <a:prstGeom prst="rect">
            <a:avLst/>
          </a:prstGeom>
          <a:noFill/>
        </p:spPr>
        <p:txBody>
          <a:bodyPr wrap="square" anchor="t" lIns="0" rIns="0" tIns="0" bIns="0">
            <a:spAutoFit/>
          </a:bodyPr>
          <a:lstStyle/>
          <a:p>
            <a:pPr algn="l">
              <a:lnSpc>
                <a:spcPct val="112000"/>
              </a:lnSpc>
            </a:pPr>
            <a:r>
              <a:rPr sz="1800" b="1">
                <a:solidFill>
                  <a:srgbClr val="1F2933"/>
                </a:solidFill>
                <a:latin typeface="맑은 고딕"/>
                <a:ea typeface="맑은 고딕"/>
                <a:cs typeface="맑은 고딕"/>
              </a:rPr>
              <a:t>답을 믿어요</a:t>
            </a:r>
          </a:p>
        </p:txBody>
      </p:sp>
      <p:sp>
        <p:nvSpPr>
          <p:cNvPr id="17" name="TextBox 16"/>
          <p:cNvSpPr txBox="1"/>
          <p:nvPr/>
        </p:nvSpPr>
        <p:spPr>
          <a:xfrm>
            <a:off x="6501384" y="2882188"/>
            <a:ext cx="1938528" cy="1324051"/>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틀린 내용도</a:t>
            </a:r>
          </a:p>
          <a:p>
            <a:pPr algn="l">
              <a:lnSpc>
                <a:spcPct val="132000"/>
              </a:lnSpc>
              <a:spcAft>
                <a:spcPts val="400"/>
              </a:spcAft>
            </a:pPr>
            <a:r>
              <a:rPr sz="1350" b="0">
                <a:solidFill>
                  <a:srgbClr val="3E4C59"/>
                </a:solidFill>
                <a:latin typeface="맑은 고딕"/>
                <a:ea typeface="맑은 고딕"/>
                <a:cs typeface="맑은 고딕"/>
              </a:rPr>
              <a:t>그대로 받아 적습니다.</a:t>
            </a:r>
          </a:p>
        </p:txBody>
      </p:sp>
      <p:sp>
        <p:nvSpPr>
          <p:cNvPr id="18" name="Rounded Rectangle 17"/>
          <p:cNvSpPr/>
          <p:nvPr/>
        </p:nvSpPr>
        <p:spPr>
          <a:xfrm>
            <a:off x="8979408" y="2029968"/>
            <a:ext cx="2450592" cy="2286000"/>
          </a:xfrm>
          <a:prstGeom prst="roundRect">
            <a:avLst>
              <a:gd name="adj" fmla="val 6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235440" y="2286000"/>
            <a:ext cx="384048"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2450592"/>
            <a:ext cx="1938528" cy="384048"/>
          </a:xfrm>
          <a:prstGeom prst="rect">
            <a:avLst/>
          </a:prstGeom>
          <a:noFill/>
        </p:spPr>
        <p:txBody>
          <a:bodyPr wrap="square" anchor="t" lIns="0" rIns="0" tIns="0" bIns="0">
            <a:spAutoFit/>
          </a:bodyPr>
          <a:lstStyle/>
          <a:p>
            <a:pPr algn="l">
              <a:lnSpc>
                <a:spcPct val="112000"/>
              </a:lnSpc>
            </a:pPr>
            <a:r>
              <a:rPr sz="1800" b="1">
                <a:solidFill>
                  <a:srgbClr val="1F2933"/>
                </a:solidFill>
                <a:latin typeface="맑은 고딕"/>
                <a:ea typeface="맑은 고딕"/>
                <a:cs typeface="맑은 고딕"/>
              </a:rPr>
              <a:t>시작이 걱정돼요</a:t>
            </a:r>
          </a:p>
        </p:txBody>
      </p:sp>
      <p:sp>
        <p:nvSpPr>
          <p:cNvPr id="21" name="TextBox 20"/>
          <p:cNvSpPr txBox="1"/>
          <p:nvPr/>
        </p:nvSpPr>
        <p:spPr>
          <a:xfrm>
            <a:off x="9235440" y="2882188"/>
            <a:ext cx="1938528" cy="1324051"/>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언제부터 어디까지</a:t>
            </a:r>
          </a:p>
          <a:p>
            <a:pPr algn="l">
              <a:lnSpc>
                <a:spcPct val="132000"/>
              </a:lnSpc>
              <a:spcAft>
                <a:spcPts val="400"/>
              </a:spcAft>
            </a:pPr>
            <a:r>
              <a:rPr sz="1350" b="0">
                <a:solidFill>
                  <a:srgbClr val="3E4C59"/>
                </a:solidFill>
                <a:latin typeface="맑은 고딕"/>
                <a:ea typeface="맑은 고딕"/>
                <a:cs typeface="맑은 고딕"/>
              </a:rPr>
              <a:t>허용할지 모르겠습니다.</a:t>
            </a:r>
          </a:p>
        </p:txBody>
      </p:sp>
      <p:sp>
        <p:nvSpPr>
          <p:cNvPr id="22" name="Rounded Rectangle 21"/>
          <p:cNvSpPr/>
          <p:nvPr/>
        </p:nvSpPr>
        <p:spPr>
          <a:xfrm>
            <a:off x="777240" y="4617720"/>
            <a:ext cx="10637215" cy="9144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143000" y="4828032"/>
            <a:ext cx="9905695" cy="548640"/>
          </a:xfrm>
          <a:prstGeom prst="rect">
            <a:avLst/>
          </a:prstGeom>
          <a:noFill/>
        </p:spPr>
        <p:txBody>
          <a:bodyPr wrap="square" anchor="t" lIns="0" rIns="0" tIns="0" bIns="0">
            <a:spAutoFit/>
          </a:bodyPr>
          <a:lstStyle/>
          <a:p>
            <a:pPr algn="l">
              <a:lnSpc>
                <a:spcPct val="115000"/>
              </a:lnSpc>
            </a:pPr>
            <a:r>
              <a:rPr sz="1600" b="0">
                <a:solidFill>
                  <a:srgbClr val="3E4C59"/>
                </a:solidFill>
                <a:latin typeface="맑은 고딕"/>
                <a:ea typeface="맑은 고딕"/>
                <a:cs typeface="맑은 고딕"/>
              </a:rPr>
              <a:t>우리 집만의 고민이 아닙니다. </a:t>
            </a:r>
            <a:r>
              <a:rPr sz="1600" b="1">
                <a:solidFill>
                  <a:srgbClr val="0E7C86"/>
                </a:solidFill>
                <a:latin typeface="맑은 고딕"/>
                <a:ea typeface="맑은 고딕"/>
                <a:cs typeface="맑은 고딕"/>
              </a:rPr>
              <a:t>초등 4~6학년 51.2%</a:t>
            </a:r>
            <a:r>
              <a:rPr sz="1600" b="0">
                <a:solidFill>
                  <a:srgbClr val="3E4C59"/>
                </a:solidFill>
                <a:latin typeface="맑은 고딕"/>
                <a:ea typeface="맑은 고딕"/>
                <a:cs typeface="맑은 고딕"/>
              </a:rPr>
              <a:t>가 최근 일주일 안에 AI를 이용했습니다. 중학생 69.8%, 고등학생 82.3%.</a:t>
            </a:r>
          </a:p>
        </p:txBody>
      </p:sp>
      <p:sp>
        <p:nvSpPr>
          <p:cNvPr id="24" name="Rectangle 23"/>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한국언론진흥재단, 『2025 10대 청소년 미디어 이용 조사』(초4~고3 2,674명)</a:t>
            </a:r>
          </a:p>
        </p:txBody>
      </p:sp>
      <p:sp>
        <p:nvSpPr>
          <p:cNvPr id="26" name="TextBox 25"/>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 /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연수의 목표</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오늘 가져갈 세 가지</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오늘은 이 세 가지만 들고 가셔도 충분합니다.</a:t>
            </a:r>
          </a:p>
        </p:txBody>
      </p:sp>
      <p:sp>
        <p:nvSpPr>
          <p:cNvPr id="6" name="Oval 5"/>
          <p:cNvSpPr/>
          <p:nvPr/>
        </p:nvSpPr>
        <p:spPr>
          <a:xfrm>
            <a:off x="1958187" y="2240280"/>
            <a:ext cx="2240280" cy="224028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58187" y="2999232"/>
            <a:ext cx="2240280" cy="365760"/>
          </a:xfrm>
          <a:prstGeom prst="rect">
            <a:avLst/>
          </a:prstGeom>
          <a:noFill/>
        </p:spPr>
        <p:txBody>
          <a:bodyPr wrap="square" anchor="t" lIns="0" rIns="0" tIns="0" bIns="0">
            <a:spAutoFit/>
          </a:bodyPr>
          <a:lstStyle/>
          <a:p>
            <a:pPr algn="ctr">
              <a:lnSpc>
                <a:spcPct val="115000"/>
              </a:lnSpc>
            </a:pPr>
            <a:r>
              <a:rPr sz="2100" b="1">
                <a:solidFill>
                  <a:srgbClr val="1D4ED8"/>
                </a:solidFill>
                <a:latin typeface="맑은 고딕"/>
                <a:ea typeface="맑은 고딕"/>
                <a:cs typeface="맑은 고딕"/>
              </a:rPr>
              <a:t>사용 기준</a:t>
            </a:r>
          </a:p>
        </p:txBody>
      </p:sp>
      <p:sp>
        <p:nvSpPr>
          <p:cNvPr id="8" name="TextBox 7"/>
          <p:cNvSpPr txBox="1"/>
          <p:nvPr/>
        </p:nvSpPr>
        <p:spPr>
          <a:xfrm>
            <a:off x="1866747" y="4663440"/>
            <a:ext cx="2423160" cy="822960"/>
          </a:xfrm>
          <a:prstGeom prst="rect">
            <a:avLst/>
          </a:prstGeom>
          <a:noFill/>
        </p:spPr>
        <p:txBody>
          <a:bodyPr wrap="square" anchor="t" lIns="0" rIns="0" tIns="0" bIns="0">
            <a:spAutoFit/>
          </a:bodyPr>
          <a:lstStyle/>
          <a:p>
            <a:pPr algn="ctr">
              <a:lnSpc>
                <a:spcPct val="130000"/>
              </a:lnSpc>
            </a:pPr>
            <a:r>
              <a:rPr sz="1400" b="0">
                <a:solidFill>
                  <a:srgbClr val="3E4C59"/>
                </a:solidFill>
                <a:latin typeface="맑은 고딕"/>
                <a:ea typeface="맑은 고딕"/>
                <a:cs typeface="맑은 고딕"/>
              </a:rPr>
              <a:t>몇 살부터,</a:t>
            </a:r>
          </a:p>
          <a:p>
            <a:pPr algn="ctr">
              <a:lnSpc>
                <a:spcPct val="130000"/>
              </a:lnSpc>
            </a:pPr>
            <a:r>
              <a:rPr sz="1400" b="0">
                <a:solidFill>
                  <a:srgbClr val="3E4C59"/>
                </a:solidFill>
                <a:latin typeface="맑은 고딕"/>
                <a:ea typeface="맑은 고딕"/>
                <a:cs typeface="맑은 고딕"/>
              </a:rPr>
              <a:t>어디까지 허용할까</a:t>
            </a:r>
          </a:p>
        </p:txBody>
      </p:sp>
      <p:sp>
        <p:nvSpPr>
          <p:cNvPr id="9" name="TextBox 8"/>
          <p:cNvSpPr txBox="1"/>
          <p:nvPr/>
        </p:nvSpPr>
        <p:spPr>
          <a:xfrm>
            <a:off x="4308195" y="3108960"/>
            <a:ext cx="548640" cy="365760"/>
          </a:xfrm>
          <a:prstGeom prst="rect">
            <a:avLst/>
          </a:prstGeom>
          <a:noFill/>
        </p:spPr>
        <p:txBody>
          <a:bodyPr wrap="square" anchor="t" lIns="0" rIns="0" tIns="0" bIns="0">
            <a:spAutoFit/>
          </a:bodyPr>
          <a:lstStyle/>
          <a:p>
            <a:pPr algn="ctr">
              <a:lnSpc>
                <a:spcPct val="115000"/>
              </a:lnSpc>
            </a:pPr>
            <a:r>
              <a:rPr sz="2400" b="1">
                <a:solidFill>
                  <a:srgbClr val="D9E0E8"/>
                </a:solidFill>
                <a:latin typeface="맑은 고딕"/>
                <a:ea typeface="맑은 고딕"/>
                <a:cs typeface="맑은 고딕"/>
              </a:rPr>
              <a:t>+</a:t>
            </a:r>
          </a:p>
        </p:txBody>
      </p:sp>
      <p:sp>
        <p:nvSpPr>
          <p:cNvPr id="10" name="Oval 9"/>
          <p:cNvSpPr/>
          <p:nvPr/>
        </p:nvSpPr>
        <p:spPr>
          <a:xfrm>
            <a:off x="4975707" y="2240280"/>
            <a:ext cx="2240280" cy="2240280"/>
          </a:xfrm>
          <a:prstGeom prst="ellipse">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5707" y="2999232"/>
            <a:ext cx="2240280" cy="365760"/>
          </a:xfrm>
          <a:prstGeom prst="rect">
            <a:avLst/>
          </a:prstGeom>
          <a:noFill/>
        </p:spPr>
        <p:txBody>
          <a:bodyPr wrap="square" anchor="t" lIns="0" rIns="0" tIns="0" bIns="0">
            <a:spAutoFit/>
          </a:bodyPr>
          <a:lstStyle/>
          <a:p>
            <a:pPr algn="ctr">
              <a:lnSpc>
                <a:spcPct val="115000"/>
              </a:lnSpc>
            </a:pPr>
            <a:r>
              <a:rPr sz="2100" b="1">
                <a:solidFill>
                  <a:srgbClr val="0E7C86"/>
                </a:solidFill>
                <a:latin typeface="맑은 고딕"/>
                <a:ea typeface="맑은 고딕"/>
                <a:cs typeface="맑은 고딕"/>
              </a:rPr>
              <a:t>숙제 원칙</a:t>
            </a:r>
          </a:p>
        </p:txBody>
      </p:sp>
      <p:sp>
        <p:nvSpPr>
          <p:cNvPr id="12" name="TextBox 11"/>
          <p:cNvSpPr txBox="1"/>
          <p:nvPr/>
        </p:nvSpPr>
        <p:spPr>
          <a:xfrm>
            <a:off x="4884267" y="4663440"/>
            <a:ext cx="2423160" cy="822960"/>
          </a:xfrm>
          <a:prstGeom prst="rect">
            <a:avLst/>
          </a:prstGeom>
          <a:noFill/>
        </p:spPr>
        <p:txBody>
          <a:bodyPr wrap="square" anchor="t" lIns="0" rIns="0" tIns="0" bIns="0">
            <a:spAutoFit/>
          </a:bodyPr>
          <a:lstStyle/>
          <a:p>
            <a:pPr algn="ctr">
              <a:lnSpc>
                <a:spcPct val="130000"/>
              </a:lnSpc>
            </a:pPr>
            <a:r>
              <a:rPr sz="1400" b="0">
                <a:solidFill>
                  <a:srgbClr val="3E4C59"/>
                </a:solidFill>
                <a:latin typeface="맑은 고딕"/>
                <a:ea typeface="맑은 고딕"/>
                <a:cs typeface="맑은 고딕"/>
              </a:rPr>
              <a:t>무엇이 도움이고</a:t>
            </a:r>
          </a:p>
          <a:p>
            <a:pPr algn="ctr">
              <a:lnSpc>
                <a:spcPct val="130000"/>
              </a:lnSpc>
            </a:pPr>
            <a:r>
              <a:rPr sz="1400" b="0">
                <a:solidFill>
                  <a:srgbClr val="3E4C59"/>
                </a:solidFill>
                <a:latin typeface="맑은 고딕"/>
                <a:ea typeface="맑은 고딕"/>
                <a:cs typeface="맑은 고딕"/>
              </a:rPr>
              <a:t>무엇이 대행일까</a:t>
            </a:r>
          </a:p>
        </p:txBody>
      </p:sp>
      <p:sp>
        <p:nvSpPr>
          <p:cNvPr id="13" name="TextBox 12"/>
          <p:cNvSpPr txBox="1"/>
          <p:nvPr/>
        </p:nvSpPr>
        <p:spPr>
          <a:xfrm>
            <a:off x="7325715" y="3108960"/>
            <a:ext cx="548640" cy="365760"/>
          </a:xfrm>
          <a:prstGeom prst="rect">
            <a:avLst/>
          </a:prstGeom>
          <a:noFill/>
        </p:spPr>
        <p:txBody>
          <a:bodyPr wrap="square" anchor="t" lIns="0" rIns="0" tIns="0" bIns="0">
            <a:spAutoFit/>
          </a:bodyPr>
          <a:lstStyle/>
          <a:p>
            <a:pPr algn="ctr">
              <a:lnSpc>
                <a:spcPct val="115000"/>
              </a:lnSpc>
            </a:pPr>
            <a:r>
              <a:rPr sz="2400" b="1">
                <a:solidFill>
                  <a:srgbClr val="D9E0E8"/>
                </a:solidFill>
                <a:latin typeface="맑은 고딕"/>
                <a:ea typeface="맑은 고딕"/>
                <a:cs typeface="맑은 고딕"/>
              </a:rPr>
              <a:t>+</a:t>
            </a:r>
          </a:p>
        </p:txBody>
      </p:sp>
      <p:sp>
        <p:nvSpPr>
          <p:cNvPr id="14" name="Oval 13"/>
          <p:cNvSpPr/>
          <p:nvPr/>
        </p:nvSpPr>
        <p:spPr>
          <a:xfrm>
            <a:off x="7993227" y="2240280"/>
            <a:ext cx="2240280" cy="224028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93227" y="2999232"/>
            <a:ext cx="2240280" cy="365760"/>
          </a:xfrm>
          <a:prstGeom prst="rect">
            <a:avLst/>
          </a:prstGeom>
          <a:noFill/>
        </p:spPr>
        <p:txBody>
          <a:bodyPr wrap="square" anchor="t" lIns="0" rIns="0" tIns="0" bIns="0">
            <a:spAutoFit/>
          </a:bodyPr>
          <a:lstStyle/>
          <a:p>
            <a:pPr algn="ctr">
              <a:lnSpc>
                <a:spcPct val="115000"/>
              </a:lnSpc>
            </a:pPr>
            <a:r>
              <a:rPr sz="2100" b="1">
                <a:solidFill>
                  <a:srgbClr val="1D4ED8"/>
                </a:solidFill>
                <a:latin typeface="맑은 고딕"/>
                <a:ea typeface="맑은 고딕"/>
                <a:cs typeface="맑은 고딕"/>
              </a:rPr>
              <a:t>확인 습관</a:t>
            </a:r>
          </a:p>
        </p:txBody>
      </p:sp>
      <p:sp>
        <p:nvSpPr>
          <p:cNvPr id="16" name="TextBox 15"/>
          <p:cNvSpPr txBox="1"/>
          <p:nvPr/>
        </p:nvSpPr>
        <p:spPr>
          <a:xfrm>
            <a:off x="7901787" y="4663440"/>
            <a:ext cx="2423160" cy="822960"/>
          </a:xfrm>
          <a:prstGeom prst="rect">
            <a:avLst/>
          </a:prstGeom>
          <a:noFill/>
        </p:spPr>
        <p:txBody>
          <a:bodyPr wrap="square" anchor="t" lIns="0" rIns="0" tIns="0" bIns="0">
            <a:spAutoFit/>
          </a:bodyPr>
          <a:lstStyle/>
          <a:p>
            <a:pPr algn="ctr">
              <a:lnSpc>
                <a:spcPct val="130000"/>
              </a:lnSpc>
            </a:pPr>
            <a:r>
              <a:rPr sz="1400" b="0">
                <a:solidFill>
                  <a:srgbClr val="3E4C59"/>
                </a:solidFill>
                <a:latin typeface="맑은 고딕"/>
                <a:ea typeface="맑은 고딕"/>
                <a:cs typeface="맑은 고딕"/>
              </a:rPr>
              <a:t>이 답이 정말</a:t>
            </a:r>
          </a:p>
          <a:p>
            <a:pPr algn="ctr">
              <a:lnSpc>
                <a:spcPct val="130000"/>
              </a:lnSpc>
            </a:pPr>
            <a:r>
              <a:rPr sz="1400" b="0">
                <a:solidFill>
                  <a:srgbClr val="3E4C59"/>
                </a:solidFill>
                <a:latin typeface="맑은 고딕"/>
                <a:ea typeface="맑은 고딕"/>
                <a:cs typeface="맑은 고딕"/>
              </a:rPr>
              <a:t>맞는지 어떻게 볼까</a:t>
            </a:r>
          </a:p>
        </p:txBody>
      </p:sp>
      <p:sp>
        <p:nvSpPr>
          <p:cNvPr id="17" name="Rectangle 16"/>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 / 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OX 퀴즈 · 먼저 투표</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AI가 맞히면, 아이도 배운 것이다?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답을 보기 전에 O 또는 X로 손을 들어 주세요.</a:t>
            </a:r>
          </a:p>
        </p:txBody>
      </p:sp>
      <p:sp>
        <p:nvSpPr>
          <p:cNvPr id="6" name="Oval 5"/>
          <p:cNvSpPr/>
          <p:nvPr/>
        </p:nvSpPr>
        <p:spPr>
          <a:xfrm>
            <a:off x="1828800" y="2103120"/>
            <a:ext cx="1920240" cy="1920240"/>
          </a:xfrm>
          <a:prstGeom prst="ellipse">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2788920"/>
            <a:ext cx="1920240" cy="548640"/>
          </a:xfrm>
          <a:prstGeom prst="rect">
            <a:avLst/>
          </a:prstGeom>
          <a:noFill/>
        </p:spPr>
        <p:txBody>
          <a:bodyPr wrap="square" anchor="t" lIns="0" rIns="0" tIns="0" bIns="0">
            <a:spAutoFit/>
          </a:bodyPr>
          <a:lstStyle/>
          <a:p>
            <a:pPr algn="ctr">
              <a:lnSpc>
                <a:spcPct val="115000"/>
              </a:lnSpc>
            </a:pPr>
            <a:r>
              <a:rPr sz="4400" b="1">
                <a:solidFill>
                  <a:srgbClr val="7B8894"/>
                </a:solidFill>
                <a:latin typeface="맑은 고딕"/>
                <a:ea typeface="맑은 고딕"/>
                <a:cs typeface="맑은 고딕"/>
              </a:rPr>
              <a:t>O</a:t>
            </a:r>
          </a:p>
        </p:txBody>
      </p:sp>
      <p:sp>
        <p:nvSpPr>
          <p:cNvPr id="8" name="Oval 7"/>
          <p:cNvSpPr/>
          <p:nvPr/>
        </p:nvSpPr>
        <p:spPr>
          <a:xfrm>
            <a:off x="4297679" y="2103120"/>
            <a:ext cx="1920240" cy="1920240"/>
          </a:xfrm>
          <a:prstGeom prst="ellipse">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2788920"/>
            <a:ext cx="1920240" cy="548640"/>
          </a:xfrm>
          <a:prstGeom prst="rect">
            <a:avLst/>
          </a:prstGeom>
          <a:noFill/>
        </p:spPr>
        <p:txBody>
          <a:bodyPr wrap="square" anchor="t" lIns="0" rIns="0" tIns="0" bIns="0">
            <a:spAutoFit/>
          </a:bodyPr>
          <a:lstStyle/>
          <a:p>
            <a:pPr algn="ctr">
              <a:lnSpc>
                <a:spcPct val="115000"/>
              </a:lnSpc>
            </a:pPr>
            <a:r>
              <a:rPr sz="4400" b="1">
                <a:solidFill>
                  <a:srgbClr val="1D4ED8"/>
                </a:solidFill>
                <a:latin typeface="맑은 고딕"/>
                <a:ea typeface="맑은 고딕"/>
                <a:cs typeface="맑은 고딕"/>
              </a:rPr>
              <a:t>X</a:t>
            </a:r>
          </a:p>
        </p:txBody>
      </p:sp>
      <p:sp>
        <p:nvSpPr>
          <p:cNvPr id="10" name="TextBox 9"/>
          <p:cNvSpPr txBox="1"/>
          <p:nvPr/>
        </p:nvSpPr>
        <p:spPr>
          <a:xfrm>
            <a:off x="4297679" y="4160520"/>
            <a:ext cx="1920240" cy="310896"/>
          </a:xfrm>
          <a:prstGeom prst="rect">
            <a:avLst/>
          </a:prstGeom>
          <a:noFill/>
        </p:spPr>
        <p:txBody>
          <a:bodyPr wrap="square" anchor="t" lIns="0" rIns="0" tIns="0" bIns="0">
            <a:spAutoFit/>
          </a:bodyPr>
          <a:lstStyle/>
          <a:p>
            <a:pPr algn="ctr">
              <a:lnSpc>
                <a:spcPct val="115000"/>
              </a:lnSpc>
            </a:pPr>
            <a:r>
              <a:rPr sz="1300" b="1">
                <a:solidFill>
                  <a:srgbClr val="1D4ED8"/>
                </a:solidFill>
                <a:latin typeface="맑은 고딕"/>
                <a:ea typeface="맑은 고딕"/>
                <a:cs typeface="맑은 고딕"/>
              </a:rPr>
              <a:t>정답</a:t>
            </a:r>
          </a:p>
        </p:txBody>
      </p:sp>
      <p:sp>
        <p:nvSpPr>
          <p:cNvPr id="11" name="TextBox 10"/>
          <p:cNvSpPr txBox="1"/>
          <p:nvPr/>
        </p:nvSpPr>
        <p:spPr>
          <a:xfrm>
            <a:off x="6446520" y="2148840"/>
            <a:ext cx="4967935" cy="731520"/>
          </a:xfrm>
          <a:prstGeom prst="rect">
            <a:avLst/>
          </a:prstGeom>
          <a:noFill/>
        </p:spPr>
        <p:txBody>
          <a:bodyPr wrap="square" anchor="t" lIns="0" rIns="0" tIns="0" bIns="0">
            <a:spAutoFit/>
          </a:bodyPr>
          <a:lstStyle/>
          <a:p>
            <a:pPr algn="l">
              <a:lnSpc>
                <a:spcPct val="130000"/>
              </a:lnSpc>
            </a:pPr>
            <a:r>
              <a:rPr sz="1900" b="1">
                <a:solidFill>
                  <a:srgbClr val="1F2933"/>
                </a:solidFill>
                <a:latin typeface="맑은 고딕"/>
                <a:ea typeface="맑은 고딕"/>
                <a:cs typeface="맑은 고딕"/>
              </a:rPr>
              <a:t>문제를 푼 건 AI입니다.
아이는 그걸 지켜봤을 뿐입니다.</a:t>
            </a:r>
          </a:p>
        </p:txBody>
      </p:sp>
      <p:sp>
        <p:nvSpPr>
          <p:cNvPr id="12" name="Rounded Rectangle 11"/>
          <p:cNvSpPr/>
          <p:nvPr/>
        </p:nvSpPr>
        <p:spPr>
          <a:xfrm>
            <a:off x="6446520" y="2971800"/>
            <a:ext cx="2346807" cy="1783080"/>
          </a:xfrm>
          <a:prstGeom prst="roundRect">
            <a:avLst>
              <a:gd name="adj" fmla="val 6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702552" y="3227832"/>
            <a:ext cx="1834743" cy="384048"/>
          </a:xfrm>
          <a:prstGeom prst="rect">
            <a:avLst/>
          </a:prstGeom>
          <a:noFill/>
        </p:spPr>
        <p:txBody>
          <a:bodyPr wrap="square" anchor="t" lIns="0" rIns="0" tIns="0" bIns="0">
            <a:spAutoFit/>
          </a:bodyPr>
          <a:lstStyle/>
          <a:p>
            <a:pPr algn="l">
              <a:lnSpc>
                <a:spcPct val="112000"/>
              </a:lnSpc>
            </a:pPr>
            <a:r>
              <a:rPr sz="1600" b="1">
                <a:solidFill>
                  <a:srgbClr val="1F2933"/>
                </a:solidFill>
                <a:latin typeface="맑은 고딕"/>
                <a:ea typeface="맑은 고딕"/>
                <a:cs typeface="맑은 고딕"/>
              </a:rPr>
              <a:t>답을 얻기</a:t>
            </a:r>
          </a:p>
        </p:txBody>
      </p:sp>
      <p:sp>
        <p:nvSpPr>
          <p:cNvPr id="14" name="TextBox 13"/>
          <p:cNvSpPr txBox="1"/>
          <p:nvPr/>
        </p:nvSpPr>
        <p:spPr>
          <a:xfrm>
            <a:off x="6702552" y="3637483"/>
            <a:ext cx="1834743" cy="1007668"/>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 과제가 끝난다</a:t>
            </a:r>
          </a:p>
          <a:p>
            <a:pPr algn="l">
              <a:lnSpc>
                <a:spcPct val="132000"/>
              </a:lnSpc>
              <a:spcAft>
                <a:spcPts val="400"/>
              </a:spcAft>
            </a:pPr>
            <a:r>
              <a:rPr sz="1350" b="0">
                <a:solidFill>
                  <a:srgbClr val="3E4C59"/>
                </a:solidFill>
                <a:latin typeface="맑은 고딕"/>
                <a:ea typeface="맑은 고딕"/>
                <a:cs typeface="맑은 고딕"/>
              </a:rPr>
              <a:t>· 오늘 점수는 오른다</a:t>
            </a:r>
          </a:p>
          <a:p>
            <a:pPr algn="l">
              <a:lnSpc>
                <a:spcPct val="132000"/>
              </a:lnSpc>
              <a:spcAft>
                <a:spcPts val="400"/>
              </a:spcAft>
            </a:pPr>
            <a:r>
              <a:rPr sz="1350" b="0">
                <a:solidFill>
                  <a:srgbClr val="3E4C59"/>
                </a:solidFill>
                <a:latin typeface="맑은 고딕"/>
                <a:ea typeface="맑은 고딕"/>
                <a:cs typeface="맑은 고딕"/>
              </a:rPr>
              <a:t>· 다음에 또 막힌다</a:t>
            </a:r>
          </a:p>
        </p:txBody>
      </p:sp>
      <p:sp>
        <p:nvSpPr>
          <p:cNvPr id="15" name="Rounded Rectangle 14"/>
          <p:cNvSpPr/>
          <p:nvPr/>
        </p:nvSpPr>
        <p:spPr>
          <a:xfrm>
            <a:off x="9067647" y="2971800"/>
            <a:ext cx="2346807" cy="1783080"/>
          </a:xfrm>
          <a:prstGeom prst="roundRect">
            <a:avLst>
              <a:gd name="adj" fmla="val 6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9323679" y="3227832"/>
            <a:ext cx="384048"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3679" y="3392424"/>
            <a:ext cx="1834743" cy="384048"/>
          </a:xfrm>
          <a:prstGeom prst="rect">
            <a:avLst/>
          </a:prstGeom>
          <a:noFill/>
        </p:spPr>
        <p:txBody>
          <a:bodyPr wrap="square" anchor="t" lIns="0" rIns="0" tIns="0" bIns="0">
            <a:spAutoFit/>
          </a:bodyPr>
          <a:lstStyle/>
          <a:p>
            <a:pPr algn="l">
              <a:lnSpc>
                <a:spcPct val="112000"/>
              </a:lnSpc>
            </a:pPr>
            <a:r>
              <a:rPr sz="1600" b="1">
                <a:solidFill>
                  <a:srgbClr val="1F2933"/>
                </a:solidFill>
                <a:latin typeface="맑은 고딕"/>
                <a:ea typeface="맑은 고딕"/>
                <a:cs typeface="맑은 고딕"/>
              </a:rPr>
              <a:t>스스로 설명하기</a:t>
            </a:r>
          </a:p>
        </p:txBody>
      </p:sp>
      <p:sp>
        <p:nvSpPr>
          <p:cNvPr id="18" name="TextBox 17"/>
          <p:cNvSpPr txBox="1"/>
          <p:nvPr/>
        </p:nvSpPr>
        <p:spPr>
          <a:xfrm>
            <a:off x="9323679" y="3802075"/>
            <a:ext cx="1834743" cy="843076"/>
          </a:xfrm>
          <a:prstGeom prst="rect">
            <a:avLst/>
          </a:prstGeom>
          <a:noFill/>
        </p:spPr>
        <p:txBody>
          <a:bodyPr wrap="square" anchor="t" lIns="0" rIns="0" tIns="0" bIns="0">
            <a:spAutoFit/>
          </a:bodyPr>
          <a:lstStyle/>
          <a:p>
            <a:pPr algn="l">
              <a:lnSpc>
                <a:spcPct val="132000"/>
              </a:lnSpc>
              <a:spcAft>
                <a:spcPts val="400"/>
              </a:spcAft>
            </a:pPr>
            <a:r>
              <a:rPr sz="1350" b="0">
                <a:solidFill>
                  <a:srgbClr val="3E4C59"/>
                </a:solidFill>
                <a:latin typeface="맑은 고딕"/>
                <a:ea typeface="맑은 고딕"/>
                <a:cs typeface="맑은 고딕"/>
              </a:rPr>
              <a:t>· 시간이 걸린다</a:t>
            </a:r>
          </a:p>
          <a:p>
            <a:pPr algn="l">
              <a:lnSpc>
                <a:spcPct val="132000"/>
              </a:lnSpc>
              <a:spcAft>
                <a:spcPts val="400"/>
              </a:spcAft>
            </a:pPr>
            <a:r>
              <a:rPr sz="1350" b="0">
                <a:solidFill>
                  <a:srgbClr val="3E4C59"/>
                </a:solidFill>
                <a:latin typeface="맑은 고딕"/>
                <a:ea typeface="맑은 고딕"/>
                <a:cs typeface="맑은 고딕"/>
              </a:rPr>
              <a:t>· 오늘은 더디다</a:t>
            </a:r>
          </a:p>
          <a:p>
            <a:pPr algn="l">
              <a:lnSpc>
                <a:spcPct val="132000"/>
              </a:lnSpc>
              <a:spcAft>
                <a:spcPts val="400"/>
              </a:spcAft>
            </a:pPr>
            <a:r>
              <a:rPr sz="1350" b="0">
                <a:solidFill>
                  <a:srgbClr val="3E4C59"/>
                </a:solidFill>
                <a:latin typeface="맑은 고딕"/>
                <a:ea typeface="맑은 고딕"/>
                <a:cs typeface="맑은 고딕"/>
              </a:rPr>
              <a:t>· 다음에 혼자 푼다</a:t>
            </a:r>
          </a:p>
        </p:txBody>
      </p:sp>
      <p:sp>
        <p:nvSpPr>
          <p:cNvPr id="19" name="Rounded Rectangle 18"/>
          <p:cNvSpPr/>
          <p:nvPr/>
        </p:nvSpPr>
        <p:spPr>
          <a:xfrm>
            <a:off x="6446520" y="4892040"/>
            <a:ext cx="4967935" cy="841248"/>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20840" y="5093208"/>
            <a:ext cx="4419295" cy="548640"/>
          </a:xfrm>
          <a:prstGeom prst="rect">
            <a:avLst/>
          </a:prstGeom>
          <a:noFill/>
        </p:spPr>
        <p:txBody>
          <a:bodyPr wrap="square" anchor="t" lIns="0" rIns="0" tIns="0" bIns="0">
            <a:spAutoFit/>
          </a:bodyPr>
          <a:lstStyle/>
          <a:p>
            <a:pPr algn="l">
              <a:lnSpc>
                <a:spcPct val="130000"/>
              </a:lnSpc>
            </a:pPr>
            <a:r>
              <a:rPr sz="1400" b="1">
                <a:solidFill>
                  <a:srgbClr val="0E7C86"/>
                </a:solidFill>
                <a:latin typeface="맑은 고딕"/>
                <a:ea typeface="맑은 고딕"/>
                <a:cs typeface="맑은 고딕"/>
              </a:rPr>
              <a:t>확인은 간단합니다. 화면을 닫고 아이에게 설명해 보라고 해 보세요.</a:t>
            </a:r>
          </a:p>
        </p:txBody>
      </p:sp>
      <p:sp>
        <p:nvSpPr>
          <p:cNvPr id="21" name="Rectangle 20"/>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4 / 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원리 이해</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AI는 어떻게 그럴듯한 답을 만들까요?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복잡한 기술은 아닙니다. 알아 두면 어디를 확인해야 할지 감이 옵니다.</a:t>
            </a:r>
          </a:p>
        </p:txBody>
      </p:sp>
      <p:sp>
        <p:nvSpPr>
          <p:cNvPr id="6" name="Rounded Rectangle 5"/>
          <p:cNvSpPr/>
          <p:nvPr/>
        </p:nvSpPr>
        <p:spPr>
          <a:xfrm>
            <a:off x="777240" y="2148840"/>
            <a:ext cx="3200400"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51560" y="2395728"/>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051560" y="2944368"/>
            <a:ext cx="2651760" cy="36576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질문을 입력합니다</a:t>
            </a:r>
          </a:p>
        </p:txBody>
      </p:sp>
      <p:sp>
        <p:nvSpPr>
          <p:cNvPr id="10" name="TextBox 9"/>
          <p:cNvSpPr txBox="1"/>
          <p:nvPr/>
        </p:nvSpPr>
        <p:spPr>
          <a:xfrm>
            <a:off x="1051560" y="3310128"/>
            <a:ext cx="2651760"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아이가 쓴 문장이</a:t>
            </a:r>
          </a:p>
          <a:p>
            <a:pPr algn="l">
              <a:lnSpc>
                <a:spcPct val="130000"/>
              </a:lnSpc>
            </a:pPr>
            <a:r>
              <a:rPr sz="1300" b="0">
                <a:solidFill>
                  <a:srgbClr val="3E4C59"/>
                </a:solidFill>
                <a:latin typeface="맑은 고딕"/>
                <a:ea typeface="맑은 고딕"/>
                <a:cs typeface="맑은 고딕"/>
              </a:rPr>
              <a:t>그대로 들어갑니다</a:t>
            </a:r>
          </a:p>
        </p:txBody>
      </p:sp>
      <p:sp>
        <p:nvSpPr>
          <p:cNvPr id="11" name="Right Arrow 10"/>
          <p:cNvSpPr/>
          <p:nvPr/>
        </p:nvSpPr>
        <p:spPr>
          <a:xfrm>
            <a:off x="4069079" y="2880360"/>
            <a:ext cx="320040" cy="274320"/>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59" y="2148840"/>
            <a:ext cx="3200400"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4754879" y="2395728"/>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5" name="TextBox 14"/>
          <p:cNvSpPr txBox="1"/>
          <p:nvPr/>
        </p:nvSpPr>
        <p:spPr>
          <a:xfrm>
            <a:off x="4754879" y="2944368"/>
            <a:ext cx="2651760" cy="36576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이어질 말을 예측합니다</a:t>
            </a:r>
          </a:p>
        </p:txBody>
      </p:sp>
      <p:sp>
        <p:nvSpPr>
          <p:cNvPr id="16" name="TextBox 15"/>
          <p:cNvSpPr txBox="1"/>
          <p:nvPr/>
        </p:nvSpPr>
        <p:spPr>
          <a:xfrm>
            <a:off x="4754879" y="3310128"/>
            <a:ext cx="2651760"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학습한 방대한 글에서</a:t>
            </a:r>
          </a:p>
          <a:p>
            <a:pPr algn="l">
              <a:lnSpc>
                <a:spcPct val="130000"/>
              </a:lnSpc>
            </a:pPr>
            <a:r>
              <a:rPr sz="1300" b="0">
                <a:solidFill>
                  <a:srgbClr val="3E4C59"/>
                </a:solidFill>
                <a:latin typeface="맑은 고딕"/>
                <a:ea typeface="맑은 고딕"/>
                <a:cs typeface="맑은 고딕"/>
              </a:rPr>
              <a:t>가장 그럴듯한 말을 고릅니다</a:t>
            </a:r>
          </a:p>
        </p:txBody>
      </p:sp>
      <p:sp>
        <p:nvSpPr>
          <p:cNvPr id="17" name="Right Arrow 16"/>
          <p:cNvSpPr/>
          <p:nvPr/>
        </p:nvSpPr>
        <p:spPr>
          <a:xfrm>
            <a:off x="7772399" y="2880360"/>
            <a:ext cx="320040" cy="274320"/>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83879" y="2148840"/>
            <a:ext cx="3200400" cy="17830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458200" y="2395728"/>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21" name="TextBox 20"/>
          <p:cNvSpPr txBox="1"/>
          <p:nvPr/>
        </p:nvSpPr>
        <p:spPr>
          <a:xfrm>
            <a:off x="8458200" y="2944368"/>
            <a:ext cx="2651760" cy="36576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문장으로 만들어 냅니다</a:t>
            </a:r>
          </a:p>
        </p:txBody>
      </p:sp>
      <p:sp>
        <p:nvSpPr>
          <p:cNvPr id="22" name="TextBox 21"/>
          <p:cNvSpPr txBox="1"/>
          <p:nvPr/>
        </p:nvSpPr>
        <p:spPr>
          <a:xfrm>
            <a:off x="8458200" y="3310128"/>
            <a:ext cx="2651760"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사실 여부를 확인한 것이</a:t>
            </a:r>
          </a:p>
          <a:p>
            <a:pPr algn="l">
              <a:lnSpc>
                <a:spcPct val="130000"/>
              </a:lnSpc>
            </a:pPr>
            <a:r>
              <a:rPr sz="1300" b="0">
                <a:solidFill>
                  <a:srgbClr val="3E4C59"/>
                </a:solidFill>
                <a:latin typeface="맑은 고딕"/>
                <a:ea typeface="맑은 고딕"/>
                <a:cs typeface="맑은 고딕"/>
              </a:rPr>
              <a:t>아니라 문장을 완성한 것입니다</a:t>
            </a:r>
          </a:p>
        </p:txBody>
      </p:sp>
      <p:sp>
        <p:nvSpPr>
          <p:cNvPr id="23" name="Rounded Rectangle 22"/>
          <p:cNvSpPr/>
          <p:nvPr/>
        </p:nvSpPr>
        <p:spPr>
          <a:xfrm>
            <a:off x="777240" y="4315968"/>
            <a:ext cx="10637215" cy="1261872"/>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4517136"/>
            <a:ext cx="9905695" cy="914400"/>
          </a:xfrm>
          <a:prstGeom prst="rect">
            <a:avLst/>
          </a:prstGeom>
          <a:noFill/>
        </p:spPr>
        <p:txBody>
          <a:bodyPr wrap="square" anchor="t" lIns="0" rIns="0" tIns="0" bIns="0">
            <a:spAutoFit/>
          </a:bodyPr>
          <a:lstStyle/>
          <a:p>
            <a:pPr algn="l">
              <a:lnSpc>
                <a:spcPct val="135000"/>
              </a:lnSpc>
              <a:spcAft>
                <a:spcPts val="500"/>
              </a:spcAft>
            </a:pPr>
            <a:r>
              <a:rPr sz="1450" b="0">
                <a:solidFill>
                  <a:srgbClr val="3E4C59"/>
                </a:solidFill>
                <a:latin typeface="맑은 고딕"/>
                <a:ea typeface="맑은 고딕"/>
                <a:cs typeface="맑은 고딕"/>
              </a:rPr>
              <a:t>그래서 AI는 </a:t>
            </a:r>
            <a:r>
              <a:rPr sz="1450" b="1">
                <a:solidFill>
                  <a:srgbClr val="0E7C86"/>
                </a:solidFill>
                <a:latin typeface="맑은 고딕"/>
                <a:ea typeface="맑은 고딕"/>
                <a:cs typeface="맑은 고딕"/>
              </a:rPr>
              <a:t>모르면 ‘모른다’고 하기보다 그럴듯하게 채웁니다.</a:t>
            </a:r>
          </a:p>
          <a:p>
            <a:pPr algn="l">
              <a:lnSpc>
                <a:spcPct val="135000"/>
              </a:lnSpc>
              <a:spcAft>
                <a:spcPts val="500"/>
              </a:spcAft>
            </a:pPr>
            <a:r>
              <a:rPr sz="1450" b="0">
                <a:solidFill>
                  <a:srgbClr val="3E4C59"/>
                </a:solidFill>
                <a:latin typeface="맑은 고딕"/>
                <a:ea typeface="맑은 고딕"/>
                <a:cs typeface="맑은 고딕"/>
              </a:rPr>
              <a:t>검색으로 최신 자료까지 찾아 주는지, 계산은 따로 도구를 쓰는지는 서비스마다 다릅니다. 우리 아이가 쓰는 게 어느 쪽인지부터 보시면 좋겠습니다.</a:t>
            </a:r>
          </a:p>
        </p:txBody>
      </p:sp>
      <p:sp>
        <p:nvSpPr>
          <p:cNvPr id="25" name="Rectangle 24"/>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5 /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갈림길</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같은 정답, 다른 공부</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모르는 문제를 만난 순간, 두 갈래로 나뉩니다.</a:t>
            </a:r>
          </a:p>
        </p:txBody>
      </p:sp>
      <p:sp>
        <p:nvSpPr>
          <p:cNvPr id="6" name="Rounded Rectangle 5"/>
          <p:cNvSpPr/>
          <p:nvPr/>
        </p:nvSpPr>
        <p:spPr>
          <a:xfrm>
            <a:off x="777240" y="3246120"/>
            <a:ext cx="2148840" cy="868680"/>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3493008"/>
            <a:ext cx="1737360" cy="457200"/>
          </a:xfrm>
          <a:prstGeom prst="rect">
            <a:avLst/>
          </a:prstGeom>
          <a:noFill/>
        </p:spPr>
        <p:txBody>
          <a:bodyPr wrap="square" anchor="t" lIns="0" rIns="0" tIns="0" bIns="0">
            <a:spAutoFit/>
          </a:bodyPr>
          <a:lstStyle/>
          <a:p>
            <a:pPr algn="l">
              <a:lnSpc>
                <a:spcPct val="125000"/>
              </a:lnSpc>
            </a:pPr>
            <a:r>
              <a:rPr sz="1550" b="1">
                <a:solidFill>
                  <a:srgbClr val="1F2933"/>
                </a:solidFill>
                <a:latin typeface="맑은 고딕"/>
                <a:ea typeface="맑은 고딕"/>
                <a:cs typeface="맑은 고딕"/>
              </a:rPr>
              <a:t>모르는 문제를</a:t>
            </a:r>
          </a:p>
          <a:p>
            <a:pPr algn="l">
              <a:lnSpc>
                <a:spcPct val="125000"/>
              </a:lnSpc>
            </a:pPr>
            <a:r>
              <a:rPr sz="1550" b="1">
                <a:solidFill>
                  <a:srgbClr val="1F2933"/>
                </a:solidFill>
                <a:latin typeface="맑은 고딕"/>
                <a:ea typeface="맑은 고딕"/>
                <a:cs typeface="맑은 고딕"/>
              </a:rPr>
              <a:t>만났다</a:t>
            </a:r>
          </a:p>
        </p:txBody>
      </p:sp>
      <p:sp>
        <p:nvSpPr>
          <p:cNvPr id="8" name="Right Arrow 7"/>
          <p:cNvSpPr/>
          <p:nvPr/>
        </p:nvSpPr>
        <p:spPr>
          <a:xfrm>
            <a:off x="3063240" y="3547872"/>
            <a:ext cx="384048" cy="274320"/>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2194560"/>
            <a:ext cx="7802575" cy="12801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886200" y="2395728"/>
            <a:ext cx="2011680" cy="320040"/>
          </a:xfrm>
          <a:prstGeom prst="rect">
            <a:avLst/>
          </a:prstGeom>
          <a:noFill/>
        </p:spPr>
        <p:txBody>
          <a:bodyPr wrap="square" anchor="t" lIns="0" rIns="0" tIns="0" bIns="0">
            <a:spAutoFit/>
          </a:bodyPr>
          <a:lstStyle/>
          <a:p>
            <a:pPr algn="l">
              <a:lnSpc>
                <a:spcPct val="115000"/>
              </a:lnSpc>
            </a:pPr>
            <a:r>
              <a:rPr sz="1550" b="1">
                <a:solidFill>
                  <a:srgbClr val="7B8894"/>
                </a:solidFill>
                <a:latin typeface="맑은 고딕"/>
                <a:ea typeface="맑은 고딕"/>
                <a:cs typeface="맑은 고딕"/>
              </a:rPr>
              <a:t>A. 답을 복사한다</a:t>
            </a:r>
          </a:p>
        </p:txBody>
      </p:sp>
      <p:sp>
        <p:nvSpPr>
          <p:cNvPr id="11" name="TextBox 10"/>
          <p:cNvSpPr txBox="1"/>
          <p:nvPr/>
        </p:nvSpPr>
        <p:spPr>
          <a:xfrm>
            <a:off x="3886200" y="2788920"/>
            <a:ext cx="7253935" cy="41148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과제는 끝난다  →  오늘 점수는 오른다  →  다음에 또 막힌다</a:t>
            </a:r>
          </a:p>
        </p:txBody>
      </p:sp>
      <p:sp>
        <p:nvSpPr>
          <p:cNvPr id="12" name="Rounded Rectangle 11"/>
          <p:cNvSpPr/>
          <p:nvPr/>
        </p:nvSpPr>
        <p:spPr>
          <a:xfrm>
            <a:off x="3611880" y="3794760"/>
            <a:ext cx="7802575" cy="128016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886200" y="3995928"/>
            <a:ext cx="2743200" cy="320040"/>
          </a:xfrm>
          <a:prstGeom prst="rect">
            <a:avLst/>
          </a:prstGeom>
          <a:noFill/>
        </p:spPr>
        <p:txBody>
          <a:bodyPr wrap="square" anchor="t" lIns="0" rIns="0" tIns="0" bIns="0">
            <a:spAutoFit/>
          </a:bodyPr>
          <a:lstStyle/>
          <a:p>
            <a:pPr algn="l">
              <a:lnSpc>
                <a:spcPct val="115000"/>
              </a:lnSpc>
            </a:pPr>
            <a:r>
              <a:rPr sz="1550" b="1">
                <a:solidFill>
                  <a:srgbClr val="1D4ED8"/>
                </a:solidFill>
                <a:latin typeface="맑은 고딕"/>
                <a:ea typeface="맑은 고딕"/>
                <a:cs typeface="맑은 고딕"/>
              </a:rPr>
              <a:t>B. 힌트를 받아 다시 푼다</a:t>
            </a:r>
          </a:p>
        </p:txBody>
      </p:sp>
      <p:sp>
        <p:nvSpPr>
          <p:cNvPr id="14" name="TextBox 13"/>
          <p:cNvSpPr txBox="1"/>
          <p:nvPr/>
        </p:nvSpPr>
        <p:spPr>
          <a:xfrm>
            <a:off x="3886200" y="4389120"/>
            <a:ext cx="7253935" cy="41148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시간이 걸린다  →  오늘은 더디다  →  다음에 혼자 푼다</a:t>
            </a:r>
          </a:p>
        </p:txBody>
      </p:sp>
      <p:sp>
        <p:nvSpPr>
          <p:cNvPr id="15" name="Rounded Rectangle 14"/>
          <p:cNvSpPr/>
          <p:nvPr/>
        </p:nvSpPr>
        <p:spPr>
          <a:xfrm>
            <a:off x="777240" y="5349240"/>
            <a:ext cx="10637215" cy="713232"/>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143000" y="5550408"/>
            <a:ext cx="9905695" cy="365760"/>
          </a:xfrm>
          <a:prstGeom prst="rect">
            <a:avLst/>
          </a:prstGeom>
          <a:noFill/>
        </p:spPr>
        <p:txBody>
          <a:bodyPr wrap="square" anchor="t" lIns="0" rIns="0" tIns="0" bIns="0">
            <a:spAutoFit/>
          </a:bodyPr>
          <a:lstStyle/>
          <a:p>
            <a:pPr algn="l">
              <a:lnSpc>
                <a:spcPct val="115000"/>
              </a:lnSpc>
            </a:pPr>
            <a:r>
              <a:rPr sz="1600" b="1">
                <a:solidFill>
                  <a:srgbClr val="0E7C86"/>
                </a:solidFill>
                <a:latin typeface="맑은 고딕"/>
                <a:ea typeface="맑은 고딕"/>
                <a:cs typeface="맑은 고딕"/>
              </a:rPr>
              <a:t>같은 AI, 같은 문제입니다. 아이가 무엇을 요청했느냐만 달랐습니다.</a:t>
            </a:r>
          </a:p>
        </p:txBody>
      </p:sp>
      <p:sp>
        <p:nvSpPr>
          <p:cNvPr id="17" name="Rectangle 16"/>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6 /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자료 읽는 법</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연구를 볼 때 꼭 물어볼 세 가지</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기사 제목만 보고 판단하지 않기 위한 최소한의 질문입니다.</a:t>
            </a:r>
          </a:p>
        </p:txBody>
      </p:sp>
      <p:sp>
        <p:nvSpPr>
          <p:cNvPr id="6" name="Rounded Rectangle 5"/>
          <p:cNvSpPr/>
          <p:nvPr/>
        </p:nvSpPr>
        <p:spPr>
          <a:xfrm>
            <a:off x="777240" y="2194560"/>
            <a:ext cx="3291840" cy="25146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69848" y="2450592"/>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523744"/>
            <a:ext cx="402336"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069848" y="303580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누구를 대상으로 했나?</a:t>
            </a:r>
          </a:p>
        </p:txBody>
      </p:sp>
      <p:sp>
        <p:nvSpPr>
          <p:cNvPr id="10" name="TextBox 9"/>
          <p:cNvSpPr txBox="1"/>
          <p:nvPr/>
        </p:nvSpPr>
        <p:spPr>
          <a:xfrm>
            <a:off x="1069848" y="3547872"/>
            <a:ext cx="2706624" cy="91440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초등학생인지 고등학생인지,</a:t>
            </a:r>
          </a:p>
          <a:p>
            <a:pPr algn="l">
              <a:lnSpc>
                <a:spcPct val="135000"/>
              </a:lnSpc>
            </a:pPr>
            <a:r>
              <a:rPr sz="1350" b="0">
                <a:solidFill>
                  <a:srgbClr val="3E4C59"/>
                </a:solidFill>
                <a:latin typeface="맑은 고딕"/>
                <a:ea typeface="맑은 고딕"/>
                <a:cs typeface="맑은 고딕"/>
              </a:rPr>
              <a:t>어느 나라 학생인지에 따라</a:t>
            </a:r>
          </a:p>
          <a:p>
            <a:pPr algn="l">
              <a:lnSpc>
                <a:spcPct val="135000"/>
              </a:lnSpc>
            </a:pPr>
            <a:r>
              <a:rPr sz="1350" b="0">
                <a:solidFill>
                  <a:srgbClr val="3E4C59"/>
                </a:solidFill>
                <a:latin typeface="맑은 고딕"/>
                <a:ea typeface="맑은 고딕"/>
                <a:cs typeface="맑은 고딕"/>
              </a:rPr>
              <a:t>결과는 달라집니다.</a:t>
            </a:r>
          </a:p>
        </p:txBody>
      </p:sp>
      <p:sp>
        <p:nvSpPr>
          <p:cNvPr id="11" name="Rounded Rectangle 10"/>
          <p:cNvSpPr/>
          <p:nvPr/>
        </p:nvSpPr>
        <p:spPr>
          <a:xfrm>
            <a:off x="4453128" y="2194560"/>
            <a:ext cx="3291840" cy="25146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4745736" y="2450592"/>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5736" y="2523744"/>
            <a:ext cx="402336"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4" name="TextBox 13"/>
          <p:cNvSpPr txBox="1"/>
          <p:nvPr/>
        </p:nvSpPr>
        <p:spPr>
          <a:xfrm>
            <a:off x="4745736" y="303580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무엇을 측정했나?</a:t>
            </a:r>
          </a:p>
        </p:txBody>
      </p:sp>
      <p:sp>
        <p:nvSpPr>
          <p:cNvPr id="15" name="TextBox 14"/>
          <p:cNvSpPr txBox="1"/>
          <p:nvPr/>
        </p:nvSpPr>
        <p:spPr>
          <a:xfrm>
            <a:off x="4745736" y="3547872"/>
            <a:ext cx="2706624" cy="91440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과제 점수인지, 시험 점수인지,</a:t>
            </a:r>
          </a:p>
          <a:p>
            <a:pPr algn="l">
              <a:lnSpc>
                <a:spcPct val="135000"/>
              </a:lnSpc>
            </a:pPr>
            <a:r>
              <a:rPr sz="1350" b="0">
                <a:solidFill>
                  <a:srgbClr val="3E4C59"/>
                </a:solidFill>
                <a:latin typeface="맑은 고딕"/>
                <a:ea typeface="맑은 고딕"/>
                <a:cs typeface="맑은 고딕"/>
              </a:rPr>
              <a:t>아니면 흥미나 만족도인지</a:t>
            </a:r>
          </a:p>
          <a:p>
            <a:pPr algn="l">
              <a:lnSpc>
                <a:spcPct val="135000"/>
              </a:lnSpc>
            </a:pPr>
            <a:r>
              <a:rPr sz="1350" b="0">
                <a:solidFill>
                  <a:srgbClr val="3E4C59"/>
                </a:solidFill>
                <a:latin typeface="맑은 고딕"/>
                <a:ea typeface="맑은 고딕"/>
                <a:cs typeface="맑은 고딕"/>
              </a:rPr>
              <a:t>구분해야 합니다.</a:t>
            </a:r>
          </a:p>
        </p:txBody>
      </p:sp>
      <p:sp>
        <p:nvSpPr>
          <p:cNvPr id="16" name="Rounded Rectangle 15"/>
          <p:cNvSpPr/>
          <p:nvPr/>
        </p:nvSpPr>
        <p:spPr>
          <a:xfrm>
            <a:off x="8129016" y="2194560"/>
            <a:ext cx="3291840" cy="25146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421624" y="2450592"/>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1624" y="2523744"/>
            <a:ext cx="402336"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19" name="TextBox 18"/>
          <p:cNvSpPr txBox="1"/>
          <p:nvPr/>
        </p:nvSpPr>
        <p:spPr>
          <a:xfrm>
            <a:off x="8421624" y="303580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AI 없이도 잘했나?</a:t>
            </a:r>
          </a:p>
        </p:txBody>
      </p:sp>
      <p:sp>
        <p:nvSpPr>
          <p:cNvPr id="20" name="TextBox 19"/>
          <p:cNvSpPr txBox="1"/>
          <p:nvPr/>
        </p:nvSpPr>
        <p:spPr>
          <a:xfrm>
            <a:off x="8421624" y="3547872"/>
            <a:ext cx="2706624" cy="91440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AI를 쓰는 동안의 점수와</a:t>
            </a:r>
          </a:p>
          <a:p>
            <a:pPr algn="l">
              <a:lnSpc>
                <a:spcPct val="135000"/>
              </a:lnSpc>
            </a:pPr>
            <a:r>
              <a:rPr sz="1350" b="0">
                <a:solidFill>
                  <a:srgbClr val="3E4C59"/>
                </a:solidFill>
                <a:latin typeface="맑은 고딕"/>
                <a:ea typeface="맑은 고딕"/>
                <a:cs typeface="맑은 고딕"/>
              </a:rPr>
              <a:t>AI를 치운 뒤의 실력은</a:t>
            </a:r>
          </a:p>
          <a:p>
            <a:pPr algn="l">
              <a:lnSpc>
                <a:spcPct val="135000"/>
              </a:lnSpc>
            </a:pPr>
            <a:r>
              <a:rPr sz="1350" b="0">
                <a:solidFill>
                  <a:srgbClr val="3E4C59"/>
                </a:solidFill>
                <a:latin typeface="맑은 고딕"/>
                <a:ea typeface="맑은 고딕"/>
                <a:cs typeface="맑은 고딕"/>
              </a:rPr>
              <a:t>같지 않습니다.</a:t>
            </a:r>
          </a:p>
        </p:txBody>
      </p:sp>
      <p:sp>
        <p:nvSpPr>
          <p:cNvPr id="21" name="Rounded Rectangle 20"/>
          <p:cNvSpPr/>
          <p:nvPr/>
        </p:nvSpPr>
        <p:spPr>
          <a:xfrm>
            <a:off x="777240" y="5029200"/>
            <a:ext cx="10637215" cy="749808"/>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143000" y="5239512"/>
            <a:ext cx="9905695" cy="365760"/>
          </a:xfrm>
          <a:prstGeom prst="rect">
            <a:avLst/>
          </a:prstGeom>
          <a:noFill/>
        </p:spPr>
        <p:txBody>
          <a:bodyPr wrap="square" anchor="t" lIns="0" rIns="0" tIns="0" bIns="0">
            <a:spAutoFit/>
          </a:bodyPr>
          <a:lstStyle/>
          <a:p>
            <a:pPr algn="l">
              <a:lnSpc>
                <a:spcPct val="115000"/>
              </a:lnSpc>
            </a:pPr>
            <a:r>
              <a:rPr sz="1550" b="1">
                <a:solidFill>
                  <a:srgbClr val="1D4ED8"/>
                </a:solidFill>
                <a:latin typeface="맑은 고딕"/>
                <a:ea typeface="맑은 고딕"/>
                <a:cs typeface="맑은 고딕"/>
              </a:rPr>
              <a:t>다음 장에서 볼 연구도 이 순서대로 한번 따져 보겠습니다.</a:t>
            </a:r>
          </a:p>
        </p:txBody>
      </p:sp>
      <p:sp>
        <p:nvSpPr>
          <p:cNvPr id="23" name="Rectangle 22"/>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7 / 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연구 사례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AI를 쓰는 동안과, 끈 다음은 다릅니다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튀르키예의 한 고등학교에서 약 1,000명을 대상으로 한 수학 실험입니다.</a:t>
            </a:r>
          </a:p>
        </p:txBody>
      </p:sp>
      <p:sp>
        <p:nvSpPr>
          <p:cNvPr id="6" name="Rounded Rectangle 5"/>
          <p:cNvSpPr/>
          <p:nvPr/>
        </p:nvSpPr>
        <p:spPr>
          <a:xfrm>
            <a:off x="777240" y="2148840"/>
            <a:ext cx="5135727" cy="278892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395728"/>
            <a:ext cx="4495647" cy="320040"/>
          </a:xfrm>
          <a:prstGeom prst="rect">
            <a:avLst/>
          </a:prstGeom>
          <a:noFill/>
        </p:spPr>
        <p:txBody>
          <a:bodyPr wrap="square" anchor="t" lIns="0" rIns="0" tIns="0" bIns="0">
            <a:spAutoFit/>
          </a:bodyPr>
          <a:lstStyle/>
          <a:p>
            <a:pPr algn="l">
              <a:lnSpc>
                <a:spcPct val="115000"/>
              </a:lnSpc>
            </a:pPr>
            <a:r>
              <a:rPr sz="1500" b="1">
                <a:solidFill>
                  <a:srgbClr val="1D4ED8"/>
                </a:solidFill>
                <a:latin typeface="맑은 고딕"/>
                <a:ea typeface="맑은 고딕"/>
                <a:cs typeface="맑은 고딕"/>
              </a:rPr>
              <a:t>연습 문제를 푸는 동안 (AI 있음)</a:t>
            </a:r>
          </a:p>
        </p:txBody>
      </p:sp>
      <p:sp>
        <p:nvSpPr>
          <p:cNvPr id="8" name="TextBox 7"/>
          <p:cNvSpPr txBox="1"/>
          <p:nvPr/>
        </p:nvSpPr>
        <p:spPr>
          <a:xfrm>
            <a:off x="1097280" y="3026664"/>
            <a:ext cx="2941167" cy="36576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일반 챗봇을 쓴 학생</a:t>
            </a:r>
          </a:p>
        </p:txBody>
      </p:sp>
      <p:sp>
        <p:nvSpPr>
          <p:cNvPr id="9" name="TextBox 8"/>
          <p:cNvSpPr txBox="1"/>
          <p:nvPr/>
        </p:nvSpPr>
        <p:spPr>
          <a:xfrm>
            <a:off x="3764127" y="2880360"/>
            <a:ext cx="1828800" cy="502920"/>
          </a:xfrm>
          <a:prstGeom prst="rect">
            <a:avLst/>
          </a:prstGeom>
          <a:noFill/>
        </p:spPr>
        <p:txBody>
          <a:bodyPr wrap="square" anchor="t" lIns="0" rIns="0" tIns="0" bIns="0">
            <a:spAutoFit/>
          </a:bodyPr>
          <a:lstStyle/>
          <a:p>
            <a:pPr algn="r">
              <a:lnSpc>
                <a:spcPct val="115000"/>
              </a:lnSpc>
            </a:pPr>
            <a:r>
              <a:rPr sz="3000" b="1">
                <a:solidFill>
                  <a:srgbClr val="1D4ED8"/>
                </a:solidFill>
                <a:latin typeface="맑은 고딕"/>
                <a:ea typeface="맑은 고딕"/>
                <a:cs typeface="맑은 고딕"/>
              </a:rPr>
              <a:t>+48%</a:t>
            </a:r>
          </a:p>
        </p:txBody>
      </p:sp>
      <p:sp>
        <p:nvSpPr>
          <p:cNvPr id="10" name="TextBox 9"/>
          <p:cNvSpPr txBox="1"/>
          <p:nvPr/>
        </p:nvSpPr>
        <p:spPr>
          <a:xfrm>
            <a:off x="1097280" y="3895344"/>
            <a:ext cx="2941167" cy="36576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학습용 튜터를 쓴 학생</a:t>
            </a:r>
          </a:p>
        </p:txBody>
      </p:sp>
      <p:sp>
        <p:nvSpPr>
          <p:cNvPr id="11" name="TextBox 10"/>
          <p:cNvSpPr txBox="1"/>
          <p:nvPr/>
        </p:nvSpPr>
        <p:spPr>
          <a:xfrm>
            <a:off x="3764127" y="3749040"/>
            <a:ext cx="1828800" cy="502920"/>
          </a:xfrm>
          <a:prstGeom prst="rect">
            <a:avLst/>
          </a:prstGeom>
          <a:noFill/>
        </p:spPr>
        <p:txBody>
          <a:bodyPr wrap="square" anchor="t" lIns="0" rIns="0" tIns="0" bIns="0">
            <a:spAutoFit/>
          </a:bodyPr>
          <a:lstStyle/>
          <a:p>
            <a:pPr algn="r">
              <a:lnSpc>
                <a:spcPct val="115000"/>
              </a:lnSpc>
            </a:pPr>
            <a:r>
              <a:rPr sz="3000" b="1">
                <a:solidFill>
                  <a:srgbClr val="1D4ED8"/>
                </a:solidFill>
                <a:latin typeface="맑은 고딕"/>
                <a:ea typeface="맑은 고딕"/>
                <a:cs typeface="맑은 고딕"/>
              </a:rPr>
              <a:t>+127%</a:t>
            </a:r>
          </a:p>
        </p:txBody>
      </p:sp>
      <p:sp>
        <p:nvSpPr>
          <p:cNvPr id="12" name="TextBox 11"/>
          <p:cNvSpPr txBox="1"/>
          <p:nvPr/>
        </p:nvSpPr>
        <p:spPr>
          <a:xfrm>
            <a:off x="1097280" y="4526280"/>
            <a:ext cx="4495647" cy="27432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AI를 쓰지 않은 학생 대비 정답률</a:t>
            </a:r>
          </a:p>
        </p:txBody>
      </p:sp>
      <p:sp>
        <p:nvSpPr>
          <p:cNvPr id="13" name="Rounded Rectangle 12"/>
          <p:cNvSpPr/>
          <p:nvPr/>
        </p:nvSpPr>
        <p:spPr>
          <a:xfrm>
            <a:off x="6278727" y="2148840"/>
            <a:ext cx="5135727" cy="27889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98767" y="2395728"/>
            <a:ext cx="4495647" cy="32004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AI 없이 본 시험 (AI 치운 뒤)</a:t>
            </a:r>
          </a:p>
        </p:txBody>
      </p:sp>
      <p:sp>
        <p:nvSpPr>
          <p:cNvPr id="15" name="TextBox 14"/>
          <p:cNvSpPr txBox="1"/>
          <p:nvPr/>
        </p:nvSpPr>
        <p:spPr>
          <a:xfrm>
            <a:off x="6598767" y="3026664"/>
            <a:ext cx="2941167" cy="36576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일반 챗봇을 쓴 학생</a:t>
            </a:r>
          </a:p>
        </p:txBody>
      </p:sp>
      <p:sp>
        <p:nvSpPr>
          <p:cNvPr id="16" name="TextBox 15"/>
          <p:cNvSpPr txBox="1"/>
          <p:nvPr/>
        </p:nvSpPr>
        <p:spPr>
          <a:xfrm>
            <a:off x="9265615" y="2880360"/>
            <a:ext cx="1828800" cy="502920"/>
          </a:xfrm>
          <a:prstGeom prst="rect">
            <a:avLst/>
          </a:prstGeom>
          <a:noFill/>
        </p:spPr>
        <p:txBody>
          <a:bodyPr wrap="square" anchor="t" lIns="0" rIns="0" tIns="0" bIns="0">
            <a:spAutoFit/>
          </a:bodyPr>
          <a:lstStyle/>
          <a:p>
            <a:pPr algn="r">
              <a:lnSpc>
                <a:spcPct val="115000"/>
              </a:lnSpc>
            </a:pPr>
            <a:r>
              <a:rPr sz="3000" b="1">
                <a:solidFill>
                  <a:srgbClr val="B91C1C"/>
                </a:solidFill>
                <a:latin typeface="맑은 고딕"/>
                <a:ea typeface="맑은 고딕"/>
                <a:cs typeface="맑은 고딕"/>
              </a:rPr>
              <a:t>−17%</a:t>
            </a:r>
          </a:p>
        </p:txBody>
      </p:sp>
      <p:sp>
        <p:nvSpPr>
          <p:cNvPr id="17" name="TextBox 16"/>
          <p:cNvSpPr txBox="1"/>
          <p:nvPr/>
        </p:nvSpPr>
        <p:spPr>
          <a:xfrm>
            <a:off x="6598767" y="3895344"/>
            <a:ext cx="2941167" cy="36576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학습용 튜터를 쓴 학생</a:t>
            </a:r>
          </a:p>
        </p:txBody>
      </p:sp>
      <p:sp>
        <p:nvSpPr>
          <p:cNvPr id="18" name="TextBox 17"/>
          <p:cNvSpPr txBox="1"/>
          <p:nvPr/>
        </p:nvSpPr>
        <p:spPr>
          <a:xfrm>
            <a:off x="9037015" y="3767328"/>
            <a:ext cx="2057400" cy="457200"/>
          </a:xfrm>
          <a:prstGeom prst="rect">
            <a:avLst/>
          </a:prstGeom>
          <a:noFill/>
        </p:spPr>
        <p:txBody>
          <a:bodyPr wrap="square" anchor="t" lIns="0" rIns="0" tIns="0" bIns="0">
            <a:spAutoFit/>
          </a:bodyPr>
          <a:lstStyle/>
          <a:p>
            <a:pPr algn="r">
              <a:lnSpc>
                <a:spcPct val="115000"/>
              </a:lnSpc>
            </a:pPr>
            <a:r>
              <a:rPr sz="1700" b="1">
                <a:solidFill>
                  <a:srgbClr val="0E7C86"/>
                </a:solidFill>
                <a:latin typeface="맑은 고딕"/>
                <a:ea typeface="맑은 고딕"/>
                <a:cs typeface="맑은 고딕"/>
              </a:rPr>
              <a:t>차이 거의 없음</a:t>
            </a:r>
          </a:p>
        </p:txBody>
      </p:sp>
      <p:sp>
        <p:nvSpPr>
          <p:cNvPr id="19" name="TextBox 18"/>
          <p:cNvSpPr txBox="1"/>
          <p:nvPr/>
        </p:nvSpPr>
        <p:spPr>
          <a:xfrm>
            <a:off x="6598767" y="4526280"/>
            <a:ext cx="4495647" cy="27432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AI를 아예 쓰지 않은 학생과 비교한 결과</a:t>
            </a:r>
          </a:p>
        </p:txBody>
      </p:sp>
      <p:sp>
        <p:nvSpPr>
          <p:cNvPr id="20" name="Rounded Rectangle 19"/>
          <p:cNvSpPr/>
          <p:nvPr/>
        </p:nvSpPr>
        <p:spPr>
          <a:xfrm>
            <a:off x="777240" y="5074920"/>
            <a:ext cx="10637215" cy="1051560"/>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143000" y="5248656"/>
            <a:ext cx="9905695" cy="731520"/>
          </a:xfrm>
          <a:prstGeom prst="rect">
            <a:avLst/>
          </a:prstGeom>
          <a:noFill/>
        </p:spPr>
        <p:txBody>
          <a:bodyPr wrap="square" anchor="t" lIns="0" rIns="0" tIns="0" bIns="0">
            <a:spAutoFit/>
          </a:bodyPr>
          <a:lstStyle/>
          <a:p>
            <a:pPr algn="l">
              <a:lnSpc>
                <a:spcPct val="135000"/>
              </a:lnSpc>
              <a:spcAft>
                <a:spcPts val="400"/>
              </a:spcAft>
            </a:pPr>
            <a:r>
              <a:rPr sz="1450" b="0">
                <a:solidFill>
                  <a:srgbClr val="3E4C59"/>
                </a:solidFill>
                <a:latin typeface="맑은 고딕"/>
                <a:ea typeface="맑은 고딕"/>
                <a:cs typeface="맑은 고딕"/>
              </a:rPr>
              <a:t>차이를 만든 것은 설정이었습니다. </a:t>
            </a:r>
            <a:r>
              <a:rPr sz="1450" b="1">
                <a:solidFill>
                  <a:srgbClr val="0E7C86"/>
                </a:solidFill>
                <a:latin typeface="맑은 고딕"/>
                <a:ea typeface="맑은 고딕"/>
                <a:cs typeface="맑은 고딕"/>
              </a:rPr>
              <a:t>정답을 바로 주지 않고 교사가 설계한 힌트를 주도록 했더니 부정적 효과가 대부분 사라졌습니다.</a:t>
            </a:r>
          </a:p>
          <a:p>
            <a:pPr algn="l">
              <a:lnSpc>
                <a:spcPct val="135000"/>
              </a:lnSpc>
              <a:spcAft>
                <a:spcPts val="400"/>
              </a:spcAft>
            </a:pPr>
            <a:r>
              <a:rPr sz="1450" b="0">
                <a:solidFill>
                  <a:srgbClr val="3E4C59"/>
                </a:solidFill>
                <a:latin typeface="맑은 고딕"/>
                <a:ea typeface="맑은 고딕"/>
                <a:cs typeface="맑은 고딕"/>
              </a:rPr>
              <a:t>고등학생 대상 수학 실험이므로 초등학생에게 그대로 적용할 수는 없습니다.</a:t>
            </a:r>
          </a:p>
        </p:txBody>
      </p:sp>
      <p:sp>
        <p:nvSpPr>
          <p:cNvPr id="22" name="Rectangle 2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Bastani, H. et al. (2025). Generative AI without guardrails can harm learning: Evidence from high school mathematics. PNAS 122(26).</a:t>
            </a:r>
          </a:p>
        </p:txBody>
      </p:sp>
      <p:sp>
        <p:nvSpPr>
          <p:cNvPr id="24" name="TextBox 2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8 / 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연구 사례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지금 편한 만큼, 나중에 갚습니다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연구자들은 이것을 ‘인지 부채(cognitive debt)’라고 부릅니다.</a:t>
            </a:r>
          </a:p>
        </p:txBody>
      </p:sp>
      <p:sp>
        <p:nvSpPr>
          <p:cNvPr id="6" name="Rounded Rectangle 5"/>
          <p:cNvSpPr/>
          <p:nvPr/>
        </p:nvSpPr>
        <p:spPr>
          <a:xfrm>
            <a:off x="777240" y="2176272"/>
            <a:ext cx="5135727" cy="2304288"/>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395728"/>
            <a:ext cx="4495647" cy="320040"/>
          </a:xfrm>
          <a:prstGeom prst="rect">
            <a:avLst/>
          </a:prstGeom>
          <a:noFill/>
        </p:spPr>
        <p:txBody>
          <a:bodyPr wrap="square" anchor="t" lIns="0" rIns="0" tIns="0" bIns="0">
            <a:spAutoFit/>
          </a:bodyPr>
          <a:lstStyle/>
          <a:p>
            <a:pPr algn="l">
              <a:lnSpc>
                <a:spcPct val="115000"/>
              </a:lnSpc>
            </a:pPr>
            <a:r>
              <a:rPr sz="1700" b="1">
                <a:solidFill>
                  <a:srgbClr val="1D4ED8"/>
                </a:solidFill>
                <a:latin typeface="맑은 고딕"/>
                <a:ea typeface="맑은 고딕"/>
                <a:cs typeface="맑은 고딕"/>
              </a:rPr>
              <a:t>뇌파를 재 봤더니</a:t>
            </a:r>
          </a:p>
        </p:txBody>
      </p:sp>
      <p:sp>
        <p:nvSpPr>
          <p:cNvPr id="8" name="TextBox 7"/>
          <p:cNvSpPr txBox="1"/>
          <p:nvPr/>
        </p:nvSpPr>
        <p:spPr>
          <a:xfrm>
            <a:off x="1097280" y="2788920"/>
            <a:ext cx="4495647" cy="274320"/>
          </a:xfrm>
          <a:prstGeom prst="rect">
            <a:avLst/>
          </a:prstGeom>
          <a:noFill/>
        </p:spPr>
        <p:txBody>
          <a:bodyPr wrap="square" anchor="t" lIns="0" rIns="0" tIns="0" bIns="0">
            <a:spAutoFit/>
          </a:bodyPr>
          <a:lstStyle/>
          <a:p>
            <a:pPr algn="l">
              <a:lnSpc>
                <a:spcPct val="115000"/>
              </a:lnSpc>
            </a:pPr>
            <a:r>
              <a:rPr sz="1250" b="0">
                <a:solidFill>
                  <a:srgbClr val="7B8894"/>
                </a:solidFill>
                <a:latin typeface="맑은 고딕"/>
                <a:ea typeface="맑은 고딕"/>
                <a:cs typeface="맑은 고딕"/>
              </a:rPr>
              <a:t>성인 54명에게 같은 글을 쓰게 한 실험</a:t>
            </a:r>
          </a:p>
        </p:txBody>
      </p:sp>
      <p:sp>
        <p:nvSpPr>
          <p:cNvPr id="9" name="TextBox 8"/>
          <p:cNvSpPr txBox="1"/>
          <p:nvPr/>
        </p:nvSpPr>
        <p:spPr>
          <a:xfrm>
            <a:off x="1097280" y="3127248"/>
            <a:ext cx="210312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도구 없이 쓴 사람</a:t>
            </a:r>
          </a:p>
        </p:txBody>
      </p:sp>
      <p:sp>
        <p:nvSpPr>
          <p:cNvPr id="10" name="Rectangle 9"/>
          <p:cNvSpPr/>
          <p:nvPr/>
        </p:nvSpPr>
        <p:spPr>
          <a:xfrm>
            <a:off x="3291840" y="3218688"/>
            <a:ext cx="2286000" cy="128016"/>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3218688"/>
            <a:ext cx="2286000" cy="128016"/>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474720"/>
            <a:ext cx="210312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검색으로 쓴 사람</a:t>
            </a:r>
          </a:p>
        </p:txBody>
      </p:sp>
      <p:sp>
        <p:nvSpPr>
          <p:cNvPr id="13" name="Rectangle 12"/>
          <p:cNvSpPr/>
          <p:nvPr/>
        </p:nvSpPr>
        <p:spPr>
          <a:xfrm>
            <a:off x="3291840" y="3566160"/>
            <a:ext cx="2286000" cy="128016"/>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3566160"/>
            <a:ext cx="1417320" cy="12801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822191"/>
            <a:ext cx="210312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AI로 쓴 사람</a:t>
            </a:r>
          </a:p>
        </p:txBody>
      </p:sp>
      <p:sp>
        <p:nvSpPr>
          <p:cNvPr id="16" name="Rectangle 15"/>
          <p:cNvSpPr/>
          <p:nvPr/>
        </p:nvSpPr>
        <p:spPr>
          <a:xfrm>
            <a:off x="3291840" y="3913631"/>
            <a:ext cx="2286000" cy="128016"/>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3913631"/>
            <a:ext cx="685800" cy="128016"/>
          </a:xfrm>
          <a:prstGeom prst="rect">
            <a:avLst/>
          </a:prstGeom>
          <a:solidFill>
            <a:srgbClr val="7B8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169664"/>
            <a:ext cx="4495647" cy="274320"/>
          </a:xfrm>
          <a:prstGeom prst="rect">
            <a:avLst/>
          </a:prstGeom>
          <a:noFill/>
        </p:spPr>
        <p:txBody>
          <a:bodyPr wrap="square" anchor="t" lIns="0" rIns="0" tIns="0" bIns="0">
            <a:spAutoFit/>
          </a:bodyPr>
          <a:lstStyle/>
          <a:p>
            <a:pPr algn="l">
              <a:lnSpc>
                <a:spcPct val="115000"/>
              </a:lnSpc>
            </a:pPr>
            <a:r>
              <a:rPr sz="1100" b="0">
                <a:solidFill>
                  <a:srgbClr val="7B8894"/>
                </a:solidFill>
                <a:latin typeface="맑은 고딕"/>
                <a:ea typeface="맑은 고딕"/>
                <a:cs typeface="맑은 고딕"/>
              </a:rPr>
              <a:t>글을 쓰는 동안 뇌 영역이 이어진 정도</a:t>
            </a:r>
          </a:p>
        </p:txBody>
      </p:sp>
      <p:sp>
        <p:nvSpPr>
          <p:cNvPr id="19" name="Rounded Rectangle 18"/>
          <p:cNvSpPr/>
          <p:nvPr/>
        </p:nvSpPr>
        <p:spPr>
          <a:xfrm>
            <a:off x="6278727" y="2176272"/>
            <a:ext cx="5135727" cy="230428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8767" y="2395728"/>
            <a:ext cx="4495647" cy="32004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‘인지적 외주화’</a:t>
            </a:r>
          </a:p>
        </p:txBody>
      </p:sp>
      <p:sp>
        <p:nvSpPr>
          <p:cNvPr id="21" name="TextBox 20"/>
          <p:cNvSpPr txBox="1"/>
          <p:nvPr/>
        </p:nvSpPr>
        <p:spPr>
          <a:xfrm>
            <a:off x="6598767" y="2788920"/>
            <a:ext cx="4495647" cy="274320"/>
          </a:xfrm>
          <a:prstGeom prst="rect">
            <a:avLst/>
          </a:prstGeom>
          <a:noFill/>
        </p:spPr>
        <p:txBody>
          <a:bodyPr wrap="square" anchor="t" lIns="0" rIns="0" tIns="0" bIns="0">
            <a:spAutoFit/>
          </a:bodyPr>
          <a:lstStyle/>
          <a:p>
            <a:pPr algn="l">
              <a:lnSpc>
                <a:spcPct val="115000"/>
              </a:lnSpc>
            </a:pPr>
            <a:r>
              <a:rPr sz="1250" b="0">
                <a:solidFill>
                  <a:srgbClr val="7B8894"/>
                </a:solidFill>
                <a:latin typeface="맑은 고딕"/>
                <a:ea typeface="맑은 고딕"/>
                <a:cs typeface="맑은 고딕"/>
              </a:rPr>
              <a:t>성인 666명을 조사한 연구</a:t>
            </a:r>
          </a:p>
        </p:txBody>
      </p:sp>
      <p:sp>
        <p:nvSpPr>
          <p:cNvPr id="22" name="TextBox 21"/>
          <p:cNvSpPr txBox="1"/>
          <p:nvPr/>
        </p:nvSpPr>
        <p:spPr>
          <a:xfrm>
            <a:off x="6598767" y="3182112"/>
            <a:ext cx="4495647" cy="1188720"/>
          </a:xfrm>
          <a:prstGeom prst="rect">
            <a:avLst/>
          </a:prstGeom>
          <a:noFill/>
        </p:spPr>
        <p:txBody>
          <a:bodyPr wrap="square" anchor="t" lIns="0" rIns="0" tIns="0" bIns="0">
            <a:spAutoFit/>
          </a:bodyPr>
          <a:lstStyle/>
          <a:p>
            <a:pPr algn="l">
              <a:lnSpc>
                <a:spcPct val="135000"/>
              </a:lnSpc>
            </a:pPr>
            <a:r>
              <a:rPr sz="1250" b="0">
                <a:solidFill>
                  <a:srgbClr val="3E4C59"/>
                </a:solidFill>
                <a:latin typeface="맑은 고딕"/>
                <a:ea typeface="맑은 고딕"/>
                <a:cs typeface="맑은 고딕"/>
              </a:rPr>
              <a:t>AI를 자주 쓸수록 비판적 사고 점수가</a:t>
            </a:r>
          </a:p>
          <a:p>
            <a:pPr algn="l">
              <a:lnSpc>
                <a:spcPct val="135000"/>
              </a:lnSpc>
            </a:pPr>
            <a:r>
              <a:rPr sz="1250" b="0">
                <a:solidFill>
                  <a:srgbClr val="3E4C59"/>
                </a:solidFill>
                <a:latin typeface="맑은 고딕"/>
                <a:ea typeface="맑은 고딕"/>
                <a:cs typeface="맑은 고딕"/>
              </a:rPr>
              <a:t>낮은 경향이 나타났습니다.</a:t>
            </a:r>
          </a:p>
          <a:p>
            <a:pPr algn="l">
              <a:lnSpc>
                <a:spcPct val="135000"/>
              </a:lnSpc>
            </a:pPr>
            <a:r>
              <a:rPr sz="1250" b="0">
                <a:solidFill>
                  <a:srgbClr val="3E4C59"/>
                </a:solidFill>
                <a:latin typeface="맑은 고딕"/>
                <a:ea typeface="맑은 고딕"/>
                <a:cs typeface="맑은 고딕"/>
              </a:rPr>
              <a:t>생각을 밖에 맡기는 정도가 그 사이를</a:t>
            </a:r>
          </a:p>
          <a:p>
            <a:pPr algn="l">
              <a:lnSpc>
                <a:spcPct val="135000"/>
              </a:lnSpc>
            </a:pPr>
            <a:r>
              <a:rPr sz="1250" b="0">
                <a:solidFill>
                  <a:srgbClr val="3E4C59"/>
                </a:solidFill>
                <a:latin typeface="맑은 고딕"/>
                <a:ea typeface="맑은 고딕"/>
                <a:cs typeface="맑은 고딕"/>
              </a:rPr>
              <a:t>이어 주는 고리였고, 젊은 층일수록</a:t>
            </a:r>
          </a:p>
          <a:p>
            <a:pPr algn="l">
              <a:lnSpc>
                <a:spcPct val="135000"/>
              </a:lnSpc>
            </a:pPr>
            <a:r>
              <a:rPr sz="1250" b="0">
                <a:solidFill>
                  <a:srgbClr val="3E4C59"/>
                </a:solidFill>
                <a:latin typeface="맑은 고딕"/>
                <a:ea typeface="맑은 고딕"/>
                <a:cs typeface="맑은 고딕"/>
              </a:rPr>
              <a:t>의존이 크고 점수가 낮았습니다.</a:t>
            </a:r>
          </a:p>
        </p:txBody>
      </p:sp>
      <p:sp>
        <p:nvSpPr>
          <p:cNvPr id="23" name="Rounded Rectangle 22"/>
          <p:cNvSpPr/>
          <p:nvPr/>
        </p:nvSpPr>
        <p:spPr>
          <a:xfrm>
            <a:off x="777240" y="4617720"/>
            <a:ext cx="10637215" cy="56692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4764024"/>
            <a:ext cx="9905695" cy="320040"/>
          </a:xfrm>
          <a:prstGeom prst="rect">
            <a:avLst/>
          </a:prstGeom>
          <a:noFill/>
        </p:spPr>
        <p:txBody>
          <a:bodyPr wrap="square" anchor="t" lIns="0" rIns="0" tIns="0" bIns="0">
            <a:spAutoFit/>
          </a:bodyPr>
          <a:lstStyle/>
          <a:p>
            <a:pPr algn="l">
              <a:lnSpc>
                <a:spcPct val="115000"/>
              </a:lnSpc>
            </a:pPr>
            <a:r>
              <a:rPr sz="1250" b="0">
                <a:solidFill>
                  <a:srgbClr val="7B8894"/>
                </a:solidFill>
                <a:latin typeface="맑은 고딕"/>
                <a:ea typeface="맑은 고딕"/>
                <a:cs typeface="맑은 고딕"/>
              </a:rPr>
              <a:t>둘 다 성인 대상이고, 상관을 본 연구입니다. 초등학생에게 그대로 옮길 수는 없습니다.</a:t>
            </a:r>
          </a:p>
        </p:txBody>
      </p:sp>
      <p:sp>
        <p:nvSpPr>
          <p:cNvPr id="25" name="Rounded Rectangle 24"/>
          <p:cNvSpPr/>
          <p:nvPr/>
        </p:nvSpPr>
        <p:spPr>
          <a:xfrm>
            <a:off x="777240" y="5321808"/>
            <a:ext cx="10637215" cy="777240"/>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7240" y="5522976"/>
            <a:ext cx="10637215" cy="457200"/>
          </a:xfrm>
          <a:prstGeom prst="rect">
            <a:avLst/>
          </a:prstGeom>
          <a:noFill/>
        </p:spPr>
        <p:txBody>
          <a:bodyPr wrap="square" anchor="t" lIns="0" rIns="0" tIns="0" bIns="0">
            <a:spAutoFit/>
          </a:bodyPr>
          <a:lstStyle/>
          <a:p>
            <a:pPr algn="ctr">
              <a:lnSpc>
                <a:spcPct val="115000"/>
              </a:lnSpc>
            </a:pPr>
            <a:r>
              <a:rPr sz="1650" b="1">
                <a:solidFill>
                  <a:srgbClr val="FFFFFF"/>
                </a:solidFill>
                <a:latin typeface="맑은 고딕"/>
                <a:ea typeface="맑은 고딕"/>
                <a:cs typeface="맑은 고딕"/>
              </a:rPr>
              <a:t>빌린 생각은 갚아야 내 것이 됩니다. 쓰고 나서 내 말로 설명하기 — 그게 갚는 방법입니다.</a:t>
            </a:r>
          </a:p>
        </p:txBody>
      </p:sp>
      <p:sp>
        <p:nvSpPr>
          <p:cNvPr id="27" name="Rectangle 26"/>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Kosmyna, N. et al. (2025). Your Brain on ChatGPT (MIT Media Lab) · Gerlich, M. (2025). Societies, 15(1), 6.</a:t>
            </a:r>
          </a:p>
        </p:txBody>
      </p:sp>
      <p:sp>
        <p:nvSpPr>
          <p:cNvPr id="29" name="TextBox 28"/>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9 / 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시작 나이</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그렇다면 몇 살부터 시작할까요?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모든 AI에 통하는 하나의 나이는 없습니다. 세 관문을 차례로 확인합니다.</a:t>
            </a:r>
          </a:p>
        </p:txBody>
      </p:sp>
      <p:sp>
        <p:nvSpPr>
          <p:cNvPr id="6" name="Rounded Rectangle 5"/>
          <p:cNvSpPr/>
          <p:nvPr/>
        </p:nvSpPr>
        <p:spPr>
          <a:xfrm>
            <a:off x="777240" y="2194560"/>
            <a:ext cx="3246120" cy="228600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423160"/>
            <a:ext cx="2660903" cy="256032"/>
          </a:xfrm>
          <a:prstGeom prst="rect">
            <a:avLst/>
          </a:prstGeom>
          <a:noFill/>
        </p:spPr>
        <p:txBody>
          <a:bodyPr wrap="square" anchor="t" lIns="0" rIns="0" tIns="0" bIns="0">
            <a:spAutoFit/>
          </a:bodyPr>
          <a:lstStyle/>
          <a:p>
            <a:pPr algn="l">
              <a:lnSpc>
                <a:spcPct val="115000"/>
              </a:lnSpc>
            </a:pPr>
            <a:r>
              <a:rPr sz="1150" b="1">
                <a:solidFill>
                  <a:srgbClr val="1D4ED8"/>
                </a:solidFill>
                <a:latin typeface="맑은 고딕"/>
                <a:ea typeface="맑은 고딕"/>
                <a:cs typeface="맑은 고딕"/>
              </a:rPr>
              <a:t>가장 먼저 확인</a:t>
            </a:r>
          </a:p>
        </p:txBody>
      </p:sp>
      <p:sp>
        <p:nvSpPr>
          <p:cNvPr id="8" name="TextBox 7"/>
          <p:cNvSpPr txBox="1"/>
          <p:nvPr/>
        </p:nvSpPr>
        <p:spPr>
          <a:xfrm>
            <a:off x="1069848" y="2788920"/>
            <a:ext cx="2660903"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서비스 이용 조건</a:t>
            </a:r>
          </a:p>
        </p:txBody>
      </p:sp>
      <p:sp>
        <p:nvSpPr>
          <p:cNvPr id="9" name="TextBox 8"/>
          <p:cNvSpPr txBox="1"/>
          <p:nvPr/>
        </p:nvSpPr>
        <p:spPr>
          <a:xfrm>
            <a:off x="1069848" y="3291840"/>
            <a:ext cx="2660903" cy="73152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쓰려는 서비스의 약관이</a:t>
            </a:r>
          </a:p>
          <a:p>
            <a:pPr algn="l">
              <a:lnSpc>
                <a:spcPct val="135000"/>
              </a:lnSpc>
            </a:pPr>
            <a:r>
              <a:rPr sz="1350" b="0">
                <a:solidFill>
                  <a:srgbClr val="3E4C59"/>
                </a:solidFill>
                <a:latin typeface="맑은 고딕"/>
                <a:ea typeface="맑은 고딕"/>
                <a:cs typeface="맑은 고딕"/>
              </a:rPr>
              <a:t>정한 나이와 동의 요건</a:t>
            </a:r>
          </a:p>
        </p:txBody>
      </p:sp>
      <p:sp>
        <p:nvSpPr>
          <p:cNvPr id="10" name="TextBox 9"/>
          <p:cNvSpPr txBox="1"/>
          <p:nvPr/>
        </p:nvSpPr>
        <p:spPr>
          <a:xfrm>
            <a:off x="4069079" y="3108960"/>
            <a:ext cx="365760" cy="365760"/>
          </a:xfrm>
          <a:prstGeom prst="rect">
            <a:avLst/>
          </a:prstGeom>
          <a:noFill/>
        </p:spPr>
        <p:txBody>
          <a:bodyPr wrap="square" anchor="t" lIns="0" rIns="0" tIns="0" bIns="0">
            <a:spAutoFit/>
          </a:bodyPr>
          <a:lstStyle/>
          <a:p>
            <a:pPr algn="ctr">
              <a:lnSpc>
                <a:spcPct val="115000"/>
              </a:lnSpc>
            </a:pPr>
            <a:r>
              <a:rPr sz="2600" b="1">
                <a:solidFill>
                  <a:srgbClr val="D9E0E8"/>
                </a:solidFill>
                <a:latin typeface="맑은 고딕"/>
                <a:ea typeface="맑은 고딕"/>
                <a:cs typeface="맑은 고딕"/>
              </a:rPr>
              <a:t>›</a:t>
            </a:r>
          </a:p>
        </p:txBody>
      </p:sp>
      <p:sp>
        <p:nvSpPr>
          <p:cNvPr id="11" name="Rounded Rectangle 10"/>
          <p:cNvSpPr/>
          <p:nvPr/>
        </p:nvSpPr>
        <p:spPr>
          <a:xfrm>
            <a:off x="4462271" y="2194560"/>
            <a:ext cx="3246120" cy="22860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754879" y="2423160"/>
            <a:ext cx="2660903" cy="256032"/>
          </a:xfrm>
          <a:prstGeom prst="rect">
            <a:avLst/>
          </a:prstGeom>
          <a:noFill/>
        </p:spPr>
        <p:txBody>
          <a:bodyPr wrap="square" anchor="t" lIns="0" rIns="0" tIns="0" bIns="0">
            <a:spAutoFit/>
          </a:bodyPr>
          <a:lstStyle/>
          <a:p>
            <a:pPr algn="l">
              <a:lnSpc>
                <a:spcPct val="115000"/>
              </a:lnSpc>
            </a:pPr>
            <a:r>
              <a:rPr sz="1150" b="1">
                <a:solidFill>
                  <a:srgbClr val="7B8894"/>
                </a:solidFill>
                <a:latin typeface="맑은 고딕"/>
                <a:ea typeface="맑은 고딕"/>
                <a:cs typeface="맑은 고딕"/>
              </a:rPr>
              <a:t>두 번째</a:t>
            </a:r>
          </a:p>
        </p:txBody>
      </p:sp>
      <p:sp>
        <p:nvSpPr>
          <p:cNvPr id="13" name="TextBox 12"/>
          <p:cNvSpPr txBox="1"/>
          <p:nvPr/>
        </p:nvSpPr>
        <p:spPr>
          <a:xfrm>
            <a:off x="4754879" y="2788920"/>
            <a:ext cx="2660903"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학교 지침</a:t>
            </a:r>
          </a:p>
        </p:txBody>
      </p:sp>
      <p:sp>
        <p:nvSpPr>
          <p:cNvPr id="14" name="TextBox 13"/>
          <p:cNvSpPr txBox="1"/>
          <p:nvPr/>
        </p:nvSpPr>
        <p:spPr>
          <a:xfrm>
            <a:off x="4754879" y="3291840"/>
            <a:ext cx="2660903" cy="73152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학교가 안내한 사용 범위와</a:t>
            </a:r>
          </a:p>
          <a:p>
            <a:pPr algn="l">
              <a:lnSpc>
                <a:spcPct val="135000"/>
              </a:lnSpc>
            </a:pPr>
            <a:r>
              <a:rPr sz="1350" b="0">
                <a:solidFill>
                  <a:srgbClr val="3E4C59"/>
                </a:solidFill>
                <a:latin typeface="맑은 고딕"/>
                <a:ea typeface="맑은 고딕"/>
                <a:cs typeface="맑은 고딕"/>
              </a:rPr>
              <a:t>과제에서의 허용 여부</a:t>
            </a:r>
          </a:p>
        </p:txBody>
      </p:sp>
      <p:sp>
        <p:nvSpPr>
          <p:cNvPr id="15" name="TextBox 14"/>
          <p:cNvSpPr txBox="1"/>
          <p:nvPr/>
        </p:nvSpPr>
        <p:spPr>
          <a:xfrm>
            <a:off x="7754112" y="3108960"/>
            <a:ext cx="365760" cy="365760"/>
          </a:xfrm>
          <a:prstGeom prst="rect">
            <a:avLst/>
          </a:prstGeom>
          <a:noFill/>
        </p:spPr>
        <p:txBody>
          <a:bodyPr wrap="square" anchor="t" lIns="0" rIns="0" tIns="0" bIns="0">
            <a:spAutoFit/>
          </a:bodyPr>
          <a:lstStyle/>
          <a:p>
            <a:pPr algn="ctr">
              <a:lnSpc>
                <a:spcPct val="115000"/>
              </a:lnSpc>
            </a:pPr>
            <a:r>
              <a:rPr sz="2600" b="1">
                <a:solidFill>
                  <a:srgbClr val="D9E0E8"/>
                </a:solidFill>
                <a:latin typeface="맑은 고딕"/>
                <a:ea typeface="맑은 고딕"/>
                <a:cs typeface="맑은 고딕"/>
              </a:rPr>
              <a:t>›</a:t>
            </a:r>
          </a:p>
        </p:txBody>
      </p:sp>
      <p:sp>
        <p:nvSpPr>
          <p:cNvPr id="16" name="Rounded Rectangle 15"/>
          <p:cNvSpPr/>
          <p:nvPr/>
        </p:nvSpPr>
        <p:spPr>
          <a:xfrm>
            <a:off x="8147303" y="2194560"/>
            <a:ext cx="3246120" cy="22860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39911" y="2423160"/>
            <a:ext cx="2660903" cy="256032"/>
          </a:xfrm>
          <a:prstGeom prst="rect">
            <a:avLst/>
          </a:prstGeom>
          <a:noFill/>
        </p:spPr>
        <p:txBody>
          <a:bodyPr wrap="square" anchor="t" lIns="0" rIns="0" tIns="0" bIns="0">
            <a:spAutoFit/>
          </a:bodyPr>
          <a:lstStyle/>
          <a:p>
            <a:pPr algn="l">
              <a:lnSpc>
                <a:spcPct val="115000"/>
              </a:lnSpc>
            </a:pPr>
            <a:r>
              <a:rPr sz="1150" b="1">
                <a:solidFill>
                  <a:srgbClr val="7B8894"/>
                </a:solidFill>
                <a:latin typeface="맑은 고딕"/>
                <a:ea typeface="맑은 고딕"/>
                <a:cs typeface="맑은 고딕"/>
              </a:rPr>
              <a:t>마지막</a:t>
            </a:r>
          </a:p>
        </p:txBody>
      </p:sp>
      <p:sp>
        <p:nvSpPr>
          <p:cNvPr id="18" name="TextBox 17"/>
          <p:cNvSpPr txBox="1"/>
          <p:nvPr/>
        </p:nvSpPr>
        <p:spPr>
          <a:xfrm>
            <a:off x="8439911" y="2788920"/>
            <a:ext cx="2660903"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아이의 준비도</a:t>
            </a:r>
          </a:p>
        </p:txBody>
      </p:sp>
      <p:sp>
        <p:nvSpPr>
          <p:cNvPr id="19" name="TextBox 18"/>
          <p:cNvSpPr txBox="1"/>
          <p:nvPr/>
        </p:nvSpPr>
        <p:spPr>
          <a:xfrm>
            <a:off x="8439911" y="3291840"/>
            <a:ext cx="2660903" cy="73152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나이와 별개로</a:t>
            </a:r>
          </a:p>
          <a:p>
            <a:pPr algn="l">
              <a:lnSpc>
                <a:spcPct val="135000"/>
              </a:lnSpc>
            </a:pPr>
            <a:r>
              <a:rPr sz="1350" b="0">
                <a:solidFill>
                  <a:srgbClr val="3E4C59"/>
                </a:solidFill>
                <a:latin typeface="맑은 고딕"/>
                <a:ea typeface="맑은 고딕"/>
                <a:cs typeface="맑은 고딕"/>
              </a:rPr>
              <a:t>아이가 갖췄는지 볼 것</a:t>
            </a:r>
          </a:p>
        </p:txBody>
      </p:sp>
      <p:sp>
        <p:nvSpPr>
          <p:cNvPr id="20" name="Rounded Rectangle 19"/>
          <p:cNvSpPr/>
          <p:nvPr/>
        </p:nvSpPr>
        <p:spPr>
          <a:xfrm>
            <a:off x="777240" y="4800600"/>
            <a:ext cx="10637215" cy="731520"/>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143000" y="4992624"/>
            <a:ext cx="9905695" cy="411480"/>
          </a:xfrm>
          <a:prstGeom prst="rect">
            <a:avLst/>
          </a:prstGeom>
          <a:noFill/>
        </p:spPr>
        <p:txBody>
          <a:bodyPr wrap="square" anchor="t" lIns="0" rIns="0" tIns="0" bIns="0">
            <a:spAutoFit/>
          </a:bodyPr>
          <a:lstStyle/>
          <a:p>
            <a:pPr algn="l">
              <a:lnSpc>
                <a:spcPct val="115000"/>
              </a:lnSpc>
            </a:pPr>
            <a:r>
              <a:rPr sz="1500" b="1">
                <a:solidFill>
                  <a:srgbClr val="0E7C86"/>
                </a:solidFill>
                <a:latin typeface="맑은 고딕"/>
                <a:ea typeface="맑은 고딕"/>
                <a:cs typeface="맑은 고딕"/>
              </a:rPr>
              <a:t>나이가 됐다고 바로 혼자 써도 된다는 뜻은 아닙니다. </a:t>
            </a:r>
            <a:r>
              <a:rPr sz="1500" b="0">
                <a:solidFill>
                  <a:srgbClr val="3E4C59"/>
                </a:solidFill>
                <a:latin typeface="맑은 고딕"/>
                <a:ea typeface="맑은 고딕"/>
                <a:cs typeface="맑은 고딕"/>
              </a:rPr>
              <a:t>세 가지를 다 확인하셨다면, 그때 시작하셔도 좋습니다.</a:t>
            </a:r>
          </a:p>
        </p:txBody>
      </p:sp>
      <p:sp>
        <p:nvSpPr>
          <p:cNvPr id="22" name="Rectangle 2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10 / 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세 번째 관문</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나이와 별도로 확인할 준비도</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네 가지가 되면 혼자 쓰는 연습을 시작할 수 있습니다.</a:t>
            </a:r>
          </a:p>
        </p:txBody>
      </p:sp>
      <p:sp>
        <p:nvSpPr>
          <p:cNvPr id="6" name="Rounded Rectangle 5"/>
          <p:cNvSpPr/>
          <p:nvPr/>
        </p:nvSpPr>
        <p:spPr>
          <a:xfrm>
            <a:off x="777240" y="2194560"/>
            <a:ext cx="5135727" cy="129844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88136" y="2487168"/>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88136" y="2551175"/>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691640" y="2468879"/>
            <a:ext cx="3901287" cy="36576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틀릴 수 있음을 이해하기</a:t>
            </a:r>
          </a:p>
        </p:txBody>
      </p:sp>
      <p:sp>
        <p:nvSpPr>
          <p:cNvPr id="10" name="TextBox 9"/>
          <p:cNvSpPr txBox="1"/>
          <p:nvPr/>
        </p:nvSpPr>
        <p:spPr>
          <a:xfrm>
            <a:off x="1691640" y="2852928"/>
            <a:ext cx="3901287"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“AI도 틀려요”라고 말할 수 있고,</a:t>
            </a:r>
          </a:p>
          <a:p>
            <a:pPr algn="l">
              <a:lnSpc>
                <a:spcPct val="130000"/>
              </a:lnSpc>
            </a:pPr>
            <a:r>
              <a:rPr sz="1300" b="0">
                <a:solidFill>
                  <a:srgbClr val="3E4C59"/>
                </a:solidFill>
                <a:latin typeface="맑은 고딕"/>
                <a:ea typeface="맑은 고딕"/>
                <a:cs typeface="맑은 고딕"/>
              </a:rPr>
              <a:t>실제로 틀린 답을 본 경험이 있습니다.</a:t>
            </a:r>
          </a:p>
        </p:txBody>
      </p:sp>
      <p:sp>
        <p:nvSpPr>
          <p:cNvPr id="11" name="Rounded Rectangle 10"/>
          <p:cNvSpPr/>
          <p:nvPr/>
        </p:nvSpPr>
        <p:spPr>
          <a:xfrm>
            <a:off x="6278727" y="2194560"/>
            <a:ext cx="5135727" cy="129844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589623" y="2487168"/>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9623" y="2551175"/>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4" name="TextBox 13"/>
          <p:cNvSpPr txBox="1"/>
          <p:nvPr/>
        </p:nvSpPr>
        <p:spPr>
          <a:xfrm>
            <a:off x="7193127" y="2468879"/>
            <a:ext cx="3901287" cy="36576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개인정보를 구분하기</a:t>
            </a:r>
          </a:p>
        </p:txBody>
      </p:sp>
      <p:sp>
        <p:nvSpPr>
          <p:cNvPr id="15" name="TextBox 14"/>
          <p:cNvSpPr txBox="1"/>
          <p:nvPr/>
        </p:nvSpPr>
        <p:spPr>
          <a:xfrm>
            <a:off x="7193127" y="2852928"/>
            <a:ext cx="3901287"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이름·학교·주소·사진은</a:t>
            </a:r>
          </a:p>
          <a:p>
            <a:pPr algn="l">
              <a:lnSpc>
                <a:spcPct val="130000"/>
              </a:lnSpc>
            </a:pPr>
            <a:r>
              <a:rPr sz="1300" b="0">
                <a:solidFill>
                  <a:srgbClr val="3E4C59"/>
                </a:solidFill>
                <a:latin typeface="맑은 고딕"/>
                <a:ea typeface="맑은 고딕"/>
                <a:cs typeface="맑은 고딕"/>
              </a:rPr>
              <a:t>입력하지 않아야 한다는 것을 압니다.</a:t>
            </a:r>
          </a:p>
        </p:txBody>
      </p:sp>
      <p:sp>
        <p:nvSpPr>
          <p:cNvPr id="16" name="Rounded Rectangle 15"/>
          <p:cNvSpPr/>
          <p:nvPr/>
        </p:nvSpPr>
        <p:spPr>
          <a:xfrm>
            <a:off x="777240" y="3675887"/>
            <a:ext cx="5135727" cy="129844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088136" y="3968496"/>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8136" y="4032504"/>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19" name="TextBox 18"/>
          <p:cNvSpPr txBox="1"/>
          <p:nvPr/>
        </p:nvSpPr>
        <p:spPr>
          <a:xfrm>
            <a:off x="1691640" y="3950207"/>
            <a:ext cx="3901287" cy="36576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자기 말로 설명하기</a:t>
            </a:r>
          </a:p>
        </p:txBody>
      </p:sp>
      <p:sp>
        <p:nvSpPr>
          <p:cNvPr id="20" name="TextBox 19"/>
          <p:cNvSpPr txBox="1"/>
          <p:nvPr/>
        </p:nvSpPr>
        <p:spPr>
          <a:xfrm>
            <a:off x="1691640" y="4334255"/>
            <a:ext cx="3901287"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받은 답을 그대로 읽지 않고</a:t>
            </a:r>
          </a:p>
          <a:p>
            <a:pPr algn="l">
              <a:lnSpc>
                <a:spcPct val="130000"/>
              </a:lnSpc>
            </a:pPr>
            <a:r>
              <a:rPr sz="1300" b="0">
                <a:solidFill>
                  <a:srgbClr val="3E4C59"/>
                </a:solidFill>
                <a:latin typeface="맑은 고딕"/>
                <a:ea typeface="맑은 고딕"/>
                <a:cs typeface="맑은 고딕"/>
              </a:rPr>
              <a:t>자기 문장으로 바꿔 말할 수 있습니다.</a:t>
            </a:r>
          </a:p>
        </p:txBody>
      </p:sp>
      <p:sp>
        <p:nvSpPr>
          <p:cNvPr id="21" name="Rounded Rectangle 20"/>
          <p:cNvSpPr/>
          <p:nvPr/>
        </p:nvSpPr>
        <p:spPr>
          <a:xfrm>
            <a:off x="6278727" y="3675887"/>
            <a:ext cx="5135727" cy="129844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589623" y="3968496"/>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9623" y="4032504"/>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4</a:t>
            </a:r>
          </a:p>
        </p:txBody>
      </p:sp>
      <p:sp>
        <p:nvSpPr>
          <p:cNvPr id="24" name="TextBox 23"/>
          <p:cNvSpPr txBox="1"/>
          <p:nvPr/>
        </p:nvSpPr>
        <p:spPr>
          <a:xfrm>
            <a:off x="7193127" y="3950207"/>
            <a:ext cx="3901287" cy="36576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스스로 멈추기</a:t>
            </a:r>
          </a:p>
        </p:txBody>
      </p:sp>
      <p:sp>
        <p:nvSpPr>
          <p:cNvPr id="25" name="TextBox 24"/>
          <p:cNvSpPr txBox="1"/>
          <p:nvPr/>
        </p:nvSpPr>
        <p:spPr>
          <a:xfrm>
            <a:off x="7193127" y="4334255"/>
            <a:ext cx="3901287" cy="54864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약속한 시점에 화면을 닫고</a:t>
            </a:r>
          </a:p>
          <a:p>
            <a:pPr algn="l">
              <a:lnSpc>
                <a:spcPct val="130000"/>
              </a:lnSpc>
            </a:pPr>
            <a:r>
              <a:rPr sz="1300" b="0">
                <a:solidFill>
                  <a:srgbClr val="3E4C59"/>
                </a:solidFill>
                <a:latin typeface="맑은 고딕"/>
                <a:ea typeface="맑은 고딕"/>
                <a:cs typeface="맑은 고딕"/>
              </a:rPr>
              <a:t>다른 활동으로 넘어갈 수 있습니다.</a:t>
            </a:r>
          </a:p>
        </p:txBody>
      </p:sp>
      <p:sp>
        <p:nvSpPr>
          <p:cNvPr id="26" name="Rounded Rectangle 25"/>
          <p:cNvSpPr/>
          <p:nvPr/>
        </p:nvSpPr>
        <p:spPr>
          <a:xfrm>
            <a:off x="777240" y="5321808"/>
            <a:ext cx="10637215" cy="71323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143000" y="5513832"/>
            <a:ext cx="9905695" cy="365760"/>
          </a:xfrm>
          <a:prstGeom prst="rect">
            <a:avLst/>
          </a:prstGeom>
          <a:noFill/>
        </p:spPr>
        <p:txBody>
          <a:bodyPr wrap="square" anchor="t" lIns="0" rIns="0" tIns="0" bIns="0">
            <a:spAutoFit/>
          </a:bodyPr>
          <a:lstStyle/>
          <a:p>
            <a:pPr algn="l">
              <a:lnSpc>
                <a:spcPct val="115000"/>
              </a:lnSpc>
            </a:pPr>
            <a:r>
              <a:rPr sz="1550" b="1">
                <a:solidFill>
                  <a:srgbClr val="1D4ED8"/>
                </a:solidFill>
                <a:latin typeface="맑은 고딕"/>
                <a:ea typeface="맑은 고딕"/>
                <a:cs typeface="맑은 고딕"/>
              </a:rPr>
              <a:t>아직 이르다 싶으면 막지 마시고, 옆에서 같이 쓰는 단계로 두세요.</a:t>
            </a:r>
          </a:p>
        </p:txBody>
      </p:sp>
      <p:sp>
        <p:nvSpPr>
          <p:cNvPr id="28" name="Rectangle 27"/>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11 / 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학교의 AI 교육</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학교에서는 어떤 AI를 쓰나요?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학교에서 말하는 AI 교육에는 세 갈래가 있습니다.</a:t>
            </a:r>
          </a:p>
        </p:txBody>
      </p:sp>
      <p:sp>
        <p:nvSpPr>
          <p:cNvPr id="6" name="Rounded Rectangle 5"/>
          <p:cNvSpPr/>
          <p:nvPr/>
        </p:nvSpPr>
        <p:spPr>
          <a:xfrm>
            <a:off x="777240" y="2176272"/>
            <a:ext cx="3291840" cy="21488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848" y="2450592"/>
            <a:ext cx="4114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67004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AI 원리 배우기</a:t>
            </a:r>
          </a:p>
        </p:txBody>
      </p:sp>
      <p:sp>
        <p:nvSpPr>
          <p:cNvPr id="9" name="TextBox 8"/>
          <p:cNvSpPr txBox="1"/>
          <p:nvPr/>
        </p:nvSpPr>
        <p:spPr>
          <a:xfrm>
            <a:off x="1069848" y="3182112"/>
            <a:ext cx="2706624" cy="9144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AI가 무엇이고 어떻게 작동하는지</a:t>
            </a:r>
          </a:p>
          <a:p>
            <a:pPr algn="l">
              <a:lnSpc>
                <a:spcPct val="135000"/>
              </a:lnSpc>
            </a:pPr>
            <a:r>
              <a:rPr sz="1300" b="0">
                <a:solidFill>
                  <a:srgbClr val="3E4C59"/>
                </a:solidFill>
                <a:latin typeface="맑은 고딕"/>
                <a:ea typeface="맑은 고딕"/>
                <a:cs typeface="맑은 고딕"/>
              </a:rPr>
              <a:t>배웁니다. 정보·실과 수업이</a:t>
            </a:r>
          </a:p>
          <a:p>
            <a:pPr algn="l">
              <a:lnSpc>
                <a:spcPct val="135000"/>
              </a:lnSpc>
            </a:pPr>
            <a:r>
              <a:rPr sz="1300" b="0">
                <a:solidFill>
                  <a:srgbClr val="3E4C59"/>
                </a:solidFill>
                <a:latin typeface="맑은 고딕"/>
                <a:ea typeface="맑은 고딕"/>
                <a:cs typeface="맑은 고딕"/>
              </a:rPr>
              <a:t>여기에 해당합니다.</a:t>
            </a:r>
          </a:p>
        </p:txBody>
      </p:sp>
      <p:sp>
        <p:nvSpPr>
          <p:cNvPr id="10" name="Rounded Rectangle 9"/>
          <p:cNvSpPr/>
          <p:nvPr/>
        </p:nvSpPr>
        <p:spPr>
          <a:xfrm>
            <a:off x="4453128" y="2176272"/>
            <a:ext cx="3291840" cy="21488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745736" y="2450592"/>
            <a:ext cx="41148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267004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AI로 학습하기</a:t>
            </a:r>
          </a:p>
        </p:txBody>
      </p:sp>
      <p:sp>
        <p:nvSpPr>
          <p:cNvPr id="13" name="TextBox 12"/>
          <p:cNvSpPr txBox="1"/>
          <p:nvPr/>
        </p:nvSpPr>
        <p:spPr>
          <a:xfrm>
            <a:off x="4745736" y="3182112"/>
            <a:ext cx="2706624" cy="9144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수업이나 과제에서 도구로</a:t>
            </a:r>
          </a:p>
          <a:p>
            <a:pPr algn="l">
              <a:lnSpc>
                <a:spcPct val="135000"/>
              </a:lnSpc>
            </a:pPr>
            <a:r>
              <a:rPr sz="1300" b="0">
                <a:solidFill>
                  <a:srgbClr val="3E4C59"/>
                </a:solidFill>
                <a:latin typeface="맑은 고딕"/>
                <a:ea typeface="맑은 고딕"/>
                <a:cs typeface="맑은 고딕"/>
              </a:rPr>
              <a:t>활용합니다. 교사가 범위를 정해</a:t>
            </a:r>
          </a:p>
          <a:p>
            <a:pPr algn="l">
              <a:lnSpc>
                <a:spcPct val="135000"/>
              </a:lnSpc>
            </a:pPr>
            <a:r>
              <a:rPr sz="1300" b="0">
                <a:solidFill>
                  <a:srgbClr val="3E4C59"/>
                </a:solidFill>
                <a:latin typeface="맑은 고딕"/>
                <a:ea typeface="맑은 고딕"/>
                <a:cs typeface="맑은 고딕"/>
              </a:rPr>
              <a:t>안내합니다.</a:t>
            </a:r>
          </a:p>
        </p:txBody>
      </p:sp>
      <p:sp>
        <p:nvSpPr>
          <p:cNvPr id="14" name="Rounded Rectangle 13"/>
          <p:cNvSpPr/>
          <p:nvPr/>
        </p:nvSpPr>
        <p:spPr>
          <a:xfrm>
            <a:off x="8129016" y="2176272"/>
            <a:ext cx="3291840" cy="214884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421624" y="2450592"/>
            <a:ext cx="41148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1624" y="2670048"/>
            <a:ext cx="2706624" cy="411480"/>
          </a:xfrm>
          <a:prstGeom prst="rect">
            <a:avLst/>
          </a:prstGeom>
          <a:noFill/>
        </p:spPr>
        <p:txBody>
          <a:bodyPr wrap="square" anchor="t" lIns="0" rIns="0" tIns="0" bIns="0">
            <a:spAutoFit/>
          </a:bodyPr>
          <a:lstStyle/>
          <a:p>
            <a:pPr algn="l">
              <a:lnSpc>
                <a:spcPct val="115000"/>
              </a:lnSpc>
            </a:pPr>
            <a:r>
              <a:rPr sz="1750" b="1">
                <a:solidFill>
                  <a:srgbClr val="1F2933"/>
                </a:solidFill>
                <a:latin typeface="맑은 고딕"/>
                <a:ea typeface="맑은 고딕"/>
                <a:cs typeface="맑은 고딕"/>
              </a:rPr>
              <a:t>AI를 비판적으로 살피기</a:t>
            </a:r>
          </a:p>
        </p:txBody>
      </p:sp>
      <p:sp>
        <p:nvSpPr>
          <p:cNvPr id="17" name="TextBox 16"/>
          <p:cNvSpPr txBox="1"/>
          <p:nvPr/>
        </p:nvSpPr>
        <p:spPr>
          <a:xfrm>
            <a:off x="8421624" y="3182112"/>
            <a:ext cx="2706624" cy="9144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편향·오류·개인정보를 따져 봅니다.</a:t>
            </a:r>
          </a:p>
          <a:p>
            <a:pPr algn="l">
              <a:lnSpc>
                <a:spcPct val="135000"/>
              </a:lnSpc>
            </a:pPr>
            <a:r>
              <a:rPr sz="1300" b="0">
                <a:solidFill>
                  <a:srgbClr val="3E4C59"/>
                </a:solidFill>
                <a:latin typeface="맑은 고딕"/>
                <a:ea typeface="맑은 고딕"/>
                <a:cs typeface="맑은 고딕"/>
              </a:rPr>
              <a:t>오늘 가정에서 함께할 부분이</a:t>
            </a:r>
          </a:p>
          <a:p>
            <a:pPr algn="l">
              <a:lnSpc>
                <a:spcPct val="135000"/>
              </a:lnSpc>
            </a:pPr>
            <a:r>
              <a:rPr sz="1300" b="0">
                <a:solidFill>
                  <a:srgbClr val="3E4C59"/>
                </a:solidFill>
                <a:latin typeface="맑은 고딕"/>
                <a:ea typeface="맑은 고딕"/>
                <a:cs typeface="맑은 고딕"/>
              </a:rPr>
              <a:t>바로 이것입니다.</a:t>
            </a:r>
          </a:p>
        </p:txBody>
      </p:sp>
      <p:sp>
        <p:nvSpPr>
          <p:cNvPr id="18" name="Rounded Rectangle 17"/>
          <p:cNvSpPr/>
          <p:nvPr/>
        </p:nvSpPr>
        <p:spPr>
          <a:xfrm>
            <a:off x="777240" y="4645152"/>
            <a:ext cx="10637215" cy="123444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43000" y="4791456"/>
            <a:ext cx="9905695" cy="1005840"/>
          </a:xfrm>
          <a:prstGeom prst="rect">
            <a:avLst/>
          </a:prstGeom>
          <a:noFill/>
        </p:spPr>
        <p:txBody>
          <a:bodyPr wrap="square" anchor="t" lIns="0" rIns="0" tIns="0" bIns="0">
            <a:spAutoFit/>
          </a:bodyPr>
          <a:lstStyle/>
          <a:p>
            <a:pPr algn="l">
              <a:lnSpc>
                <a:spcPct val="135000"/>
              </a:lnSpc>
              <a:spcAft>
                <a:spcPts val="300"/>
              </a:spcAft>
            </a:pPr>
            <a:r>
              <a:rPr sz="1400" b="0">
                <a:solidFill>
                  <a:srgbClr val="3E4C59"/>
                </a:solidFill>
                <a:latin typeface="맑은 고딕"/>
                <a:ea typeface="맑은 고딕"/>
                <a:cs typeface="맑은 고딕"/>
              </a:rPr>
              <a:t>2022 개정 교육과정에서 초등학교 정보 교육이 17시간에서 </a:t>
            </a:r>
            <a:r>
              <a:rPr sz="1400" b="1">
                <a:solidFill>
                  <a:srgbClr val="0E7C86"/>
                </a:solidFill>
                <a:latin typeface="맑은 고딕"/>
                <a:ea typeface="맑은 고딕"/>
                <a:cs typeface="맑은 고딕"/>
              </a:rPr>
              <a:t>34시간 이상</a:t>
            </a:r>
            <a:r>
              <a:rPr sz="1400" b="0">
                <a:solidFill>
                  <a:srgbClr val="3E4C59"/>
                </a:solidFill>
                <a:latin typeface="맑은 고딕"/>
                <a:ea typeface="맑은 고딕"/>
                <a:cs typeface="맑은 고딕"/>
              </a:rPr>
              <a:t>으로 늘었습니다(중학교는 68시간 이상).</a:t>
            </a:r>
          </a:p>
          <a:p>
            <a:pPr algn="l">
              <a:lnSpc>
                <a:spcPct val="135000"/>
              </a:lnSpc>
              <a:spcAft>
                <a:spcPts val="300"/>
              </a:spcAft>
            </a:pPr>
            <a:r>
              <a:rPr sz="1400" b="0">
                <a:solidFill>
                  <a:srgbClr val="3E4C59"/>
                </a:solidFill>
                <a:latin typeface="맑은 고딕"/>
                <a:ea typeface="맑은 고딕"/>
                <a:cs typeface="맑은 고딕"/>
              </a:rPr>
              <a:t>초등 5·6학년은 2026년 3월부터 적용되며, 실과 정보 영역과 학교 자율시간 등으로 편성합니다.</a:t>
            </a:r>
          </a:p>
          <a:p>
            <a:pPr algn="l">
              <a:lnSpc>
                <a:spcPct val="135000"/>
              </a:lnSpc>
              <a:spcAft>
                <a:spcPts val="300"/>
              </a:spcAft>
            </a:pPr>
            <a:r>
              <a:rPr sz="1400" b="0">
                <a:solidFill>
                  <a:srgbClr val="3E4C59"/>
                </a:solidFill>
                <a:latin typeface="맑은 고딕"/>
                <a:ea typeface="맑은 고딕"/>
                <a:cs typeface="맑은 고딕"/>
              </a:rPr>
              <a:t>학교가 손 놓고 있는 분야가 아니라, 이미 교육과정 안에 들어와 있는 내용입니다.</a:t>
            </a:r>
          </a:p>
        </p:txBody>
      </p:sp>
      <p:sp>
        <p:nvSpPr>
          <p:cNvPr id="20" name="Rectangle 1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교육부, 2022 개정 교육과정(정보 교육 시수 확대) — 국가교육과정정보센터</a:t>
            </a:r>
          </a:p>
        </p:txBody>
      </p:sp>
      <p:sp>
        <p:nvSpPr>
          <p:cNvPr id="22" name="TextBox 21"/>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12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학부모 체크리스트</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학교에 확인할 네 가지</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상담 주간이나 알림장으로 물어보실 수 있는 질문입니다.</a:t>
            </a:r>
          </a:p>
        </p:txBody>
      </p:sp>
      <p:sp>
        <p:nvSpPr>
          <p:cNvPr id="6" name="Rounded Rectangle 5"/>
          <p:cNvSpPr/>
          <p:nvPr/>
        </p:nvSpPr>
        <p:spPr>
          <a:xfrm>
            <a:off x="777240" y="2176272"/>
            <a:ext cx="5135727" cy="1353312"/>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69848" y="2450591"/>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514599"/>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673352" y="2432304"/>
            <a:ext cx="3947007"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사용 도구</a:t>
            </a:r>
          </a:p>
        </p:txBody>
      </p:sp>
      <p:sp>
        <p:nvSpPr>
          <p:cNvPr id="10" name="TextBox 9"/>
          <p:cNvSpPr txBox="1"/>
          <p:nvPr/>
        </p:nvSpPr>
        <p:spPr>
          <a:xfrm>
            <a:off x="1673352" y="2798064"/>
            <a:ext cx="3947007" cy="320040"/>
          </a:xfrm>
          <a:prstGeom prst="rect">
            <a:avLst/>
          </a:prstGeom>
          <a:noFill/>
        </p:spPr>
        <p:txBody>
          <a:bodyPr wrap="square" anchor="t" lIns="0" rIns="0" tIns="0" bIns="0">
            <a:spAutoFit/>
          </a:bodyPr>
          <a:lstStyle/>
          <a:p>
            <a:pPr algn="l">
              <a:lnSpc>
                <a:spcPct val="115000"/>
              </a:lnSpc>
            </a:pPr>
            <a:r>
              <a:rPr sz="1400" b="0">
                <a:solidFill>
                  <a:srgbClr val="1D4ED8"/>
                </a:solidFill>
                <a:latin typeface="맑은 고딕"/>
                <a:ea typeface="맑은 고딕"/>
                <a:cs typeface="맑은 고딕"/>
              </a:rPr>
              <a:t>“수업에서 어떤 AI 서비스를 쓰나요?”</a:t>
            </a:r>
          </a:p>
        </p:txBody>
      </p:sp>
      <p:sp>
        <p:nvSpPr>
          <p:cNvPr id="11" name="TextBox 10"/>
          <p:cNvSpPr txBox="1"/>
          <p:nvPr/>
        </p:nvSpPr>
        <p:spPr>
          <a:xfrm>
            <a:off x="1673352" y="3127248"/>
            <a:ext cx="3947007" cy="32004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제품 이름과 학생 계정 사용 여부</a:t>
            </a:r>
          </a:p>
        </p:txBody>
      </p:sp>
      <p:sp>
        <p:nvSpPr>
          <p:cNvPr id="12" name="Rounded Rectangle 11"/>
          <p:cNvSpPr/>
          <p:nvPr/>
        </p:nvSpPr>
        <p:spPr>
          <a:xfrm>
            <a:off x="6278727" y="2176272"/>
            <a:ext cx="5135727" cy="1353312"/>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571335" y="2450591"/>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1335" y="2514599"/>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5" name="TextBox 14"/>
          <p:cNvSpPr txBox="1"/>
          <p:nvPr/>
        </p:nvSpPr>
        <p:spPr>
          <a:xfrm>
            <a:off x="7174839" y="2432304"/>
            <a:ext cx="3947007"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계정·개인정보</a:t>
            </a:r>
          </a:p>
        </p:txBody>
      </p:sp>
      <p:sp>
        <p:nvSpPr>
          <p:cNvPr id="16" name="TextBox 15"/>
          <p:cNvSpPr txBox="1"/>
          <p:nvPr/>
        </p:nvSpPr>
        <p:spPr>
          <a:xfrm>
            <a:off x="7174839" y="2798064"/>
            <a:ext cx="3947007" cy="320040"/>
          </a:xfrm>
          <a:prstGeom prst="rect">
            <a:avLst/>
          </a:prstGeom>
          <a:noFill/>
        </p:spPr>
        <p:txBody>
          <a:bodyPr wrap="square" anchor="t" lIns="0" rIns="0" tIns="0" bIns="0">
            <a:spAutoFit/>
          </a:bodyPr>
          <a:lstStyle/>
          <a:p>
            <a:pPr algn="l">
              <a:lnSpc>
                <a:spcPct val="115000"/>
              </a:lnSpc>
            </a:pPr>
            <a:r>
              <a:rPr sz="1400" b="0">
                <a:solidFill>
                  <a:srgbClr val="1D4ED8"/>
                </a:solidFill>
                <a:latin typeface="맑은 고딕"/>
                <a:ea typeface="맑은 고딕"/>
                <a:cs typeface="맑은 고딕"/>
              </a:rPr>
              <a:t>“학생 계정은 어떻게 만들고 관리하나요?”</a:t>
            </a:r>
          </a:p>
        </p:txBody>
      </p:sp>
      <p:sp>
        <p:nvSpPr>
          <p:cNvPr id="17" name="TextBox 16"/>
          <p:cNvSpPr txBox="1"/>
          <p:nvPr/>
        </p:nvSpPr>
        <p:spPr>
          <a:xfrm>
            <a:off x="7174839" y="3127248"/>
            <a:ext cx="3947007" cy="32004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교육용 계정인지, 입력 정보는 무엇인지</a:t>
            </a:r>
          </a:p>
        </p:txBody>
      </p:sp>
      <p:sp>
        <p:nvSpPr>
          <p:cNvPr id="18" name="Rounded Rectangle 17"/>
          <p:cNvSpPr/>
          <p:nvPr/>
        </p:nvSpPr>
        <p:spPr>
          <a:xfrm>
            <a:off x="777240" y="3712463"/>
            <a:ext cx="5135727" cy="1353312"/>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069848" y="3986783"/>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4050791"/>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21" name="TextBox 20"/>
          <p:cNvSpPr txBox="1"/>
          <p:nvPr/>
        </p:nvSpPr>
        <p:spPr>
          <a:xfrm>
            <a:off x="1673352" y="3968496"/>
            <a:ext cx="3947007"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과제 허용 범위</a:t>
            </a:r>
          </a:p>
        </p:txBody>
      </p:sp>
      <p:sp>
        <p:nvSpPr>
          <p:cNvPr id="22" name="TextBox 21"/>
          <p:cNvSpPr txBox="1"/>
          <p:nvPr/>
        </p:nvSpPr>
        <p:spPr>
          <a:xfrm>
            <a:off x="1673352" y="4334255"/>
            <a:ext cx="3947007" cy="320040"/>
          </a:xfrm>
          <a:prstGeom prst="rect">
            <a:avLst/>
          </a:prstGeom>
          <a:noFill/>
        </p:spPr>
        <p:txBody>
          <a:bodyPr wrap="square" anchor="t" lIns="0" rIns="0" tIns="0" bIns="0">
            <a:spAutoFit/>
          </a:bodyPr>
          <a:lstStyle/>
          <a:p>
            <a:pPr algn="l">
              <a:lnSpc>
                <a:spcPct val="115000"/>
              </a:lnSpc>
            </a:pPr>
            <a:r>
              <a:rPr sz="1400" b="0">
                <a:solidFill>
                  <a:srgbClr val="1D4ED8"/>
                </a:solidFill>
                <a:latin typeface="맑은 고딕"/>
                <a:ea typeface="맑은 고딕"/>
                <a:cs typeface="맑은 고딕"/>
              </a:rPr>
              <a:t>“과제에서 AI는 어디까지 되나요?”</a:t>
            </a:r>
          </a:p>
        </p:txBody>
      </p:sp>
      <p:sp>
        <p:nvSpPr>
          <p:cNvPr id="23" name="TextBox 22"/>
          <p:cNvSpPr txBox="1"/>
          <p:nvPr/>
        </p:nvSpPr>
        <p:spPr>
          <a:xfrm>
            <a:off x="1673352" y="4663440"/>
            <a:ext cx="3947007" cy="32004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과목·과제 유형별로 다를 수 있음</a:t>
            </a:r>
          </a:p>
        </p:txBody>
      </p:sp>
      <p:sp>
        <p:nvSpPr>
          <p:cNvPr id="24" name="Rounded Rectangle 23"/>
          <p:cNvSpPr/>
          <p:nvPr/>
        </p:nvSpPr>
        <p:spPr>
          <a:xfrm>
            <a:off x="6278727" y="3712463"/>
            <a:ext cx="5135727" cy="1353312"/>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571335" y="3986783"/>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71335" y="4050791"/>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4</a:t>
            </a:r>
          </a:p>
        </p:txBody>
      </p:sp>
      <p:sp>
        <p:nvSpPr>
          <p:cNvPr id="27" name="TextBox 26"/>
          <p:cNvSpPr txBox="1"/>
          <p:nvPr/>
        </p:nvSpPr>
        <p:spPr>
          <a:xfrm>
            <a:off x="7174839" y="3968496"/>
            <a:ext cx="3947007"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평가 기준</a:t>
            </a:r>
          </a:p>
        </p:txBody>
      </p:sp>
      <p:sp>
        <p:nvSpPr>
          <p:cNvPr id="28" name="TextBox 27"/>
          <p:cNvSpPr txBox="1"/>
          <p:nvPr/>
        </p:nvSpPr>
        <p:spPr>
          <a:xfrm>
            <a:off x="7174839" y="4334255"/>
            <a:ext cx="3947007" cy="320040"/>
          </a:xfrm>
          <a:prstGeom prst="rect">
            <a:avLst/>
          </a:prstGeom>
          <a:noFill/>
        </p:spPr>
        <p:txBody>
          <a:bodyPr wrap="square" anchor="t" lIns="0" rIns="0" tIns="0" bIns="0">
            <a:spAutoFit/>
          </a:bodyPr>
          <a:lstStyle/>
          <a:p>
            <a:pPr algn="l">
              <a:lnSpc>
                <a:spcPct val="115000"/>
              </a:lnSpc>
            </a:pPr>
            <a:r>
              <a:rPr sz="1400" b="0">
                <a:solidFill>
                  <a:srgbClr val="1D4ED8"/>
                </a:solidFill>
                <a:latin typeface="맑은 고딕"/>
                <a:ea typeface="맑은 고딕"/>
                <a:cs typeface="맑은 고딕"/>
              </a:rPr>
              <a:t>“AI를 쓰면 표기해야 하나요?”</a:t>
            </a:r>
          </a:p>
        </p:txBody>
      </p:sp>
      <p:sp>
        <p:nvSpPr>
          <p:cNvPr id="29" name="TextBox 28"/>
          <p:cNvSpPr txBox="1"/>
          <p:nvPr/>
        </p:nvSpPr>
        <p:spPr>
          <a:xfrm>
            <a:off x="7174839" y="4663440"/>
            <a:ext cx="3947007" cy="320040"/>
          </a:xfrm>
          <a:prstGeom prst="rect">
            <a:avLst/>
          </a:prstGeom>
          <a:noFill/>
        </p:spPr>
        <p:txBody>
          <a:bodyPr wrap="square" anchor="t" lIns="0" rIns="0" tIns="0" bIns="0">
            <a:spAutoFit/>
          </a:bodyPr>
          <a:lstStyle/>
          <a:p>
            <a:pPr algn="l">
              <a:lnSpc>
                <a:spcPct val="115000"/>
              </a:lnSpc>
            </a:pPr>
            <a:r>
              <a:rPr sz="1200" b="0">
                <a:solidFill>
                  <a:srgbClr val="7B8894"/>
                </a:solidFill>
                <a:latin typeface="맑은 고딕"/>
                <a:ea typeface="맑은 고딕"/>
                <a:cs typeface="맑은 고딕"/>
              </a:rPr>
              <a:t>표기 방법과 위반 시 처리 기준</a:t>
            </a:r>
          </a:p>
        </p:txBody>
      </p:sp>
      <p:sp>
        <p:nvSpPr>
          <p:cNvPr id="30" name="Rounded Rectangle 29"/>
          <p:cNvSpPr/>
          <p:nvPr/>
        </p:nvSpPr>
        <p:spPr>
          <a:xfrm>
            <a:off x="777240" y="5321808"/>
            <a:ext cx="10637215" cy="71323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143000" y="5513832"/>
            <a:ext cx="9905695" cy="365760"/>
          </a:xfrm>
          <a:prstGeom prst="rect">
            <a:avLst/>
          </a:prstGeom>
          <a:noFill/>
        </p:spPr>
        <p:txBody>
          <a:bodyPr wrap="square" anchor="t" lIns="0" rIns="0" tIns="0" bIns="0">
            <a:spAutoFit/>
          </a:bodyPr>
          <a:lstStyle/>
          <a:p>
            <a:pPr algn="l">
              <a:lnSpc>
                <a:spcPct val="115000"/>
              </a:lnSpc>
            </a:pPr>
            <a:r>
              <a:rPr sz="1550" b="1">
                <a:solidFill>
                  <a:srgbClr val="1D4ED8"/>
                </a:solidFill>
                <a:latin typeface="맑은 고딕"/>
                <a:ea typeface="맑은 고딕"/>
                <a:cs typeface="맑은 고딕"/>
              </a:rPr>
              <a:t>이 네 가지만 알고 계시면 집에서 정할 규칙도 자연스럽게 잡힙니다.</a:t>
            </a:r>
          </a:p>
        </p:txBody>
      </p:sp>
      <p:sp>
        <p:nvSpPr>
          <p:cNvPr id="32" name="Rectangle 3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13 /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첫 번째 관문 · 계정</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초등학생에게 ‘본인 계정’은 존재하지 않습니다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계정을 빌려주는 게 아니라, 부모 계정을 함께 쓴다고 생각해 주세요.</a:t>
            </a:r>
          </a:p>
        </p:txBody>
      </p:sp>
      <p:sp>
        <p:nvSpPr>
          <p:cNvPr id="6" name="Rounded Rectangle 5"/>
          <p:cNvSpPr/>
          <p:nvPr/>
        </p:nvSpPr>
        <p:spPr>
          <a:xfrm>
            <a:off x="777240" y="2084832"/>
            <a:ext cx="10637215" cy="3017520"/>
          </a:xfrm>
          <a:prstGeom prst="roundRect">
            <a:avLst>
              <a:gd name="adj" fmla="val 6000"/>
            </a:avLst>
          </a:prstGeom>
          <a:solidFill>
            <a:srgbClr val="FFFFFF"/>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2084832"/>
            <a:ext cx="10637215" cy="402336"/>
          </a:xfrm>
          <a:prstGeom prst="rect">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94560"/>
            <a:ext cx="4663440" cy="274320"/>
          </a:xfrm>
          <a:prstGeom prst="rect">
            <a:avLst/>
          </a:prstGeom>
          <a:noFill/>
        </p:spPr>
        <p:txBody>
          <a:bodyPr wrap="square" anchor="t" lIns="0" rIns="0" tIns="0" bIns="0">
            <a:spAutoFit/>
          </a:bodyPr>
          <a:lstStyle/>
          <a:p>
            <a:pPr algn="l">
              <a:lnSpc>
                <a:spcPct val="115000"/>
              </a:lnSpc>
            </a:pPr>
            <a:r>
              <a:rPr sz="1250" b="1">
                <a:solidFill>
                  <a:srgbClr val="0E7C86"/>
                </a:solidFill>
                <a:latin typeface="맑은 고딕"/>
                <a:ea typeface="맑은 고딕"/>
                <a:cs typeface="맑은 고딕"/>
              </a:rPr>
              <a:t>기준</a:t>
            </a:r>
          </a:p>
        </p:txBody>
      </p:sp>
      <p:sp>
        <p:nvSpPr>
          <p:cNvPr id="9" name="TextBox 8"/>
          <p:cNvSpPr txBox="1"/>
          <p:nvPr/>
        </p:nvSpPr>
        <p:spPr>
          <a:xfrm>
            <a:off x="6400800" y="2194560"/>
            <a:ext cx="4709160" cy="274320"/>
          </a:xfrm>
          <a:prstGeom prst="rect">
            <a:avLst/>
          </a:prstGeom>
          <a:noFill/>
        </p:spPr>
        <p:txBody>
          <a:bodyPr wrap="square" anchor="t" lIns="0" rIns="0" tIns="0" bIns="0">
            <a:spAutoFit/>
          </a:bodyPr>
          <a:lstStyle/>
          <a:p>
            <a:pPr algn="l">
              <a:lnSpc>
                <a:spcPct val="115000"/>
              </a:lnSpc>
            </a:pPr>
            <a:r>
              <a:rPr sz="1250" b="1">
                <a:solidFill>
                  <a:srgbClr val="0E7C86"/>
                </a:solidFill>
                <a:latin typeface="맑은 고딕"/>
                <a:ea typeface="맑은 고딕"/>
                <a:cs typeface="맑은 고딕"/>
              </a:rPr>
              <a:t>가정에서 확인할 점</a:t>
            </a:r>
          </a:p>
        </p:txBody>
      </p:sp>
      <p:sp>
        <p:nvSpPr>
          <p:cNvPr id="10" name="Rectangle 9"/>
          <p:cNvSpPr/>
          <p:nvPr/>
        </p:nvSpPr>
        <p:spPr>
          <a:xfrm>
            <a:off x="6126479" y="2487168"/>
            <a:ext cx="10972" cy="261518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606040"/>
            <a:ext cx="4663440" cy="274320"/>
          </a:xfrm>
          <a:prstGeom prst="rect">
            <a:avLst/>
          </a:prstGeom>
          <a:noFill/>
        </p:spPr>
        <p:txBody>
          <a:bodyPr wrap="square" anchor="t" lIns="0" rIns="0" tIns="0" bIns="0">
            <a:spAutoFit/>
          </a:bodyPr>
          <a:lstStyle/>
          <a:p>
            <a:pPr algn="l">
              <a:lnSpc>
                <a:spcPct val="115000"/>
              </a:lnSpc>
            </a:pPr>
            <a:r>
              <a:rPr sz="1350" b="1" u="sng">
                <a:solidFill>
                  <a:srgbClr val="1D4ED8"/>
                </a:solidFill>
                <a:latin typeface="맑은 고딕"/>
                <a:hlinkClick r:id="rId2"/>
                <a:ea typeface="맑은 고딕"/>
                <a:cs typeface="맑은 고딕"/>
              </a:rPr>
              <a:t>ChatGPT (OpenAI)</a:t>
            </a:r>
          </a:p>
        </p:txBody>
      </p:sp>
      <p:sp>
        <p:nvSpPr>
          <p:cNvPr id="12" name="TextBox 11"/>
          <p:cNvSpPr txBox="1"/>
          <p:nvPr/>
        </p:nvSpPr>
        <p:spPr>
          <a:xfrm>
            <a:off x="1097280" y="2871216"/>
            <a:ext cx="4663440" cy="274320"/>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약관상 만 13세 이상 (18세 미만은 보호자 동의)</a:t>
            </a:r>
          </a:p>
        </p:txBody>
      </p:sp>
      <p:sp>
        <p:nvSpPr>
          <p:cNvPr id="13" name="TextBox 12"/>
          <p:cNvSpPr txBox="1"/>
          <p:nvPr/>
        </p:nvSpPr>
        <p:spPr>
          <a:xfrm>
            <a:off x="6400800" y="2706624"/>
            <a:ext cx="4709160" cy="411480"/>
          </a:xfrm>
          <a:prstGeom prst="rect">
            <a:avLst/>
          </a:prstGeom>
          <a:noFill/>
        </p:spPr>
        <p:txBody>
          <a:bodyPr wrap="square" anchor="t" lIns="0" rIns="0" tIns="0" bIns="0">
            <a:spAutoFit/>
          </a:bodyPr>
          <a:lstStyle/>
          <a:p>
            <a:pPr algn="l">
              <a:lnSpc>
                <a:spcPct val="125000"/>
              </a:lnSpc>
            </a:pPr>
            <a:r>
              <a:rPr sz="1300" b="0">
                <a:solidFill>
                  <a:srgbClr val="1F2933"/>
                </a:solidFill>
                <a:latin typeface="맑은 고딕"/>
                <a:ea typeface="맑은 고딕"/>
                <a:cs typeface="맑은 고딕"/>
              </a:rPr>
              <a:t>초등학생 본인 명의 가입은 원칙적으로 불가</a:t>
            </a:r>
          </a:p>
        </p:txBody>
      </p:sp>
      <p:sp>
        <p:nvSpPr>
          <p:cNvPr id="14" name="Rectangle 13"/>
          <p:cNvSpPr/>
          <p:nvPr/>
        </p:nvSpPr>
        <p:spPr>
          <a:xfrm>
            <a:off x="960120" y="3140964"/>
            <a:ext cx="1027145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59836"/>
            <a:ext cx="4663440" cy="274320"/>
          </a:xfrm>
          <a:prstGeom prst="rect">
            <a:avLst/>
          </a:prstGeom>
          <a:noFill/>
        </p:spPr>
        <p:txBody>
          <a:bodyPr wrap="square" anchor="t" lIns="0" rIns="0" tIns="0" bIns="0">
            <a:spAutoFit/>
          </a:bodyPr>
          <a:lstStyle/>
          <a:p>
            <a:pPr algn="l">
              <a:lnSpc>
                <a:spcPct val="115000"/>
              </a:lnSpc>
            </a:pPr>
            <a:r>
              <a:rPr sz="1350" b="1" u="sng">
                <a:solidFill>
                  <a:srgbClr val="1D4ED8"/>
                </a:solidFill>
                <a:latin typeface="맑은 고딕"/>
                <a:hlinkClick r:id="rId3"/>
                <a:ea typeface="맑은 고딕"/>
                <a:cs typeface="맑은 고딕"/>
              </a:rPr>
              <a:t>Gemini (Google)</a:t>
            </a:r>
          </a:p>
        </p:txBody>
      </p:sp>
      <p:sp>
        <p:nvSpPr>
          <p:cNvPr id="16" name="TextBox 15"/>
          <p:cNvSpPr txBox="1"/>
          <p:nvPr/>
        </p:nvSpPr>
        <p:spPr>
          <a:xfrm>
            <a:off x="1097280" y="3525012"/>
            <a:ext cx="4663440" cy="274320"/>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13세 미만은 보호자가 Family Link로 관리</a:t>
            </a:r>
          </a:p>
        </p:txBody>
      </p:sp>
      <p:sp>
        <p:nvSpPr>
          <p:cNvPr id="17" name="TextBox 16"/>
          <p:cNvSpPr txBox="1"/>
          <p:nvPr/>
        </p:nvSpPr>
        <p:spPr>
          <a:xfrm>
            <a:off x="6400800" y="3360420"/>
            <a:ext cx="4709160" cy="411480"/>
          </a:xfrm>
          <a:prstGeom prst="rect">
            <a:avLst/>
          </a:prstGeom>
          <a:noFill/>
        </p:spPr>
        <p:txBody>
          <a:bodyPr wrap="square" anchor="t" lIns="0" rIns="0" tIns="0" bIns="0">
            <a:spAutoFit/>
          </a:bodyPr>
          <a:lstStyle/>
          <a:p>
            <a:pPr algn="l">
              <a:lnSpc>
                <a:spcPct val="125000"/>
              </a:lnSpc>
            </a:pPr>
            <a:r>
              <a:rPr sz="1300" b="0">
                <a:solidFill>
                  <a:srgbClr val="1F2933"/>
                </a:solidFill>
                <a:latin typeface="맑은 고딕"/>
                <a:ea typeface="맑은 고딕"/>
                <a:cs typeface="맑은 고딕"/>
              </a:rPr>
              <a:t>부모 계정의 Family Link 설정이 먼저</a:t>
            </a:r>
          </a:p>
        </p:txBody>
      </p:sp>
      <p:sp>
        <p:nvSpPr>
          <p:cNvPr id="18" name="Rectangle 17"/>
          <p:cNvSpPr/>
          <p:nvPr/>
        </p:nvSpPr>
        <p:spPr>
          <a:xfrm>
            <a:off x="960120" y="3794760"/>
            <a:ext cx="1027145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13632"/>
            <a:ext cx="4663440" cy="274320"/>
          </a:xfrm>
          <a:prstGeom prst="rect">
            <a:avLst/>
          </a:prstGeom>
          <a:noFill/>
        </p:spPr>
        <p:txBody>
          <a:bodyPr wrap="square" anchor="t" lIns="0" rIns="0" tIns="0" bIns="0">
            <a:spAutoFit/>
          </a:bodyPr>
          <a:lstStyle/>
          <a:p>
            <a:pPr algn="l">
              <a:lnSpc>
                <a:spcPct val="115000"/>
              </a:lnSpc>
            </a:pPr>
            <a:r>
              <a:rPr sz="1350" b="1" u="sng">
                <a:solidFill>
                  <a:srgbClr val="1D4ED8"/>
                </a:solidFill>
                <a:latin typeface="맑은 고딕"/>
                <a:hlinkClick r:id="rId4"/>
                <a:ea typeface="맑은 고딕"/>
                <a:cs typeface="맑은 고딕"/>
              </a:rPr>
              <a:t>국내 개인정보 보호법</a:t>
            </a:r>
          </a:p>
        </p:txBody>
      </p:sp>
      <p:sp>
        <p:nvSpPr>
          <p:cNvPr id="20" name="TextBox 19"/>
          <p:cNvSpPr txBox="1"/>
          <p:nvPr/>
        </p:nvSpPr>
        <p:spPr>
          <a:xfrm>
            <a:off x="1097280" y="4178808"/>
            <a:ext cx="4663440" cy="274320"/>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14세 미만은 보호자 동의 필수</a:t>
            </a:r>
          </a:p>
        </p:txBody>
      </p:sp>
      <p:sp>
        <p:nvSpPr>
          <p:cNvPr id="21" name="TextBox 20"/>
          <p:cNvSpPr txBox="1"/>
          <p:nvPr/>
        </p:nvSpPr>
        <p:spPr>
          <a:xfrm>
            <a:off x="6400800" y="4014216"/>
            <a:ext cx="4709160" cy="411480"/>
          </a:xfrm>
          <a:prstGeom prst="rect">
            <a:avLst/>
          </a:prstGeom>
          <a:noFill/>
        </p:spPr>
        <p:txBody>
          <a:bodyPr wrap="square" anchor="t" lIns="0" rIns="0" tIns="0" bIns="0">
            <a:spAutoFit/>
          </a:bodyPr>
          <a:lstStyle/>
          <a:p>
            <a:pPr algn="l">
              <a:lnSpc>
                <a:spcPct val="125000"/>
              </a:lnSpc>
            </a:pPr>
            <a:r>
              <a:rPr sz="1300" b="0">
                <a:solidFill>
                  <a:srgbClr val="1F2933"/>
                </a:solidFill>
                <a:latin typeface="맑은 고딕"/>
                <a:ea typeface="맑은 고딕"/>
                <a:cs typeface="맑은 고딕"/>
              </a:rPr>
              <a:t>소셜 로그인도 개인정보 제3자 제공에 동의하는 것</a:t>
            </a:r>
          </a:p>
        </p:txBody>
      </p:sp>
      <p:sp>
        <p:nvSpPr>
          <p:cNvPr id="22" name="Rectangle 21"/>
          <p:cNvSpPr/>
          <p:nvPr/>
        </p:nvSpPr>
        <p:spPr>
          <a:xfrm>
            <a:off x="960120" y="4448556"/>
            <a:ext cx="1027145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567428"/>
            <a:ext cx="4663440" cy="274320"/>
          </a:xfrm>
          <a:prstGeom prst="rect">
            <a:avLst/>
          </a:prstGeom>
          <a:noFill/>
        </p:spPr>
        <p:txBody>
          <a:bodyPr wrap="square" anchor="t" lIns="0" rIns="0" tIns="0" bIns="0">
            <a:spAutoFit/>
          </a:bodyPr>
          <a:lstStyle/>
          <a:p>
            <a:pPr algn="l">
              <a:lnSpc>
                <a:spcPct val="115000"/>
              </a:lnSpc>
            </a:pPr>
            <a:r>
              <a:rPr sz="1350" b="1" u="sng">
                <a:solidFill>
                  <a:srgbClr val="1D4ED8"/>
                </a:solidFill>
                <a:latin typeface="맑은 고딕"/>
                <a:hlinkClick r:id="rId5"/>
                <a:ea typeface="맑은 고딕"/>
                <a:cs typeface="맑은 고딕"/>
              </a:rPr>
              <a:t>서울시교육청 지침</a:t>
            </a:r>
          </a:p>
        </p:txBody>
      </p:sp>
      <p:sp>
        <p:nvSpPr>
          <p:cNvPr id="24" name="TextBox 23"/>
          <p:cNvSpPr txBox="1"/>
          <p:nvPr/>
        </p:nvSpPr>
        <p:spPr>
          <a:xfrm>
            <a:off x="1097280" y="4832604"/>
            <a:ext cx="4663440" cy="274320"/>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초등은 교사 시연을 통한 간접 체험이 원칙</a:t>
            </a:r>
          </a:p>
        </p:txBody>
      </p:sp>
      <p:sp>
        <p:nvSpPr>
          <p:cNvPr id="25" name="TextBox 24"/>
          <p:cNvSpPr txBox="1"/>
          <p:nvPr/>
        </p:nvSpPr>
        <p:spPr>
          <a:xfrm>
            <a:off x="6400800" y="4668012"/>
            <a:ext cx="4709160" cy="411480"/>
          </a:xfrm>
          <a:prstGeom prst="rect">
            <a:avLst/>
          </a:prstGeom>
          <a:noFill/>
        </p:spPr>
        <p:txBody>
          <a:bodyPr wrap="square" anchor="t" lIns="0" rIns="0" tIns="0" bIns="0">
            <a:spAutoFit/>
          </a:bodyPr>
          <a:lstStyle/>
          <a:p>
            <a:pPr algn="l">
              <a:lnSpc>
                <a:spcPct val="125000"/>
              </a:lnSpc>
            </a:pPr>
            <a:r>
              <a:rPr sz="1300" b="0">
                <a:solidFill>
                  <a:srgbClr val="1F2933"/>
                </a:solidFill>
                <a:latin typeface="맑은 고딕"/>
                <a:ea typeface="맑은 고딕"/>
                <a:cs typeface="맑은 고딕"/>
              </a:rPr>
              <a:t>학교에서 쓸 때는 가정통신문 동의 절차 확인</a:t>
            </a:r>
          </a:p>
        </p:txBody>
      </p:sp>
      <p:sp>
        <p:nvSpPr>
          <p:cNvPr id="26" name="Rounded Rectangle 25"/>
          <p:cNvSpPr/>
          <p:nvPr/>
        </p:nvSpPr>
        <p:spPr>
          <a:xfrm>
            <a:off x="777240" y="5321808"/>
            <a:ext cx="10637215" cy="749808"/>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77240" y="5541264"/>
            <a:ext cx="10637215"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맑은 고딕"/>
                <a:ea typeface="맑은 고딕"/>
                <a:cs typeface="맑은 고딕"/>
              </a:rPr>
              <a:t>초등학생이 쓰는 모든 계정은 ‘부모 계정’이어야 합니다.</a:t>
            </a:r>
          </a:p>
        </p:txBody>
      </p:sp>
      <p:sp>
        <p:nvSpPr>
          <p:cNvPr id="28" name="Rectangle 27"/>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a:solidFill>
                  <a:srgbClr val="7B8894"/>
                </a:solidFill>
                <a:latin typeface="맑은 고딕"/>
                <a:ea typeface="맑은 고딕"/>
                <a:cs typeface="맑은 고딕"/>
              </a:rPr>
              <a:t>출처: 각 항목의 공식 약관·법령·교육청 지침 (2026년 9월 확인 기준) · 기준 이름을 누르면 원문으로 이동합니다</a:t>
            </a:r>
          </a:p>
        </p:txBody>
      </p:sp>
      <p:sp>
        <p:nvSpPr>
          <p:cNvPr id="30" name="TextBox 29"/>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14 / 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서비스별 이용 연령</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아이가 지금 쓸 수 있는 AI는?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그렇다면 실제로 쓸 수 있는 건 무엇인지 하나씩 보겠습니다.</a:t>
            </a:r>
          </a:p>
        </p:txBody>
      </p:sp>
      <p:sp>
        <p:nvSpPr>
          <p:cNvPr id="6" name="Rounded Rectangle 5"/>
          <p:cNvSpPr/>
          <p:nvPr/>
        </p:nvSpPr>
        <p:spPr>
          <a:xfrm>
            <a:off x="777240" y="2121408"/>
            <a:ext cx="10637215" cy="3364992"/>
          </a:xfrm>
          <a:prstGeom prst="roundRect">
            <a:avLst>
              <a:gd name="adj" fmla="val 6000"/>
            </a:avLst>
          </a:prstGeom>
          <a:solidFill>
            <a:srgbClr val="FFFFFF"/>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2121408"/>
            <a:ext cx="10637215" cy="384048"/>
          </a:xfrm>
          <a:prstGeom prst="rect">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231136"/>
            <a:ext cx="2377440"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서비스</a:t>
            </a:r>
          </a:p>
        </p:txBody>
      </p:sp>
      <p:sp>
        <p:nvSpPr>
          <p:cNvPr id="9" name="TextBox 8"/>
          <p:cNvSpPr txBox="1"/>
          <p:nvPr/>
        </p:nvSpPr>
        <p:spPr>
          <a:xfrm>
            <a:off x="3520440" y="2231136"/>
            <a:ext cx="2194560"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가입 가능 연령</a:t>
            </a:r>
          </a:p>
        </p:txBody>
      </p:sp>
      <p:sp>
        <p:nvSpPr>
          <p:cNvPr id="10" name="TextBox 9"/>
          <p:cNvSpPr txBox="1"/>
          <p:nvPr/>
        </p:nvSpPr>
        <p:spPr>
          <a:xfrm>
            <a:off x="5806440" y="2231136"/>
            <a:ext cx="1188720" cy="274320"/>
          </a:xfrm>
          <a:prstGeom prst="rect">
            <a:avLst/>
          </a:prstGeom>
          <a:noFill/>
        </p:spPr>
        <p:txBody>
          <a:bodyPr wrap="square" anchor="t" lIns="0" rIns="0" tIns="0" bIns="0">
            <a:spAutoFit/>
          </a:bodyPr>
          <a:lstStyle/>
          <a:p>
            <a:pPr algn="ctr">
              <a:lnSpc>
                <a:spcPct val="115000"/>
              </a:lnSpc>
            </a:pPr>
            <a:r>
              <a:rPr sz="1200" b="1">
                <a:solidFill>
                  <a:srgbClr val="0E7C86"/>
                </a:solidFill>
                <a:latin typeface="맑은 고딕"/>
                <a:ea typeface="맑은 고딕"/>
                <a:cs typeface="맑은 고딕"/>
              </a:rPr>
              <a:t>초등학생</a:t>
            </a:r>
          </a:p>
        </p:txBody>
      </p:sp>
      <p:sp>
        <p:nvSpPr>
          <p:cNvPr id="11" name="TextBox 10"/>
          <p:cNvSpPr txBox="1"/>
          <p:nvPr/>
        </p:nvSpPr>
        <p:spPr>
          <a:xfrm>
            <a:off x="7178040" y="2231136"/>
            <a:ext cx="3931920"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조건</a:t>
            </a:r>
          </a:p>
        </p:txBody>
      </p:sp>
      <p:sp>
        <p:nvSpPr>
          <p:cNvPr id="12" name="TextBox 11"/>
          <p:cNvSpPr txBox="1"/>
          <p:nvPr/>
        </p:nvSpPr>
        <p:spPr>
          <a:xfrm>
            <a:off x="1051560" y="259689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2"/>
                <a:ea typeface="맑은 고딕"/>
                <a:cs typeface="맑은 고딕"/>
              </a:rPr>
              <a:t>ChatGPT (OpenAI)</a:t>
            </a:r>
          </a:p>
        </p:txBody>
      </p:sp>
      <p:sp>
        <p:nvSpPr>
          <p:cNvPr id="13" name="TextBox 12"/>
          <p:cNvSpPr txBox="1"/>
          <p:nvPr/>
        </p:nvSpPr>
        <p:spPr>
          <a:xfrm>
            <a:off x="3520440" y="259689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13세 이상</a:t>
            </a:r>
          </a:p>
        </p:txBody>
      </p:sp>
      <p:sp>
        <p:nvSpPr>
          <p:cNvPr id="14" name="TextBox 13"/>
          <p:cNvSpPr txBox="1"/>
          <p:nvPr/>
        </p:nvSpPr>
        <p:spPr>
          <a:xfrm>
            <a:off x="5806440" y="2560320"/>
            <a:ext cx="1188720" cy="274320"/>
          </a:xfrm>
          <a:prstGeom prst="rect">
            <a:avLst/>
          </a:prstGeom>
          <a:noFill/>
        </p:spPr>
        <p:txBody>
          <a:bodyPr wrap="square" anchor="t" lIns="0" rIns="0" tIns="0" bIns="0">
            <a:spAutoFit/>
          </a:bodyPr>
          <a:lstStyle/>
          <a:p>
            <a:pPr algn="ctr">
              <a:lnSpc>
                <a:spcPct val="115000"/>
              </a:lnSpc>
            </a:pPr>
            <a:r>
              <a:rPr sz="1500" b="1">
                <a:solidFill>
                  <a:srgbClr val="B91C1C"/>
                </a:solidFill>
                <a:latin typeface="맑은 고딕"/>
                <a:ea typeface="맑은 고딕"/>
                <a:cs typeface="맑은 고딕"/>
              </a:rPr>
              <a:t>✕</a:t>
            </a:r>
          </a:p>
        </p:txBody>
      </p:sp>
      <p:sp>
        <p:nvSpPr>
          <p:cNvPr id="15" name="TextBox 14"/>
          <p:cNvSpPr txBox="1"/>
          <p:nvPr/>
        </p:nvSpPr>
        <p:spPr>
          <a:xfrm>
            <a:off x="7178040" y="259689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13~18세는 보호자 동의 필요</a:t>
            </a:r>
          </a:p>
        </p:txBody>
      </p:sp>
      <p:sp>
        <p:nvSpPr>
          <p:cNvPr id="16" name="TextBox 15"/>
          <p:cNvSpPr txBox="1"/>
          <p:nvPr/>
        </p:nvSpPr>
        <p:spPr>
          <a:xfrm>
            <a:off x="1051560" y="296265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3"/>
                <a:ea typeface="맑은 고딕"/>
                <a:cs typeface="맑은 고딕"/>
              </a:rPr>
              <a:t>Claude (Anthropic)</a:t>
            </a:r>
          </a:p>
        </p:txBody>
      </p:sp>
      <p:sp>
        <p:nvSpPr>
          <p:cNvPr id="17" name="TextBox 16"/>
          <p:cNvSpPr txBox="1"/>
          <p:nvPr/>
        </p:nvSpPr>
        <p:spPr>
          <a:xfrm>
            <a:off x="3520440" y="296265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18세 이상</a:t>
            </a:r>
          </a:p>
        </p:txBody>
      </p:sp>
      <p:sp>
        <p:nvSpPr>
          <p:cNvPr id="18" name="TextBox 17"/>
          <p:cNvSpPr txBox="1"/>
          <p:nvPr/>
        </p:nvSpPr>
        <p:spPr>
          <a:xfrm>
            <a:off x="5806440" y="2926080"/>
            <a:ext cx="1188720" cy="274320"/>
          </a:xfrm>
          <a:prstGeom prst="rect">
            <a:avLst/>
          </a:prstGeom>
          <a:noFill/>
        </p:spPr>
        <p:txBody>
          <a:bodyPr wrap="square" anchor="t" lIns="0" rIns="0" tIns="0" bIns="0">
            <a:spAutoFit/>
          </a:bodyPr>
          <a:lstStyle/>
          <a:p>
            <a:pPr algn="ctr">
              <a:lnSpc>
                <a:spcPct val="115000"/>
              </a:lnSpc>
            </a:pPr>
            <a:r>
              <a:rPr sz="1500" b="1">
                <a:solidFill>
                  <a:srgbClr val="B91C1C"/>
                </a:solidFill>
                <a:latin typeface="맑은 고딕"/>
                <a:ea typeface="맑은 고딕"/>
                <a:cs typeface="맑은 고딕"/>
              </a:rPr>
              <a:t>✕</a:t>
            </a:r>
          </a:p>
        </p:txBody>
      </p:sp>
      <p:sp>
        <p:nvSpPr>
          <p:cNvPr id="19" name="TextBox 18"/>
          <p:cNvSpPr txBox="1"/>
          <p:nvPr/>
        </p:nvSpPr>
        <p:spPr>
          <a:xfrm>
            <a:off x="7178040" y="296265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보호자가 동의해도 가입 불가</a:t>
            </a:r>
          </a:p>
        </p:txBody>
      </p:sp>
      <p:sp>
        <p:nvSpPr>
          <p:cNvPr id="20" name="TextBox 19"/>
          <p:cNvSpPr txBox="1"/>
          <p:nvPr/>
        </p:nvSpPr>
        <p:spPr>
          <a:xfrm>
            <a:off x="1051560" y="332841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4"/>
                <a:ea typeface="맑은 고딕"/>
                <a:cs typeface="맑은 고딕"/>
              </a:rPr>
              <a:t>Copilot (Microsoft)</a:t>
            </a:r>
          </a:p>
        </p:txBody>
      </p:sp>
      <p:sp>
        <p:nvSpPr>
          <p:cNvPr id="21" name="TextBox 20"/>
          <p:cNvSpPr txBox="1"/>
          <p:nvPr/>
        </p:nvSpPr>
        <p:spPr>
          <a:xfrm>
            <a:off x="3520440" y="332841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13세 이상</a:t>
            </a:r>
          </a:p>
        </p:txBody>
      </p:sp>
      <p:sp>
        <p:nvSpPr>
          <p:cNvPr id="22" name="TextBox 21"/>
          <p:cNvSpPr txBox="1"/>
          <p:nvPr/>
        </p:nvSpPr>
        <p:spPr>
          <a:xfrm>
            <a:off x="5806440" y="3291840"/>
            <a:ext cx="1188720" cy="274320"/>
          </a:xfrm>
          <a:prstGeom prst="rect">
            <a:avLst/>
          </a:prstGeom>
          <a:noFill/>
        </p:spPr>
        <p:txBody>
          <a:bodyPr wrap="square" anchor="t" lIns="0" rIns="0" tIns="0" bIns="0">
            <a:spAutoFit/>
          </a:bodyPr>
          <a:lstStyle/>
          <a:p>
            <a:pPr algn="ctr">
              <a:lnSpc>
                <a:spcPct val="115000"/>
              </a:lnSpc>
            </a:pPr>
            <a:r>
              <a:rPr sz="1500" b="1">
                <a:solidFill>
                  <a:srgbClr val="B91C1C"/>
                </a:solidFill>
                <a:latin typeface="맑은 고딕"/>
                <a:ea typeface="맑은 고딕"/>
                <a:cs typeface="맑은 고딕"/>
              </a:rPr>
              <a:t>✕</a:t>
            </a:r>
          </a:p>
        </p:txBody>
      </p:sp>
      <p:sp>
        <p:nvSpPr>
          <p:cNvPr id="23" name="TextBox 22"/>
          <p:cNvSpPr txBox="1"/>
          <p:nvPr/>
        </p:nvSpPr>
        <p:spPr>
          <a:xfrm>
            <a:off x="7178040" y="332841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나라마다 기준이 더 높을 수 있음</a:t>
            </a:r>
          </a:p>
        </p:txBody>
      </p:sp>
      <p:sp>
        <p:nvSpPr>
          <p:cNvPr id="24" name="TextBox 23"/>
          <p:cNvSpPr txBox="1"/>
          <p:nvPr/>
        </p:nvSpPr>
        <p:spPr>
          <a:xfrm>
            <a:off x="1051560" y="369417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5"/>
                <a:ea typeface="맑은 고딕"/>
                <a:cs typeface="맑은 고딕"/>
              </a:rPr>
              <a:t>Perplexity</a:t>
            </a:r>
          </a:p>
        </p:txBody>
      </p:sp>
      <p:sp>
        <p:nvSpPr>
          <p:cNvPr id="25" name="TextBox 24"/>
          <p:cNvSpPr txBox="1"/>
          <p:nvPr/>
        </p:nvSpPr>
        <p:spPr>
          <a:xfrm>
            <a:off x="3520440" y="369417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만 13세 이상</a:t>
            </a:r>
          </a:p>
        </p:txBody>
      </p:sp>
      <p:sp>
        <p:nvSpPr>
          <p:cNvPr id="26" name="TextBox 25"/>
          <p:cNvSpPr txBox="1"/>
          <p:nvPr/>
        </p:nvSpPr>
        <p:spPr>
          <a:xfrm>
            <a:off x="5806440" y="3657600"/>
            <a:ext cx="1188720" cy="274320"/>
          </a:xfrm>
          <a:prstGeom prst="rect">
            <a:avLst/>
          </a:prstGeom>
          <a:noFill/>
        </p:spPr>
        <p:txBody>
          <a:bodyPr wrap="square" anchor="t" lIns="0" rIns="0" tIns="0" bIns="0">
            <a:spAutoFit/>
          </a:bodyPr>
          <a:lstStyle/>
          <a:p>
            <a:pPr algn="ctr">
              <a:lnSpc>
                <a:spcPct val="115000"/>
              </a:lnSpc>
            </a:pPr>
            <a:r>
              <a:rPr sz="1500" b="1">
                <a:solidFill>
                  <a:srgbClr val="B91C1C"/>
                </a:solidFill>
                <a:latin typeface="맑은 고딕"/>
                <a:ea typeface="맑은 고딕"/>
                <a:cs typeface="맑은 고딕"/>
              </a:rPr>
              <a:t>✕</a:t>
            </a:r>
          </a:p>
        </p:txBody>
      </p:sp>
      <p:sp>
        <p:nvSpPr>
          <p:cNvPr id="27" name="TextBox 26"/>
          <p:cNvSpPr txBox="1"/>
          <p:nvPr/>
        </p:nvSpPr>
        <p:spPr>
          <a:xfrm>
            <a:off x="7178040" y="369417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13세 미만 이용 금지</a:t>
            </a:r>
          </a:p>
        </p:txBody>
      </p:sp>
      <p:sp>
        <p:nvSpPr>
          <p:cNvPr id="28" name="Rectangle 27"/>
          <p:cNvSpPr/>
          <p:nvPr/>
        </p:nvSpPr>
        <p:spPr>
          <a:xfrm>
            <a:off x="832103" y="3968496"/>
            <a:ext cx="10527487"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059935"/>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6"/>
                <a:ea typeface="맑은 고딕"/>
                <a:cs typeface="맑은 고딕"/>
              </a:rPr>
              <a:t>Gemini (Google)</a:t>
            </a:r>
          </a:p>
        </p:txBody>
      </p:sp>
      <p:sp>
        <p:nvSpPr>
          <p:cNvPr id="30" name="TextBox 29"/>
          <p:cNvSpPr txBox="1"/>
          <p:nvPr/>
        </p:nvSpPr>
        <p:spPr>
          <a:xfrm>
            <a:off x="3520440" y="4059935"/>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보호자가 허용하면</a:t>
            </a:r>
          </a:p>
        </p:txBody>
      </p:sp>
      <p:sp>
        <p:nvSpPr>
          <p:cNvPr id="31" name="TextBox 30"/>
          <p:cNvSpPr txBox="1"/>
          <p:nvPr/>
        </p:nvSpPr>
        <p:spPr>
          <a:xfrm>
            <a:off x="5806440" y="4023359"/>
            <a:ext cx="1188720" cy="274320"/>
          </a:xfrm>
          <a:prstGeom prst="rect">
            <a:avLst/>
          </a:prstGeom>
          <a:noFill/>
        </p:spPr>
        <p:txBody>
          <a:bodyPr wrap="square" anchor="t" lIns="0" rIns="0" tIns="0" bIns="0">
            <a:spAutoFit/>
          </a:bodyPr>
          <a:lstStyle/>
          <a:p>
            <a:pPr algn="ctr">
              <a:lnSpc>
                <a:spcPct val="115000"/>
              </a:lnSpc>
            </a:pPr>
            <a:r>
              <a:rPr sz="1500" b="1">
                <a:solidFill>
                  <a:srgbClr val="B45309"/>
                </a:solidFill>
                <a:latin typeface="맑은 고딕"/>
                <a:ea typeface="맑은 고딕"/>
                <a:cs typeface="맑은 고딕"/>
              </a:rPr>
              <a:t>△</a:t>
            </a:r>
          </a:p>
        </p:txBody>
      </p:sp>
      <p:sp>
        <p:nvSpPr>
          <p:cNvPr id="32" name="TextBox 31"/>
          <p:cNvSpPr txBox="1"/>
          <p:nvPr/>
        </p:nvSpPr>
        <p:spPr>
          <a:xfrm>
            <a:off x="7178040" y="4059935"/>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Family Link에서 켜고 끄기</a:t>
            </a:r>
          </a:p>
        </p:txBody>
      </p:sp>
      <p:sp>
        <p:nvSpPr>
          <p:cNvPr id="33" name="Rectangle 32"/>
          <p:cNvSpPr/>
          <p:nvPr/>
        </p:nvSpPr>
        <p:spPr>
          <a:xfrm>
            <a:off x="832103" y="4334256"/>
            <a:ext cx="10527487" cy="365760"/>
          </a:xfrm>
          <a:prstGeom prst="rect">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442569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7"/>
                <a:ea typeface="맑은 고딕"/>
                <a:cs typeface="맑은 고딕"/>
              </a:rPr>
              <a:t>뤼튼</a:t>
            </a:r>
          </a:p>
        </p:txBody>
      </p:sp>
      <p:sp>
        <p:nvSpPr>
          <p:cNvPr id="35" name="TextBox 34"/>
          <p:cNvSpPr txBox="1"/>
          <p:nvPr/>
        </p:nvSpPr>
        <p:spPr>
          <a:xfrm>
            <a:off x="3520440" y="442569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보호자 동의 시</a:t>
            </a:r>
          </a:p>
        </p:txBody>
      </p:sp>
      <p:sp>
        <p:nvSpPr>
          <p:cNvPr id="36" name="TextBox 35"/>
          <p:cNvSpPr txBox="1"/>
          <p:nvPr/>
        </p:nvSpPr>
        <p:spPr>
          <a:xfrm>
            <a:off x="5806440" y="4389120"/>
            <a:ext cx="1188720" cy="274320"/>
          </a:xfrm>
          <a:prstGeom prst="rect">
            <a:avLst/>
          </a:prstGeom>
          <a:noFill/>
        </p:spPr>
        <p:txBody>
          <a:bodyPr wrap="square" anchor="t" lIns="0" rIns="0" tIns="0" bIns="0">
            <a:spAutoFit/>
          </a:bodyPr>
          <a:lstStyle/>
          <a:p>
            <a:pPr algn="ctr">
              <a:lnSpc>
                <a:spcPct val="115000"/>
              </a:lnSpc>
            </a:pPr>
            <a:r>
              <a:rPr sz="1500" b="1">
                <a:solidFill>
                  <a:srgbClr val="B45309"/>
                </a:solidFill>
                <a:latin typeface="맑은 고딕"/>
                <a:ea typeface="맑은 고딕"/>
                <a:cs typeface="맑은 고딕"/>
              </a:rPr>
              <a:t>△</a:t>
            </a:r>
          </a:p>
        </p:txBody>
      </p:sp>
      <p:sp>
        <p:nvSpPr>
          <p:cNvPr id="37" name="TextBox 36"/>
          <p:cNvSpPr txBox="1"/>
          <p:nvPr/>
        </p:nvSpPr>
        <p:spPr>
          <a:xfrm>
            <a:off x="7178040" y="442569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가입할 때 보호자 PASS 인증</a:t>
            </a:r>
          </a:p>
        </p:txBody>
      </p:sp>
      <p:sp>
        <p:nvSpPr>
          <p:cNvPr id="38" name="Rectangle 37"/>
          <p:cNvSpPr/>
          <p:nvPr/>
        </p:nvSpPr>
        <p:spPr>
          <a:xfrm>
            <a:off x="832103" y="4700016"/>
            <a:ext cx="10527487" cy="365760"/>
          </a:xfrm>
          <a:prstGeom prst="rect">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479145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8"/>
                <a:ea typeface="맑은 고딕"/>
                <a:cs typeface="맑은 고딕"/>
              </a:rPr>
              <a:t>똑똑! 수학탐험대</a:t>
            </a:r>
          </a:p>
        </p:txBody>
      </p:sp>
      <p:sp>
        <p:nvSpPr>
          <p:cNvPr id="40" name="TextBox 39"/>
          <p:cNvSpPr txBox="1"/>
          <p:nvPr/>
        </p:nvSpPr>
        <p:spPr>
          <a:xfrm>
            <a:off x="3520440" y="479145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초 1~6학년</a:t>
            </a:r>
          </a:p>
        </p:txBody>
      </p:sp>
      <p:sp>
        <p:nvSpPr>
          <p:cNvPr id="41" name="TextBox 40"/>
          <p:cNvSpPr txBox="1"/>
          <p:nvPr/>
        </p:nvSpPr>
        <p:spPr>
          <a:xfrm>
            <a:off x="5806440" y="4754880"/>
            <a:ext cx="1188720" cy="274320"/>
          </a:xfrm>
          <a:prstGeom prst="rect">
            <a:avLst/>
          </a:prstGeom>
          <a:noFill/>
        </p:spPr>
        <p:txBody>
          <a:bodyPr wrap="square" anchor="t" lIns="0" rIns="0" tIns="0" bIns="0">
            <a:spAutoFit/>
          </a:bodyPr>
          <a:lstStyle/>
          <a:p>
            <a:pPr algn="ctr">
              <a:lnSpc>
                <a:spcPct val="115000"/>
              </a:lnSpc>
            </a:pPr>
            <a:r>
              <a:rPr sz="1500" b="1">
                <a:solidFill>
                  <a:srgbClr val="15803D"/>
                </a:solidFill>
                <a:latin typeface="맑은 고딕"/>
                <a:ea typeface="맑은 고딕"/>
                <a:cs typeface="맑은 고딕"/>
              </a:rPr>
              <a:t>○</a:t>
            </a:r>
          </a:p>
        </p:txBody>
      </p:sp>
      <p:sp>
        <p:nvSpPr>
          <p:cNvPr id="42" name="TextBox 41"/>
          <p:cNvSpPr txBox="1"/>
          <p:nvPr/>
        </p:nvSpPr>
        <p:spPr>
          <a:xfrm>
            <a:off x="7178040" y="479145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교육부 제공, 학교를 통해 이용</a:t>
            </a:r>
          </a:p>
        </p:txBody>
      </p:sp>
      <p:sp>
        <p:nvSpPr>
          <p:cNvPr id="43" name="Rectangle 42"/>
          <p:cNvSpPr/>
          <p:nvPr/>
        </p:nvSpPr>
        <p:spPr>
          <a:xfrm>
            <a:off x="832103" y="5065776"/>
            <a:ext cx="10527487" cy="365760"/>
          </a:xfrm>
          <a:prstGeom prst="rect">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157216"/>
            <a:ext cx="2377440" cy="256032"/>
          </a:xfrm>
          <a:prstGeom prst="rect">
            <a:avLst/>
          </a:prstGeom>
          <a:noFill/>
        </p:spPr>
        <p:txBody>
          <a:bodyPr wrap="square" anchor="t" lIns="0" rIns="0" tIns="0" bIns="0">
            <a:spAutoFit/>
          </a:bodyPr>
          <a:lstStyle/>
          <a:p>
            <a:pPr algn="l">
              <a:lnSpc>
                <a:spcPct val="115000"/>
              </a:lnSpc>
            </a:pPr>
            <a:r>
              <a:rPr sz="1200" b="1" u="sng">
                <a:solidFill>
                  <a:srgbClr val="1D4ED8"/>
                </a:solidFill>
                <a:latin typeface="맑은 고딕"/>
                <a:hlinkClick r:id="rId9"/>
                <a:ea typeface="맑은 고딕"/>
                <a:cs typeface="맑은 고딕"/>
              </a:rPr>
              <a:t>AI펭톡</a:t>
            </a:r>
          </a:p>
        </p:txBody>
      </p:sp>
      <p:sp>
        <p:nvSpPr>
          <p:cNvPr id="45" name="TextBox 44"/>
          <p:cNvSpPr txBox="1"/>
          <p:nvPr/>
        </p:nvSpPr>
        <p:spPr>
          <a:xfrm>
            <a:off x="3520440" y="5157216"/>
            <a:ext cx="2194560" cy="256032"/>
          </a:xfrm>
          <a:prstGeom prst="rect">
            <a:avLst/>
          </a:prstGeom>
          <a:noFill/>
        </p:spPr>
        <p:txBody>
          <a:bodyPr wrap="square" anchor="t" lIns="0" rIns="0" tIns="0" bIns="0">
            <a:spAutoFit/>
          </a:bodyPr>
          <a:lstStyle/>
          <a:p>
            <a:pPr algn="l">
              <a:lnSpc>
                <a:spcPct val="115000"/>
              </a:lnSpc>
            </a:pPr>
            <a:r>
              <a:rPr sz="1200" b="0">
                <a:solidFill>
                  <a:srgbClr val="3E4C59"/>
                </a:solidFill>
                <a:latin typeface="맑은 고딕"/>
                <a:ea typeface="맑은 고딕"/>
                <a:cs typeface="맑은 고딕"/>
              </a:rPr>
              <a:t>초 3~6학년</a:t>
            </a:r>
          </a:p>
        </p:txBody>
      </p:sp>
      <p:sp>
        <p:nvSpPr>
          <p:cNvPr id="46" name="TextBox 45"/>
          <p:cNvSpPr txBox="1"/>
          <p:nvPr/>
        </p:nvSpPr>
        <p:spPr>
          <a:xfrm>
            <a:off x="5806440" y="5120640"/>
            <a:ext cx="1188720" cy="274320"/>
          </a:xfrm>
          <a:prstGeom prst="rect">
            <a:avLst/>
          </a:prstGeom>
          <a:noFill/>
        </p:spPr>
        <p:txBody>
          <a:bodyPr wrap="square" anchor="t" lIns="0" rIns="0" tIns="0" bIns="0">
            <a:spAutoFit/>
          </a:bodyPr>
          <a:lstStyle/>
          <a:p>
            <a:pPr algn="ctr">
              <a:lnSpc>
                <a:spcPct val="115000"/>
              </a:lnSpc>
            </a:pPr>
            <a:r>
              <a:rPr sz="1500" b="1">
                <a:solidFill>
                  <a:srgbClr val="15803D"/>
                </a:solidFill>
                <a:latin typeface="맑은 고딕"/>
                <a:ea typeface="맑은 고딕"/>
                <a:cs typeface="맑은 고딕"/>
              </a:rPr>
              <a:t>○</a:t>
            </a:r>
          </a:p>
        </p:txBody>
      </p:sp>
      <p:sp>
        <p:nvSpPr>
          <p:cNvPr id="47" name="TextBox 46"/>
          <p:cNvSpPr txBox="1"/>
          <p:nvPr/>
        </p:nvSpPr>
        <p:spPr>
          <a:xfrm>
            <a:off x="7178040" y="5157216"/>
            <a:ext cx="3931920" cy="256032"/>
          </a:xfrm>
          <a:prstGeom prst="rect">
            <a:avLst/>
          </a:prstGeom>
          <a:noFill/>
        </p:spPr>
        <p:txBody>
          <a:bodyPr wrap="square" anchor="t" lIns="0" rIns="0" tIns="0" bIns="0">
            <a:spAutoFit/>
          </a:bodyPr>
          <a:lstStyle/>
          <a:p>
            <a:pPr algn="l">
              <a:lnSpc>
                <a:spcPct val="115000"/>
              </a:lnSpc>
            </a:pPr>
            <a:r>
              <a:rPr sz="1150" b="0">
                <a:solidFill>
                  <a:srgbClr val="7B8894"/>
                </a:solidFill>
                <a:latin typeface="맑은 고딕"/>
                <a:ea typeface="맑은 고딕"/>
                <a:cs typeface="맑은 고딕"/>
              </a:rPr>
              <a:t>교육부·EBS 제공, 영어 말하기</a:t>
            </a:r>
          </a:p>
        </p:txBody>
      </p:sp>
      <p:sp>
        <p:nvSpPr>
          <p:cNvPr id="48" name="Rounded Rectangle 47"/>
          <p:cNvSpPr/>
          <p:nvPr/>
        </p:nvSpPr>
        <p:spPr>
          <a:xfrm>
            <a:off x="777240" y="5596127"/>
            <a:ext cx="10637215" cy="71323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143000" y="5779008"/>
            <a:ext cx="9905695" cy="41148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지금 초등학생이 쓸 수 있는 건 대부분 </a:t>
            </a:r>
            <a:r>
              <a:rPr sz="1450" b="1">
                <a:solidFill>
                  <a:srgbClr val="1D4ED8"/>
                </a:solidFill>
                <a:latin typeface="맑은 고딕"/>
                <a:ea typeface="맑은 고딕"/>
                <a:cs typeface="맑은 고딕"/>
              </a:rPr>
              <a:t>학교가 주는 학습 서비스</a:t>
            </a:r>
            <a:r>
              <a:rPr sz="1450" b="0">
                <a:solidFill>
                  <a:srgbClr val="3E4C59"/>
                </a:solidFill>
                <a:latin typeface="맑은 고딕"/>
                <a:ea typeface="맑은 고딕"/>
                <a:cs typeface="맑은 고딕"/>
              </a:rPr>
              <a:t>입니다. 나머지는 보호자 계정과 관리가 있어야 합니다.</a:t>
            </a:r>
          </a:p>
        </p:txBody>
      </p:sp>
      <p:sp>
        <p:nvSpPr>
          <p:cNvPr id="50" name="Rectangle 4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a:solidFill>
                  <a:srgbClr val="7B8894"/>
                </a:solidFill>
                <a:latin typeface="맑은 고딕"/>
                <a:ea typeface="맑은 고딕"/>
                <a:cs typeface="맑은 고딕"/>
              </a:rPr>
              <a:t>각 서비스 공식 약관·고객센터 (2026년 9월 확인 기준) · 서비스 이름을 누르면 해당 안내로 이동합니다</a:t>
            </a:r>
          </a:p>
        </p:txBody>
      </p:sp>
      <p:sp>
        <p:nvSpPr>
          <p:cNvPr id="52" name="TextBox 51"/>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15 / 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사용 설정</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Family Link에서 제미나이 켜는 방법</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허용하기로 정하셨다면, 부모 휴대폰에서 이 순서로 설정합니다.</a:t>
            </a:r>
          </a:p>
        </p:txBody>
      </p:sp>
      <p:sp>
        <p:nvSpPr>
          <p:cNvPr id="6" name="Rounded Rectangle 5"/>
          <p:cNvSpPr/>
          <p:nvPr/>
        </p:nvSpPr>
        <p:spPr>
          <a:xfrm>
            <a:off x="777240" y="2240280"/>
            <a:ext cx="1847088"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508760" y="246888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53288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868680" y="3017520"/>
            <a:ext cx="1664208" cy="457200"/>
          </a:xfrm>
          <a:prstGeom prst="rect">
            <a:avLst/>
          </a:prstGeom>
          <a:noFill/>
        </p:spPr>
        <p:txBody>
          <a:bodyPr wrap="square" anchor="t" lIns="0" rIns="0" tIns="0" bIns="0">
            <a:spAutoFit/>
          </a:bodyPr>
          <a:lstStyle/>
          <a:p>
            <a:pPr algn="ctr">
              <a:lnSpc>
                <a:spcPct val="115000"/>
              </a:lnSpc>
            </a:pPr>
            <a:r>
              <a:rPr sz="1350" b="1">
                <a:solidFill>
                  <a:srgbClr val="1F2933"/>
                </a:solidFill>
                <a:latin typeface="맑은 고딕"/>
                <a:ea typeface="맑은 고딕"/>
                <a:cs typeface="맑은 고딕"/>
              </a:rPr>
              <a:t>Family Link 앱 열기</a:t>
            </a:r>
          </a:p>
        </p:txBody>
      </p:sp>
      <p:sp>
        <p:nvSpPr>
          <p:cNvPr id="10" name="TextBox 9"/>
          <p:cNvSpPr txBox="1"/>
          <p:nvPr/>
        </p:nvSpPr>
        <p:spPr>
          <a:xfrm>
            <a:off x="868680" y="3493008"/>
            <a:ext cx="1664208" cy="45720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부모 휴대폰에서</a:t>
            </a:r>
          </a:p>
          <a:p>
            <a:pPr algn="ctr">
              <a:lnSpc>
                <a:spcPct val="125000"/>
              </a:lnSpc>
            </a:pPr>
            <a:r>
              <a:rPr sz="1150" b="0">
                <a:solidFill>
                  <a:srgbClr val="3E4C59"/>
                </a:solidFill>
                <a:latin typeface="맑은 고딕"/>
                <a:ea typeface="맑은 고딕"/>
                <a:cs typeface="맑은 고딕"/>
              </a:rPr>
              <a:t>앱을 실행합니다</a:t>
            </a:r>
          </a:p>
        </p:txBody>
      </p:sp>
      <p:sp>
        <p:nvSpPr>
          <p:cNvPr id="11" name="Right Arrow 10"/>
          <p:cNvSpPr/>
          <p:nvPr/>
        </p:nvSpPr>
        <p:spPr>
          <a:xfrm>
            <a:off x="2653245"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4771" y="2240280"/>
            <a:ext cx="1847088"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706291" y="246888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6291" y="253288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5" name="TextBox 14"/>
          <p:cNvSpPr txBox="1"/>
          <p:nvPr/>
        </p:nvSpPr>
        <p:spPr>
          <a:xfrm>
            <a:off x="3066211" y="3017520"/>
            <a:ext cx="1664208" cy="457200"/>
          </a:xfrm>
          <a:prstGeom prst="rect">
            <a:avLst/>
          </a:prstGeom>
          <a:noFill/>
        </p:spPr>
        <p:txBody>
          <a:bodyPr wrap="square" anchor="t" lIns="0" rIns="0" tIns="0" bIns="0">
            <a:spAutoFit/>
          </a:bodyPr>
          <a:lstStyle/>
          <a:p>
            <a:pPr algn="ctr">
              <a:lnSpc>
                <a:spcPct val="115000"/>
              </a:lnSpc>
            </a:pPr>
            <a:r>
              <a:rPr sz="1350" b="1">
                <a:solidFill>
                  <a:srgbClr val="1F2933"/>
                </a:solidFill>
                <a:latin typeface="맑은 고딕"/>
                <a:ea typeface="맑은 고딕"/>
                <a:cs typeface="맑은 고딕"/>
              </a:rPr>
              <a:t>자녀 프로필 선택</a:t>
            </a:r>
          </a:p>
        </p:txBody>
      </p:sp>
      <p:sp>
        <p:nvSpPr>
          <p:cNvPr id="16" name="TextBox 15"/>
          <p:cNvSpPr txBox="1"/>
          <p:nvPr/>
        </p:nvSpPr>
        <p:spPr>
          <a:xfrm>
            <a:off x="3066211" y="3493008"/>
            <a:ext cx="1664208" cy="45720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제미나이를 쓸</a:t>
            </a:r>
          </a:p>
          <a:p>
            <a:pPr algn="ctr">
              <a:lnSpc>
                <a:spcPct val="125000"/>
              </a:lnSpc>
            </a:pPr>
            <a:r>
              <a:rPr sz="1150" b="0">
                <a:solidFill>
                  <a:srgbClr val="3E4C59"/>
                </a:solidFill>
                <a:latin typeface="맑은 고딕"/>
                <a:ea typeface="맑은 고딕"/>
                <a:cs typeface="맑은 고딕"/>
              </a:rPr>
              <a:t>아이를 고릅니다</a:t>
            </a:r>
          </a:p>
        </p:txBody>
      </p:sp>
      <p:sp>
        <p:nvSpPr>
          <p:cNvPr id="17" name="Right Arrow 16"/>
          <p:cNvSpPr/>
          <p:nvPr/>
        </p:nvSpPr>
        <p:spPr>
          <a:xfrm>
            <a:off x="4850777"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72303" y="2240280"/>
            <a:ext cx="1847088"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903823" y="246888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03823" y="253288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21" name="TextBox 20"/>
          <p:cNvSpPr txBox="1"/>
          <p:nvPr/>
        </p:nvSpPr>
        <p:spPr>
          <a:xfrm>
            <a:off x="5263743" y="3017520"/>
            <a:ext cx="1664208" cy="457200"/>
          </a:xfrm>
          <a:prstGeom prst="rect">
            <a:avLst/>
          </a:prstGeom>
          <a:noFill/>
        </p:spPr>
        <p:txBody>
          <a:bodyPr wrap="square" anchor="t" lIns="0" rIns="0" tIns="0" bIns="0">
            <a:spAutoFit/>
          </a:bodyPr>
          <a:lstStyle/>
          <a:p>
            <a:pPr algn="ctr">
              <a:lnSpc>
                <a:spcPct val="115000"/>
              </a:lnSpc>
            </a:pPr>
            <a:r>
              <a:rPr sz="1350" b="1">
                <a:solidFill>
                  <a:srgbClr val="1F2933"/>
                </a:solidFill>
                <a:latin typeface="맑은 고딕"/>
                <a:ea typeface="맑은 고딕"/>
                <a:cs typeface="맑은 고딕"/>
              </a:rPr>
              <a:t>설정(Controls)</a:t>
            </a:r>
          </a:p>
        </p:txBody>
      </p:sp>
      <p:sp>
        <p:nvSpPr>
          <p:cNvPr id="22" name="TextBox 21"/>
          <p:cNvSpPr txBox="1"/>
          <p:nvPr/>
        </p:nvSpPr>
        <p:spPr>
          <a:xfrm>
            <a:off x="5263743" y="3493008"/>
            <a:ext cx="1664208" cy="45720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메뉴에서 설정</a:t>
            </a:r>
          </a:p>
          <a:p>
            <a:pPr algn="ctr">
              <a:lnSpc>
                <a:spcPct val="125000"/>
              </a:lnSpc>
            </a:pPr>
            <a:r>
              <a:rPr sz="1150" b="0">
                <a:solidFill>
                  <a:srgbClr val="3E4C59"/>
                </a:solidFill>
                <a:latin typeface="맑은 고딕"/>
                <a:ea typeface="맑은 고딕"/>
                <a:cs typeface="맑은 고딕"/>
              </a:rPr>
              <a:t>항목을 엽니다</a:t>
            </a:r>
          </a:p>
        </p:txBody>
      </p:sp>
      <p:sp>
        <p:nvSpPr>
          <p:cNvPr id="23" name="Right Arrow 22"/>
          <p:cNvSpPr/>
          <p:nvPr/>
        </p:nvSpPr>
        <p:spPr>
          <a:xfrm>
            <a:off x="7048309"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9835" y="2240280"/>
            <a:ext cx="1847088" cy="17830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101355" y="246888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355" y="253288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4</a:t>
            </a:r>
          </a:p>
        </p:txBody>
      </p:sp>
      <p:sp>
        <p:nvSpPr>
          <p:cNvPr id="27" name="TextBox 26"/>
          <p:cNvSpPr txBox="1"/>
          <p:nvPr/>
        </p:nvSpPr>
        <p:spPr>
          <a:xfrm>
            <a:off x="7461275" y="3017520"/>
            <a:ext cx="1664208" cy="457200"/>
          </a:xfrm>
          <a:prstGeom prst="rect">
            <a:avLst/>
          </a:prstGeom>
          <a:noFill/>
        </p:spPr>
        <p:txBody>
          <a:bodyPr wrap="square" anchor="t" lIns="0" rIns="0" tIns="0" bIns="0">
            <a:spAutoFit/>
          </a:bodyPr>
          <a:lstStyle/>
          <a:p>
            <a:pPr algn="ctr">
              <a:lnSpc>
                <a:spcPct val="115000"/>
              </a:lnSpc>
            </a:pPr>
            <a:r>
              <a:rPr sz="1350" b="1">
                <a:solidFill>
                  <a:srgbClr val="1F2933"/>
                </a:solidFill>
                <a:latin typeface="맑은 고딕"/>
                <a:ea typeface="맑은 고딕"/>
                <a:cs typeface="맑은 고딕"/>
              </a:rPr>
              <a:t>제미나이(Gemini)</a:t>
            </a:r>
          </a:p>
        </p:txBody>
      </p:sp>
      <p:sp>
        <p:nvSpPr>
          <p:cNvPr id="28" name="TextBox 27"/>
          <p:cNvSpPr txBox="1"/>
          <p:nvPr/>
        </p:nvSpPr>
        <p:spPr>
          <a:xfrm>
            <a:off x="7461275" y="3493008"/>
            <a:ext cx="1664208" cy="45720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목록에서 해당</a:t>
            </a:r>
          </a:p>
          <a:p>
            <a:pPr algn="ctr">
              <a:lnSpc>
                <a:spcPct val="125000"/>
              </a:lnSpc>
            </a:pPr>
            <a:r>
              <a:rPr sz="1150" b="0">
                <a:solidFill>
                  <a:srgbClr val="3E4C59"/>
                </a:solidFill>
                <a:latin typeface="맑은 고딕"/>
                <a:ea typeface="맑은 고딕"/>
                <a:cs typeface="맑은 고딕"/>
              </a:rPr>
              <a:t>메뉴를 찾습니다</a:t>
            </a:r>
          </a:p>
        </p:txBody>
      </p:sp>
      <p:sp>
        <p:nvSpPr>
          <p:cNvPr id="29" name="Right Arrow 28"/>
          <p:cNvSpPr/>
          <p:nvPr/>
        </p:nvSpPr>
        <p:spPr>
          <a:xfrm>
            <a:off x="9245841"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67367" y="2240280"/>
            <a:ext cx="1847088" cy="17830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0298887" y="2468880"/>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98887" y="253288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5</a:t>
            </a:r>
          </a:p>
        </p:txBody>
      </p:sp>
      <p:sp>
        <p:nvSpPr>
          <p:cNvPr id="33" name="TextBox 32"/>
          <p:cNvSpPr txBox="1"/>
          <p:nvPr/>
        </p:nvSpPr>
        <p:spPr>
          <a:xfrm>
            <a:off x="9658807" y="3017520"/>
            <a:ext cx="1664208" cy="457200"/>
          </a:xfrm>
          <a:prstGeom prst="rect">
            <a:avLst/>
          </a:prstGeom>
          <a:noFill/>
        </p:spPr>
        <p:txBody>
          <a:bodyPr wrap="square" anchor="t" lIns="0" rIns="0" tIns="0" bIns="0">
            <a:spAutoFit/>
          </a:bodyPr>
          <a:lstStyle/>
          <a:p>
            <a:pPr algn="ctr">
              <a:lnSpc>
                <a:spcPct val="115000"/>
              </a:lnSpc>
            </a:pPr>
            <a:r>
              <a:rPr sz="1350" b="1">
                <a:solidFill>
                  <a:srgbClr val="1F2933"/>
                </a:solidFill>
                <a:latin typeface="맑은 고딕"/>
                <a:ea typeface="맑은 고딕"/>
                <a:cs typeface="맑은 고딕"/>
              </a:rPr>
              <a:t>스위치 켜기</a:t>
            </a:r>
          </a:p>
        </p:txBody>
      </p:sp>
      <p:sp>
        <p:nvSpPr>
          <p:cNvPr id="34" name="TextBox 33"/>
          <p:cNvSpPr txBox="1"/>
          <p:nvPr/>
        </p:nvSpPr>
        <p:spPr>
          <a:xfrm>
            <a:off x="9658807" y="3493008"/>
            <a:ext cx="1664208" cy="45720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Gemini 앱을</a:t>
            </a:r>
          </a:p>
          <a:p>
            <a:pPr algn="ctr">
              <a:lnSpc>
                <a:spcPct val="125000"/>
              </a:lnSpc>
            </a:pPr>
            <a:r>
              <a:rPr sz="1150" b="0">
                <a:solidFill>
                  <a:srgbClr val="3E4C59"/>
                </a:solidFill>
                <a:latin typeface="맑은 고딕"/>
                <a:ea typeface="맑은 고딕"/>
                <a:cs typeface="맑은 고딕"/>
              </a:rPr>
              <a:t>‘켬(On)’으로</a:t>
            </a:r>
          </a:p>
        </p:txBody>
      </p:sp>
      <p:sp>
        <p:nvSpPr>
          <p:cNvPr id="35" name="Rounded Rectangle 34"/>
          <p:cNvSpPr/>
          <p:nvPr/>
        </p:nvSpPr>
        <p:spPr>
          <a:xfrm>
            <a:off x="777240" y="4251960"/>
            <a:ext cx="10637215" cy="1024128"/>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143000" y="4434840"/>
            <a:ext cx="4114800" cy="274320"/>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켜기 전에 아이와 함께 정하세요</a:t>
            </a:r>
          </a:p>
        </p:txBody>
      </p:sp>
      <p:sp>
        <p:nvSpPr>
          <p:cNvPr id="37" name="TextBox 36"/>
          <p:cNvSpPr txBox="1"/>
          <p:nvPr/>
        </p:nvSpPr>
        <p:spPr>
          <a:xfrm>
            <a:off x="1143000" y="4800600"/>
            <a:ext cx="3119018" cy="320040"/>
          </a:xfrm>
          <a:prstGeom prst="rect">
            <a:avLst/>
          </a:prstGeom>
          <a:noFill/>
        </p:spPr>
        <p:txBody>
          <a:bodyPr wrap="square" anchor="t" lIns="0" rIns="0" tIns="0" bIns="0">
            <a:spAutoFit/>
          </a:bodyPr>
          <a:lstStyle/>
          <a:p>
            <a:pPr algn="l">
              <a:lnSpc>
                <a:spcPct val="115000"/>
              </a:lnSpc>
            </a:pPr>
            <a:r>
              <a:rPr sz="1400" b="0">
                <a:solidFill>
                  <a:srgbClr val="1F2933"/>
                </a:solidFill>
                <a:latin typeface="맑은 고딕"/>
                <a:ea typeface="맑은 고딕"/>
                <a:cs typeface="맑은 고딕"/>
              </a:rPr>
              <a:t>· 무엇을 알아볼 때 쓸지</a:t>
            </a:r>
          </a:p>
        </p:txBody>
      </p:sp>
      <p:sp>
        <p:nvSpPr>
          <p:cNvPr id="38" name="TextBox 37"/>
          <p:cNvSpPr txBox="1"/>
          <p:nvPr/>
        </p:nvSpPr>
        <p:spPr>
          <a:xfrm>
            <a:off x="4444898" y="4800600"/>
            <a:ext cx="3119018" cy="320040"/>
          </a:xfrm>
          <a:prstGeom prst="rect">
            <a:avLst/>
          </a:prstGeom>
          <a:noFill/>
        </p:spPr>
        <p:txBody>
          <a:bodyPr wrap="square" anchor="t" lIns="0" rIns="0" tIns="0" bIns="0">
            <a:spAutoFit/>
          </a:bodyPr>
          <a:lstStyle/>
          <a:p>
            <a:pPr algn="l">
              <a:lnSpc>
                <a:spcPct val="115000"/>
              </a:lnSpc>
            </a:pPr>
            <a:r>
              <a:rPr sz="1400" b="0">
                <a:solidFill>
                  <a:srgbClr val="1F2933"/>
                </a:solidFill>
                <a:latin typeface="맑은 고딕"/>
                <a:ea typeface="맑은 고딕"/>
                <a:cs typeface="맑은 고딕"/>
              </a:rPr>
              <a:t>· 어떤 정보는 넣지 않을지</a:t>
            </a:r>
          </a:p>
        </p:txBody>
      </p:sp>
      <p:sp>
        <p:nvSpPr>
          <p:cNvPr id="39" name="TextBox 38"/>
          <p:cNvSpPr txBox="1"/>
          <p:nvPr/>
        </p:nvSpPr>
        <p:spPr>
          <a:xfrm>
            <a:off x="7746796" y="4800600"/>
            <a:ext cx="3119018" cy="320040"/>
          </a:xfrm>
          <a:prstGeom prst="rect">
            <a:avLst/>
          </a:prstGeom>
          <a:noFill/>
        </p:spPr>
        <p:txBody>
          <a:bodyPr wrap="square" anchor="t" lIns="0" rIns="0" tIns="0" bIns="0">
            <a:spAutoFit/>
          </a:bodyPr>
          <a:lstStyle/>
          <a:p>
            <a:pPr algn="l">
              <a:lnSpc>
                <a:spcPct val="115000"/>
              </a:lnSpc>
            </a:pPr>
            <a:r>
              <a:rPr sz="1400" b="0">
                <a:solidFill>
                  <a:srgbClr val="1F2933"/>
                </a:solidFill>
                <a:latin typeface="맑은 고딕"/>
                <a:ea typeface="맑은 고딕"/>
                <a:cs typeface="맑은 고딕"/>
              </a:rPr>
              <a:t>· 언제 끝낼지</a:t>
            </a:r>
          </a:p>
        </p:txBody>
      </p:sp>
      <p:sp>
        <p:nvSpPr>
          <p:cNvPr id="40" name="Rounded Rectangle 39"/>
          <p:cNvSpPr/>
          <p:nvPr/>
        </p:nvSpPr>
        <p:spPr>
          <a:xfrm>
            <a:off x="777240" y="5440680"/>
            <a:ext cx="10637215" cy="7315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143000" y="5605272"/>
            <a:ext cx="9905695" cy="457200"/>
          </a:xfrm>
          <a:prstGeom prst="rect">
            <a:avLst/>
          </a:prstGeom>
          <a:noFill/>
        </p:spPr>
        <p:txBody>
          <a:bodyPr wrap="square" anchor="t" lIns="0" rIns="0" tIns="0" bIns="0">
            <a:spAutoFit/>
          </a:bodyPr>
          <a:lstStyle/>
          <a:p>
            <a:pPr algn="l">
              <a:lnSpc>
                <a:spcPct val="130000"/>
              </a:lnSpc>
            </a:pPr>
            <a:r>
              <a:rPr sz="1250" b="0">
                <a:solidFill>
                  <a:srgbClr val="7B8894"/>
                </a:solidFill>
                <a:latin typeface="맑은 고딕"/>
                <a:ea typeface="맑은 고딕"/>
                <a:cs typeface="맑은 고딕"/>
              </a:rPr>
              <a:t>메뉴 이름은 앱 버전에 따라 조금씩 다를 수 있습니다. 설정이 반영되는 데 몇 시간 걸리고,</a:t>
            </a:r>
          </a:p>
          <a:p>
            <a:pPr algn="l">
              <a:lnSpc>
                <a:spcPct val="130000"/>
              </a:lnSpc>
            </a:pPr>
            <a:r>
              <a:rPr sz="1250" b="0">
                <a:solidFill>
                  <a:srgbClr val="7B8894"/>
                </a:solidFill>
                <a:latin typeface="맑은 고딕"/>
                <a:ea typeface="맑은 고딕"/>
                <a:cs typeface="맑은 고딕"/>
              </a:rPr>
              <a:t>계정에 따라 아직 제미나이가 지원되지 않을 수도 있습니다.</a:t>
            </a:r>
          </a:p>
        </p:txBody>
      </p:sp>
      <p:sp>
        <p:nvSpPr>
          <p:cNvPr id="42" name="Rectangle 4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Google For Families 고객센터 「자녀의 Gemini 앱 사용 관리하기」</a:t>
            </a:r>
          </a:p>
        </p:txBody>
      </p:sp>
      <p:sp>
        <p:nvSpPr>
          <p:cNvPr id="44" name="TextBox 4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16 / 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가정 기준 만들기</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집 AI 사용 신호등</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세 가지 색으로 나누면 아이도 바로 이해합니다.</a:t>
            </a:r>
          </a:p>
        </p:txBody>
      </p:sp>
      <p:sp>
        <p:nvSpPr>
          <p:cNvPr id="6" name="Rounded Rectangle 5"/>
          <p:cNvSpPr/>
          <p:nvPr/>
        </p:nvSpPr>
        <p:spPr>
          <a:xfrm>
            <a:off x="777240" y="2176272"/>
            <a:ext cx="3291840" cy="3246120"/>
          </a:xfrm>
          <a:prstGeom prst="roundRect">
            <a:avLst>
              <a:gd name="adj" fmla="val 8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69848" y="2423160"/>
            <a:ext cx="384048" cy="38404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8488" y="2450592"/>
            <a:ext cx="1463040" cy="320040"/>
          </a:xfrm>
          <a:prstGeom prst="rect">
            <a:avLst/>
          </a:prstGeom>
          <a:noFill/>
        </p:spPr>
        <p:txBody>
          <a:bodyPr wrap="square" anchor="t" lIns="0" rIns="0" tIns="0" bIns="0">
            <a:spAutoFit/>
          </a:bodyPr>
          <a:lstStyle/>
          <a:p>
            <a:pPr algn="l">
              <a:lnSpc>
                <a:spcPct val="115000"/>
              </a:lnSpc>
            </a:pPr>
            <a:r>
              <a:rPr sz="1700" b="1">
                <a:solidFill>
                  <a:srgbClr val="15803D"/>
                </a:solidFill>
                <a:latin typeface="맑은 고딕"/>
                <a:ea typeface="맑은 고딕"/>
                <a:cs typeface="맑은 고딕"/>
              </a:rPr>
              <a:t>초록</a:t>
            </a:r>
          </a:p>
        </p:txBody>
      </p:sp>
      <p:sp>
        <p:nvSpPr>
          <p:cNvPr id="9" name="TextBox 8"/>
          <p:cNvSpPr txBox="1"/>
          <p:nvPr/>
        </p:nvSpPr>
        <p:spPr>
          <a:xfrm>
            <a:off x="1069848" y="2999232"/>
            <a:ext cx="2706624"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그냥 해도 됩니다</a:t>
            </a:r>
          </a:p>
        </p:txBody>
      </p:sp>
      <p:sp>
        <p:nvSpPr>
          <p:cNvPr id="10" name="TextBox 9"/>
          <p:cNvSpPr txBox="1"/>
          <p:nvPr/>
        </p:nvSpPr>
        <p:spPr>
          <a:xfrm>
            <a:off x="1069848" y="3456432"/>
            <a:ext cx="2706624" cy="173736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모르는 낱말·개념 설명 듣기</a:t>
            </a:r>
          </a:p>
          <a:p>
            <a:pPr algn="l">
              <a:lnSpc>
                <a:spcPct val="130000"/>
              </a:lnSpc>
              <a:spcAft>
                <a:spcPts val="600"/>
              </a:spcAft>
            </a:pPr>
            <a:r>
              <a:rPr sz="1300" b="0">
                <a:solidFill>
                  <a:srgbClr val="3E4C59"/>
                </a:solidFill>
                <a:latin typeface="맑은 고딕"/>
                <a:ea typeface="맑은 고딕"/>
                <a:cs typeface="맑은 고딕"/>
              </a:rPr>
              <a:t>· 내가 쓴 글에 대한 피드백 받기</a:t>
            </a:r>
          </a:p>
          <a:p>
            <a:pPr algn="l">
              <a:lnSpc>
                <a:spcPct val="130000"/>
              </a:lnSpc>
              <a:spcAft>
                <a:spcPts val="600"/>
              </a:spcAft>
            </a:pPr>
            <a:r>
              <a:rPr sz="1300" b="0">
                <a:solidFill>
                  <a:srgbClr val="3E4C59"/>
                </a:solidFill>
                <a:latin typeface="맑은 고딕"/>
                <a:ea typeface="맑은 고딕"/>
                <a:cs typeface="맑은 고딕"/>
              </a:rPr>
              <a:t>· 문제의 첫 번째 힌트만 받기</a:t>
            </a:r>
          </a:p>
          <a:p>
            <a:pPr algn="l">
              <a:lnSpc>
                <a:spcPct val="130000"/>
              </a:lnSpc>
              <a:spcAft>
                <a:spcPts val="600"/>
              </a:spcAft>
            </a:pPr>
            <a:r>
              <a:rPr sz="1300" b="0">
                <a:solidFill>
                  <a:srgbClr val="3E4C59"/>
                </a:solidFill>
                <a:latin typeface="맑은 고딕"/>
                <a:ea typeface="맑은 고딕"/>
                <a:cs typeface="맑은 고딕"/>
              </a:rPr>
              <a:t>· 아이디어를 넓히는 질문 받기</a:t>
            </a:r>
          </a:p>
        </p:txBody>
      </p:sp>
      <p:sp>
        <p:nvSpPr>
          <p:cNvPr id="11" name="Rounded Rectangle 10"/>
          <p:cNvSpPr/>
          <p:nvPr/>
        </p:nvSpPr>
        <p:spPr>
          <a:xfrm>
            <a:off x="4453128" y="2176272"/>
            <a:ext cx="3291840" cy="3246120"/>
          </a:xfrm>
          <a:prstGeom prst="roundRect">
            <a:avLst>
              <a:gd name="adj" fmla="val 8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4745736" y="2423160"/>
            <a:ext cx="384048" cy="38404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4376" y="2450592"/>
            <a:ext cx="1463040" cy="320040"/>
          </a:xfrm>
          <a:prstGeom prst="rect">
            <a:avLst/>
          </a:prstGeom>
          <a:noFill/>
        </p:spPr>
        <p:txBody>
          <a:bodyPr wrap="square" anchor="t" lIns="0" rIns="0" tIns="0" bIns="0">
            <a:spAutoFit/>
          </a:bodyPr>
          <a:lstStyle/>
          <a:p>
            <a:pPr algn="l">
              <a:lnSpc>
                <a:spcPct val="115000"/>
              </a:lnSpc>
            </a:pPr>
            <a:r>
              <a:rPr sz="1700" b="1">
                <a:solidFill>
                  <a:srgbClr val="B45309"/>
                </a:solidFill>
                <a:latin typeface="맑은 고딕"/>
                <a:ea typeface="맑은 고딕"/>
                <a:cs typeface="맑은 고딕"/>
              </a:rPr>
              <a:t>노랑</a:t>
            </a:r>
          </a:p>
        </p:txBody>
      </p:sp>
      <p:sp>
        <p:nvSpPr>
          <p:cNvPr id="14" name="TextBox 13"/>
          <p:cNvSpPr txBox="1"/>
          <p:nvPr/>
        </p:nvSpPr>
        <p:spPr>
          <a:xfrm>
            <a:off x="4745736" y="2999232"/>
            <a:ext cx="2706624"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물어보고 씁니다</a:t>
            </a:r>
          </a:p>
        </p:txBody>
      </p:sp>
      <p:sp>
        <p:nvSpPr>
          <p:cNvPr id="15" name="TextBox 14"/>
          <p:cNvSpPr txBox="1"/>
          <p:nvPr/>
        </p:nvSpPr>
        <p:spPr>
          <a:xfrm>
            <a:off x="4745736" y="3456432"/>
            <a:ext cx="2706624" cy="173736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과제·수행평가에 활용하기</a:t>
            </a:r>
          </a:p>
          <a:p>
            <a:pPr algn="l">
              <a:lnSpc>
                <a:spcPct val="130000"/>
              </a:lnSpc>
              <a:spcAft>
                <a:spcPts val="600"/>
              </a:spcAft>
            </a:pPr>
            <a:r>
              <a:rPr sz="1300" b="0">
                <a:solidFill>
                  <a:srgbClr val="3E4C59"/>
                </a:solidFill>
                <a:latin typeface="맑은 고딕"/>
                <a:ea typeface="맑은 고딕"/>
                <a:cs typeface="맑은 고딕"/>
              </a:rPr>
              <a:t>· 사진·파일을 올려서 묻기</a:t>
            </a:r>
          </a:p>
          <a:p>
            <a:pPr algn="l">
              <a:lnSpc>
                <a:spcPct val="130000"/>
              </a:lnSpc>
              <a:spcAft>
                <a:spcPts val="600"/>
              </a:spcAft>
            </a:pPr>
            <a:r>
              <a:rPr sz="1300" b="0">
                <a:solidFill>
                  <a:srgbClr val="3E4C59"/>
                </a:solidFill>
                <a:latin typeface="맑은 고딕"/>
                <a:ea typeface="맑은 고딕"/>
                <a:cs typeface="맑은 고딕"/>
              </a:rPr>
              <a:t>· 새로운 서비스에 가입하기</a:t>
            </a:r>
          </a:p>
          <a:p>
            <a:pPr algn="l">
              <a:lnSpc>
                <a:spcPct val="130000"/>
              </a:lnSpc>
              <a:spcAft>
                <a:spcPts val="600"/>
              </a:spcAft>
            </a:pPr>
            <a:r>
              <a:rPr sz="1300" b="0">
                <a:solidFill>
                  <a:srgbClr val="3E4C59"/>
                </a:solidFill>
                <a:latin typeface="맑은 고딕"/>
                <a:ea typeface="맑은 고딕"/>
                <a:cs typeface="맑은 고딕"/>
              </a:rPr>
              <a:t>· 긴 글을 통째로 요약하기</a:t>
            </a:r>
          </a:p>
        </p:txBody>
      </p:sp>
      <p:sp>
        <p:nvSpPr>
          <p:cNvPr id="16" name="Rounded Rectangle 15"/>
          <p:cNvSpPr/>
          <p:nvPr/>
        </p:nvSpPr>
        <p:spPr>
          <a:xfrm>
            <a:off x="8129016" y="2176272"/>
            <a:ext cx="3291840" cy="3246120"/>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421624" y="2423160"/>
            <a:ext cx="384048" cy="384048"/>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70264" y="2450592"/>
            <a:ext cx="1463040" cy="320040"/>
          </a:xfrm>
          <a:prstGeom prst="rect">
            <a:avLst/>
          </a:prstGeom>
          <a:noFill/>
        </p:spPr>
        <p:txBody>
          <a:bodyPr wrap="square" anchor="t" lIns="0" rIns="0" tIns="0" bIns="0">
            <a:spAutoFit/>
          </a:bodyPr>
          <a:lstStyle/>
          <a:p>
            <a:pPr algn="l">
              <a:lnSpc>
                <a:spcPct val="115000"/>
              </a:lnSpc>
            </a:pPr>
            <a:r>
              <a:rPr sz="1700" b="1">
                <a:solidFill>
                  <a:srgbClr val="B91C1C"/>
                </a:solidFill>
                <a:latin typeface="맑은 고딕"/>
                <a:ea typeface="맑은 고딕"/>
                <a:cs typeface="맑은 고딕"/>
              </a:rPr>
              <a:t>빨강</a:t>
            </a:r>
          </a:p>
        </p:txBody>
      </p:sp>
      <p:sp>
        <p:nvSpPr>
          <p:cNvPr id="19" name="TextBox 18"/>
          <p:cNvSpPr txBox="1"/>
          <p:nvPr/>
        </p:nvSpPr>
        <p:spPr>
          <a:xfrm>
            <a:off x="8421624" y="2999232"/>
            <a:ext cx="2706624"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하지 않습니다</a:t>
            </a:r>
          </a:p>
        </p:txBody>
      </p:sp>
      <p:sp>
        <p:nvSpPr>
          <p:cNvPr id="20" name="TextBox 19"/>
          <p:cNvSpPr txBox="1"/>
          <p:nvPr/>
        </p:nvSpPr>
        <p:spPr>
          <a:xfrm>
            <a:off x="8421624" y="3456432"/>
            <a:ext cx="2706624" cy="173736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이름·학교·주소·연락처 입력</a:t>
            </a:r>
          </a:p>
          <a:p>
            <a:pPr algn="l">
              <a:lnSpc>
                <a:spcPct val="130000"/>
              </a:lnSpc>
              <a:spcAft>
                <a:spcPts val="600"/>
              </a:spcAft>
            </a:pPr>
            <a:r>
              <a:rPr sz="1300" b="0">
                <a:solidFill>
                  <a:srgbClr val="3E4C59"/>
                </a:solidFill>
                <a:latin typeface="맑은 고딕"/>
                <a:ea typeface="맑은 고딕"/>
                <a:cs typeface="맑은 고딕"/>
              </a:rPr>
              <a:t>· 얼굴 사진, 친구 정보 올리기</a:t>
            </a:r>
          </a:p>
          <a:p>
            <a:pPr algn="l">
              <a:lnSpc>
                <a:spcPct val="130000"/>
              </a:lnSpc>
              <a:spcAft>
                <a:spcPts val="600"/>
              </a:spcAft>
            </a:pPr>
            <a:r>
              <a:rPr sz="1300" b="0">
                <a:solidFill>
                  <a:srgbClr val="3E4C59"/>
                </a:solidFill>
                <a:latin typeface="맑은 고딕"/>
                <a:ea typeface="맑은 고딕"/>
                <a:cs typeface="맑은 고딕"/>
              </a:rPr>
              <a:t>· 답안을 그대로 베껴 제출하기</a:t>
            </a:r>
          </a:p>
          <a:p>
            <a:pPr algn="l">
              <a:lnSpc>
                <a:spcPct val="130000"/>
              </a:lnSpc>
              <a:spcAft>
                <a:spcPts val="600"/>
              </a:spcAft>
            </a:pPr>
            <a:r>
              <a:rPr sz="1300" b="0">
                <a:solidFill>
                  <a:srgbClr val="3E4C59"/>
                </a:solidFill>
                <a:latin typeface="맑은 고딕"/>
                <a:ea typeface="맑은 고딕"/>
                <a:cs typeface="맑은 고딕"/>
              </a:rPr>
              <a:t>· 부모 몰래 결제하기</a:t>
            </a:r>
          </a:p>
        </p:txBody>
      </p:sp>
      <p:sp>
        <p:nvSpPr>
          <p:cNvPr id="21" name="Rounded Rectangle 20"/>
          <p:cNvSpPr/>
          <p:nvPr/>
        </p:nvSpPr>
        <p:spPr>
          <a:xfrm>
            <a:off x="777240" y="5577840"/>
            <a:ext cx="10637215" cy="621792"/>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143000" y="5742431"/>
            <a:ext cx="9905695" cy="365760"/>
          </a:xfrm>
          <a:prstGeom prst="rect">
            <a:avLst/>
          </a:prstGeom>
          <a:noFill/>
        </p:spPr>
        <p:txBody>
          <a:bodyPr wrap="square" anchor="t" lIns="0" rIns="0" tIns="0" bIns="0">
            <a:spAutoFit/>
          </a:bodyPr>
          <a:lstStyle/>
          <a:p>
            <a:pPr algn="l">
              <a:lnSpc>
                <a:spcPct val="115000"/>
              </a:lnSpc>
            </a:pPr>
            <a:r>
              <a:rPr sz="1450" b="1">
                <a:solidFill>
                  <a:srgbClr val="1F2933"/>
                </a:solidFill>
                <a:latin typeface="맑은 고딕"/>
                <a:ea typeface="맑은 고딕"/>
                <a:cs typeface="맑은 고딕"/>
              </a:rPr>
              <a:t>노랑 칸이 제일 중요합니다. 무조건 막기보다 “먼저 물어본다”를 습관으로 만들어 주세요.</a:t>
            </a:r>
          </a:p>
        </p:txBody>
      </p:sp>
      <p:sp>
        <p:nvSpPr>
          <p:cNvPr id="23" name="Rectangle 22"/>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17 /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순서가 중요합니다</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책·검색·AI, 무엇부터 해야 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AI를 먼저 켜면 아이의 첫 생각이 사라집니다.</a:t>
            </a:r>
          </a:p>
        </p:txBody>
      </p:sp>
      <p:sp>
        <p:nvSpPr>
          <p:cNvPr id="6" name="Rounded Rectangle 5"/>
          <p:cNvSpPr/>
          <p:nvPr/>
        </p:nvSpPr>
        <p:spPr>
          <a:xfrm>
            <a:off x="777240" y="2377440"/>
            <a:ext cx="1847088"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508760" y="260604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267004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886968" y="3154680"/>
            <a:ext cx="1627632" cy="457200"/>
          </a:xfrm>
          <a:prstGeom prst="rect">
            <a:avLst/>
          </a:prstGeom>
          <a:noFill/>
        </p:spPr>
        <p:txBody>
          <a:bodyPr wrap="square" anchor="t" lIns="0" rIns="0" tIns="0" bIns="0">
            <a:spAutoFit/>
          </a:bodyPr>
          <a:lstStyle/>
          <a:p>
            <a:pPr algn="ctr">
              <a:lnSpc>
                <a:spcPct val="115000"/>
              </a:lnSpc>
            </a:pPr>
            <a:r>
              <a:rPr sz="1400" b="1">
                <a:solidFill>
                  <a:srgbClr val="1F2933"/>
                </a:solidFill>
                <a:latin typeface="맑은 고딕"/>
                <a:ea typeface="맑은 고딕"/>
                <a:cs typeface="맑은 고딕"/>
              </a:rPr>
              <a:t>내 생각 꺼내기</a:t>
            </a:r>
          </a:p>
        </p:txBody>
      </p:sp>
      <p:sp>
        <p:nvSpPr>
          <p:cNvPr id="10" name="TextBox 9"/>
          <p:cNvSpPr txBox="1"/>
          <p:nvPr/>
        </p:nvSpPr>
        <p:spPr>
          <a:xfrm>
            <a:off x="886968" y="3639312"/>
            <a:ext cx="1627632" cy="54864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이미 아는 것과</a:t>
            </a:r>
          </a:p>
          <a:p>
            <a:pPr algn="ctr">
              <a:lnSpc>
                <a:spcPct val="125000"/>
              </a:lnSpc>
            </a:pPr>
            <a:r>
              <a:rPr sz="1150" b="0">
                <a:solidFill>
                  <a:srgbClr val="3E4C59"/>
                </a:solidFill>
                <a:latin typeface="맑은 고딕"/>
                <a:ea typeface="맑은 고딕"/>
                <a:cs typeface="맑은 고딕"/>
              </a:rPr>
              <a:t>궁금한 것 말하기</a:t>
            </a:r>
          </a:p>
        </p:txBody>
      </p:sp>
      <p:sp>
        <p:nvSpPr>
          <p:cNvPr id="11" name="Right Arrow 10"/>
          <p:cNvSpPr/>
          <p:nvPr/>
        </p:nvSpPr>
        <p:spPr>
          <a:xfrm>
            <a:off x="2653245" y="321868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74771" y="2377440"/>
            <a:ext cx="1847088"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706291" y="260604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6291" y="267004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5" name="TextBox 14"/>
          <p:cNvSpPr txBox="1"/>
          <p:nvPr/>
        </p:nvSpPr>
        <p:spPr>
          <a:xfrm>
            <a:off x="3084499" y="3154680"/>
            <a:ext cx="1627632" cy="457200"/>
          </a:xfrm>
          <a:prstGeom prst="rect">
            <a:avLst/>
          </a:prstGeom>
          <a:noFill/>
        </p:spPr>
        <p:txBody>
          <a:bodyPr wrap="square" anchor="t" lIns="0" rIns="0" tIns="0" bIns="0">
            <a:spAutoFit/>
          </a:bodyPr>
          <a:lstStyle/>
          <a:p>
            <a:pPr algn="ctr">
              <a:lnSpc>
                <a:spcPct val="115000"/>
              </a:lnSpc>
            </a:pPr>
            <a:r>
              <a:rPr sz="1400" b="1">
                <a:solidFill>
                  <a:srgbClr val="1F2933"/>
                </a:solidFill>
                <a:latin typeface="맑은 고딕"/>
                <a:ea typeface="맑은 고딕"/>
                <a:cs typeface="맑은 고딕"/>
              </a:rPr>
              <a:t>자료 찾기</a:t>
            </a:r>
          </a:p>
        </p:txBody>
      </p:sp>
      <p:sp>
        <p:nvSpPr>
          <p:cNvPr id="16" name="TextBox 15"/>
          <p:cNvSpPr txBox="1"/>
          <p:nvPr/>
        </p:nvSpPr>
        <p:spPr>
          <a:xfrm>
            <a:off x="3084499" y="3639312"/>
            <a:ext cx="1627632" cy="54864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책·교과서·검색으로</a:t>
            </a:r>
          </a:p>
          <a:p>
            <a:pPr algn="ctr">
              <a:lnSpc>
                <a:spcPct val="125000"/>
              </a:lnSpc>
            </a:pPr>
            <a:r>
              <a:rPr sz="1150" b="0">
                <a:solidFill>
                  <a:srgbClr val="3E4C59"/>
                </a:solidFill>
                <a:latin typeface="맑은 고딕"/>
                <a:ea typeface="맑은 고딕"/>
                <a:cs typeface="맑은 고딕"/>
              </a:rPr>
              <a:t>사실 찾기</a:t>
            </a:r>
          </a:p>
        </p:txBody>
      </p:sp>
      <p:sp>
        <p:nvSpPr>
          <p:cNvPr id="17" name="Right Arrow 16"/>
          <p:cNvSpPr/>
          <p:nvPr/>
        </p:nvSpPr>
        <p:spPr>
          <a:xfrm>
            <a:off x="4850777" y="321868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72303" y="2377440"/>
            <a:ext cx="1847088" cy="196596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903823" y="2606040"/>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03823" y="267004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21" name="TextBox 20"/>
          <p:cNvSpPr txBox="1"/>
          <p:nvPr/>
        </p:nvSpPr>
        <p:spPr>
          <a:xfrm>
            <a:off x="5282031" y="3154680"/>
            <a:ext cx="1627632" cy="457200"/>
          </a:xfrm>
          <a:prstGeom prst="rect">
            <a:avLst/>
          </a:prstGeom>
          <a:noFill/>
        </p:spPr>
        <p:txBody>
          <a:bodyPr wrap="square" anchor="t" lIns="0" rIns="0" tIns="0" bIns="0">
            <a:spAutoFit/>
          </a:bodyPr>
          <a:lstStyle/>
          <a:p>
            <a:pPr algn="ctr">
              <a:lnSpc>
                <a:spcPct val="115000"/>
              </a:lnSpc>
            </a:pPr>
            <a:r>
              <a:rPr sz="1400" b="1">
                <a:solidFill>
                  <a:srgbClr val="1F2933"/>
                </a:solidFill>
                <a:latin typeface="맑은 고딕"/>
                <a:ea typeface="맑은 고딕"/>
                <a:cs typeface="맑은 고딕"/>
              </a:rPr>
              <a:t>AI에게 도움 받기</a:t>
            </a:r>
          </a:p>
        </p:txBody>
      </p:sp>
      <p:sp>
        <p:nvSpPr>
          <p:cNvPr id="22" name="TextBox 21"/>
          <p:cNvSpPr txBox="1"/>
          <p:nvPr/>
        </p:nvSpPr>
        <p:spPr>
          <a:xfrm>
            <a:off x="5282031" y="3639312"/>
            <a:ext cx="1627632" cy="54864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어려운 부분만</a:t>
            </a:r>
          </a:p>
          <a:p>
            <a:pPr algn="ctr">
              <a:lnSpc>
                <a:spcPct val="125000"/>
              </a:lnSpc>
            </a:pPr>
            <a:r>
              <a:rPr sz="1150" b="0">
                <a:solidFill>
                  <a:srgbClr val="3E4C59"/>
                </a:solidFill>
                <a:latin typeface="맑은 고딕"/>
                <a:ea typeface="맑은 고딕"/>
                <a:cs typeface="맑은 고딕"/>
              </a:rPr>
              <a:t>설명·힌트 요청</a:t>
            </a:r>
          </a:p>
        </p:txBody>
      </p:sp>
      <p:sp>
        <p:nvSpPr>
          <p:cNvPr id="23" name="Right Arrow 22"/>
          <p:cNvSpPr/>
          <p:nvPr/>
        </p:nvSpPr>
        <p:spPr>
          <a:xfrm>
            <a:off x="7048309" y="321868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69835" y="2377440"/>
            <a:ext cx="1847088"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101355" y="260604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355" y="267004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4</a:t>
            </a:r>
          </a:p>
        </p:txBody>
      </p:sp>
      <p:sp>
        <p:nvSpPr>
          <p:cNvPr id="27" name="TextBox 26"/>
          <p:cNvSpPr txBox="1"/>
          <p:nvPr/>
        </p:nvSpPr>
        <p:spPr>
          <a:xfrm>
            <a:off x="7479563" y="3154680"/>
            <a:ext cx="1627632" cy="457200"/>
          </a:xfrm>
          <a:prstGeom prst="rect">
            <a:avLst/>
          </a:prstGeom>
          <a:noFill/>
        </p:spPr>
        <p:txBody>
          <a:bodyPr wrap="square" anchor="t" lIns="0" rIns="0" tIns="0" bIns="0">
            <a:spAutoFit/>
          </a:bodyPr>
          <a:lstStyle/>
          <a:p>
            <a:pPr algn="ctr">
              <a:lnSpc>
                <a:spcPct val="115000"/>
              </a:lnSpc>
            </a:pPr>
            <a:r>
              <a:rPr sz="1400" b="1">
                <a:solidFill>
                  <a:srgbClr val="1F2933"/>
                </a:solidFill>
                <a:latin typeface="맑은 고딕"/>
                <a:ea typeface="맑은 고딕"/>
                <a:cs typeface="맑은 고딕"/>
              </a:rPr>
              <a:t>원문으로 확인하기</a:t>
            </a:r>
          </a:p>
        </p:txBody>
      </p:sp>
      <p:sp>
        <p:nvSpPr>
          <p:cNvPr id="28" name="TextBox 27"/>
          <p:cNvSpPr txBox="1"/>
          <p:nvPr/>
        </p:nvSpPr>
        <p:spPr>
          <a:xfrm>
            <a:off x="7479563" y="3639312"/>
            <a:ext cx="1627632" cy="54864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AI가 말한 내용을</a:t>
            </a:r>
          </a:p>
          <a:p>
            <a:pPr algn="ctr">
              <a:lnSpc>
                <a:spcPct val="125000"/>
              </a:lnSpc>
            </a:pPr>
            <a:r>
              <a:rPr sz="1150" b="0">
                <a:solidFill>
                  <a:srgbClr val="3E4C59"/>
                </a:solidFill>
                <a:latin typeface="맑은 고딕"/>
                <a:ea typeface="맑은 고딕"/>
                <a:cs typeface="맑은 고딕"/>
              </a:rPr>
              <a:t>자료와 대조</a:t>
            </a:r>
          </a:p>
        </p:txBody>
      </p:sp>
      <p:sp>
        <p:nvSpPr>
          <p:cNvPr id="29" name="Right Arrow 28"/>
          <p:cNvSpPr/>
          <p:nvPr/>
        </p:nvSpPr>
        <p:spPr>
          <a:xfrm>
            <a:off x="9245841" y="321868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67367" y="2377440"/>
            <a:ext cx="1847088"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0298887" y="2606040"/>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98887" y="2670048"/>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5</a:t>
            </a:r>
          </a:p>
        </p:txBody>
      </p:sp>
      <p:sp>
        <p:nvSpPr>
          <p:cNvPr id="33" name="TextBox 32"/>
          <p:cNvSpPr txBox="1"/>
          <p:nvPr/>
        </p:nvSpPr>
        <p:spPr>
          <a:xfrm>
            <a:off x="9677095" y="3154680"/>
            <a:ext cx="1627632" cy="457200"/>
          </a:xfrm>
          <a:prstGeom prst="rect">
            <a:avLst/>
          </a:prstGeom>
          <a:noFill/>
        </p:spPr>
        <p:txBody>
          <a:bodyPr wrap="square" anchor="t" lIns="0" rIns="0" tIns="0" bIns="0">
            <a:spAutoFit/>
          </a:bodyPr>
          <a:lstStyle/>
          <a:p>
            <a:pPr algn="ctr">
              <a:lnSpc>
                <a:spcPct val="115000"/>
              </a:lnSpc>
            </a:pPr>
            <a:r>
              <a:rPr sz="1400" b="1">
                <a:solidFill>
                  <a:srgbClr val="1F2933"/>
                </a:solidFill>
                <a:latin typeface="맑은 고딕"/>
                <a:ea typeface="맑은 고딕"/>
                <a:cs typeface="맑은 고딕"/>
              </a:rPr>
              <a:t>내 말로 설명하기</a:t>
            </a:r>
          </a:p>
        </p:txBody>
      </p:sp>
      <p:sp>
        <p:nvSpPr>
          <p:cNvPr id="34" name="TextBox 33"/>
          <p:cNvSpPr txBox="1"/>
          <p:nvPr/>
        </p:nvSpPr>
        <p:spPr>
          <a:xfrm>
            <a:off x="9677095" y="3639312"/>
            <a:ext cx="1627632" cy="548640"/>
          </a:xfrm>
          <a:prstGeom prst="rect">
            <a:avLst/>
          </a:prstGeom>
          <a:noFill/>
        </p:spPr>
        <p:txBody>
          <a:bodyPr wrap="square" anchor="t" lIns="0" rIns="0" tIns="0" bIns="0">
            <a:spAutoFit/>
          </a:bodyPr>
          <a:lstStyle/>
          <a:p>
            <a:pPr algn="ctr">
              <a:lnSpc>
                <a:spcPct val="125000"/>
              </a:lnSpc>
            </a:pPr>
            <a:r>
              <a:rPr sz="1150" b="0">
                <a:solidFill>
                  <a:srgbClr val="3E4C59"/>
                </a:solidFill>
                <a:latin typeface="맑은 고딕"/>
                <a:ea typeface="맑은 고딕"/>
                <a:cs typeface="맑은 고딕"/>
              </a:rPr>
              <a:t>화면을 닫고</a:t>
            </a:r>
          </a:p>
          <a:p>
            <a:pPr algn="ctr">
              <a:lnSpc>
                <a:spcPct val="125000"/>
              </a:lnSpc>
            </a:pPr>
            <a:r>
              <a:rPr sz="1150" b="0">
                <a:solidFill>
                  <a:srgbClr val="3E4C59"/>
                </a:solidFill>
                <a:latin typeface="맑은 고딕"/>
                <a:ea typeface="맑은 고딕"/>
                <a:cs typeface="맑은 고딕"/>
              </a:rPr>
              <a:t>스스로 정리</a:t>
            </a:r>
          </a:p>
        </p:txBody>
      </p:sp>
      <p:sp>
        <p:nvSpPr>
          <p:cNvPr id="35" name="Rounded Rectangle 34"/>
          <p:cNvSpPr/>
          <p:nvPr/>
        </p:nvSpPr>
        <p:spPr>
          <a:xfrm>
            <a:off x="777240" y="4617720"/>
            <a:ext cx="10637215" cy="105156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143000" y="4818888"/>
            <a:ext cx="9905695" cy="64008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AI는 세 번째 자리입니다. </a:t>
            </a:r>
            <a:r>
              <a:rPr sz="1450" b="0">
                <a:solidFill>
                  <a:srgbClr val="3E4C59"/>
                </a:solidFill>
                <a:latin typeface="맑은 고딕"/>
                <a:ea typeface="맑은 고딕"/>
                <a:cs typeface="맑은 고딕"/>
              </a:rPr>
              <a:t>1번과 2번을 건너뛰면 아이는 뭘 모르는지도 모른 채 답부터 받습니다.</a:t>
            </a:r>
          </a:p>
          <a:p>
            <a:pPr algn="l">
              <a:lnSpc>
                <a:spcPct val="135000"/>
              </a:lnSpc>
              <a:spcAft>
                <a:spcPts val="400"/>
              </a:spcAft>
            </a:pPr>
            <a:r>
              <a:rPr sz="1450" b="0">
                <a:solidFill>
                  <a:srgbClr val="3E4C59"/>
                </a:solidFill>
                <a:latin typeface="맑은 고딕"/>
                <a:ea typeface="맑은 고딕"/>
                <a:cs typeface="맑은 고딕"/>
              </a:rPr>
              <a:t>5번까지 가서 한 바퀴를 닫아야 그날 공부가 아이한테 남습니다.</a:t>
            </a:r>
          </a:p>
        </p:txBody>
      </p:sp>
      <p:sp>
        <p:nvSpPr>
          <p:cNvPr id="37" name="Rectangle 36"/>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18 / 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도구 구분</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세 가지 도구는 역할이 다릅니다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셋 다 필요합니다. 하는 일이 서로 다르거든요.</a:t>
            </a:r>
          </a:p>
        </p:txBody>
      </p:sp>
      <p:sp>
        <p:nvSpPr>
          <p:cNvPr id="6" name="Rounded Rectangle 5"/>
          <p:cNvSpPr/>
          <p:nvPr/>
        </p:nvSpPr>
        <p:spPr>
          <a:xfrm>
            <a:off x="777240" y="2194560"/>
            <a:ext cx="3291840" cy="26517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450592"/>
            <a:ext cx="2706624" cy="411480"/>
          </a:xfrm>
          <a:prstGeom prst="rect">
            <a:avLst/>
          </a:prstGeom>
          <a:noFill/>
        </p:spPr>
        <p:txBody>
          <a:bodyPr wrap="square" anchor="t" lIns="0" rIns="0" tIns="0" bIns="0">
            <a:spAutoFit/>
          </a:bodyPr>
          <a:lstStyle/>
          <a:p>
            <a:pPr algn="l">
              <a:lnSpc>
                <a:spcPct val="115000"/>
              </a:lnSpc>
            </a:pPr>
            <a:r>
              <a:rPr sz="2400" b="1">
                <a:solidFill>
                  <a:srgbClr val="0E7C86"/>
                </a:solidFill>
                <a:latin typeface="맑은 고딕"/>
                <a:ea typeface="맑은 고딕"/>
                <a:cs typeface="맑은 고딕"/>
              </a:rPr>
              <a:t>책</a:t>
            </a:r>
          </a:p>
        </p:txBody>
      </p:sp>
      <p:sp>
        <p:nvSpPr>
          <p:cNvPr id="8" name="TextBox 7"/>
          <p:cNvSpPr txBox="1"/>
          <p:nvPr/>
        </p:nvSpPr>
        <p:spPr>
          <a:xfrm>
            <a:off x="1069848" y="2944368"/>
            <a:ext cx="2706624" cy="32004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맥락을 읽습니다</a:t>
            </a:r>
          </a:p>
        </p:txBody>
      </p:sp>
      <p:sp>
        <p:nvSpPr>
          <p:cNvPr id="9" name="TextBox 8"/>
          <p:cNvSpPr txBox="1"/>
          <p:nvPr/>
        </p:nvSpPr>
        <p:spPr>
          <a:xfrm>
            <a:off x="1069848" y="3429000"/>
            <a:ext cx="2706624" cy="118872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앞뒤가 이어진 긴 설명</a:t>
            </a:r>
          </a:p>
          <a:p>
            <a:pPr algn="l">
              <a:lnSpc>
                <a:spcPct val="130000"/>
              </a:lnSpc>
              <a:spcAft>
                <a:spcPts val="600"/>
              </a:spcAft>
            </a:pPr>
            <a:r>
              <a:rPr sz="1300" b="0">
                <a:solidFill>
                  <a:srgbClr val="3E4C59"/>
                </a:solidFill>
                <a:latin typeface="맑은 고딕"/>
                <a:ea typeface="맑은 고딕"/>
                <a:cs typeface="맑은 고딕"/>
              </a:rPr>
              <a:t>· 검증을 거친 내용</a:t>
            </a:r>
          </a:p>
          <a:p>
            <a:pPr algn="l">
              <a:lnSpc>
                <a:spcPct val="130000"/>
              </a:lnSpc>
              <a:spcAft>
                <a:spcPts val="600"/>
              </a:spcAft>
            </a:pPr>
            <a:r>
              <a:rPr sz="1300" b="0">
                <a:solidFill>
                  <a:srgbClr val="3E4C59"/>
                </a:solidFill>
                <a:latin typeface="맑은 고딕"/>
                <a:ea typeface="맑은 고딕"/>
                <a:cs typeface="맑은 고딕"/>
              </a:rPr>
              <a:t>· 느리지만 깊게 남음</a:t>
            </a:r>
          </a:p>
        </p:txBody>
      </p:sp>
      <p:sp>
        <p:nvSpPr>
          <p:cNvPr id="10" name="Rounded Rectangle 9"/>
          <p:cNvSpPr/>
          <p:nvPr/>
        </p:nvSpPr>
        <p:spPr>
          <a:xfrm>
            <a:off x="4453128" y="2194560"/>
            <a:ext cx="3291840" cy="26517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745736" y="2450592"/>
            <a:ext cx="2706624" cy="411480"/>
          </a:xfrm>
          <a:prstGeom prst="rect">
            <a:avLst/>
          </a:prstGeom>
          <a:noFill/>
        </p:spPr>
        <p:txBody>
          <a:bodyPr wrap="square" anchor="t" lIns="0" rIns="0" tIns="0" bIns="0">
            <a:spAutoFit/>
          </a:bodyPr>
          <a:lstStyle/>
          <a:p>
            <a:pPr algn="l">
              <a:lnSpc>
                <a:spcPct val="115000"/>
              </a:lnSpc>
            </a:pPr>
            <a:r>
              <a:rPr sz="2400" b="1">
                <a:solidFill>
                  <a:srgbClr val="0E7C86"/>
                </a:solidFill>
                <a:latin typeface="맑은 고딕"/>
                <a:ea typeface="맑은 고딕"/>
                <a:cs typeface="맑은 고딕"/>
              </a:rPr>
              <a:t>검색</a:t>
            </a:r>
          </a:p>
        </p:txBody>
      </p:sp>
      <p:sp>
        <p:nvSpPr>
          <p:cNvPr id="12" name="TextBox 11"/>
          <p:cNvSpPr txBox="1"/>
          <p:nvPr/>
        </p:nvSpPr>
        <p:spPr>
          <a:xfrm>
            <a:off x="4745736" y="2944368"/>
            <a:ext cx="2706624" cy="32004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원자료를 찾습니다</a:t>
            </a:r>
          </a:p>
        </p:txBody>
      </p:sp>
      <p:sp>
        <p:nvSpPr>
          <p:cNvPr id="13" name="TextBox 12"/>
          <p:cNvSpPr txBox="1"/>
          <p:nvPr/>
        </p:nvSpPr>
        <p:spPr>
          <a:xfrm>
            <a:off x="4745736" y="3429000"/>
            <a:ext cx="2706624" cy="118872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기관·언론의 원문에 접근</a:t>
            </a:r>
          </a:p>
          <a:p>
            <a:pPr algn="l">
              <a:lnSpc>
                <a:spcPct val="130000"/>
              </a:lnSpc>
              <a:spcAft>
                <a:spcPts val="600"/>
              </a:spcAft>
            </a:pPr>
            <a:r>
              <a:rPr sz="1300" b="0">
                <a:solidFill>
                  <a:srgbClr val="3E4C59"/>
                </a:solidFill>
                <a:latin typeface="맑은 고딕"/>
                <a:ea typeface="맑은 고딕"/>
                <a:cs typeface="맑은 고딕"/>
              </a:rPr>
              <a:t>· 날짜와 출처가 드러남</a:t>
            </a:r>
          </a:p>
          <a:p>
            <a:pPr algn="l">
              <a:lnSpc>
                <a:spcPct val="130000"/>
              </a:lnSpc>
              <a:spcAft>
                <a:spcPts val="600"/>
              </a:spcAft>
            </a:pPr>
            <a:r>
              <a:rPr sz="1300" b="0">
                <a:solidFill>
                  <a:srgbClr val="3E4C59"/>
                </a:solidFill>
                <a:latin typeface="맑은 고딕"/>
                <a:ea typeface="맑은 고딕"/>
                <a:cs typeface="맑은 고딕"/>
              </a:rPr>
              <a:t>· 여러 자료를 비교 가능</a:t>
            </a:r>
          </a:p>
        </p:txBody>
      </p:sp>
      <p:sp>
        <p:nvSpPr>
          <p:cNvPr id="14" name="Rounded Rectangle 13"/>
          <p:cNvSpPr/>
          <p:nvPr/>
        </p:nvSpPr>
        <p:spPr>
          <a:xfrm>
            <a:off x="8129016" y="2194560"/>
            <a:ext cx="3291840" cy="265176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421624" y="2450592"/>
            <a:ext cx="2706624" cy="411480"/>
          </a:xfrm>
          <a:prstGeom prst="rect">
            <a:avLst/>
          </a:prstGeom>
          <a:noFill/>
        </p:spPr>
        <p:txBody>
          <a:bodyPr wrap="square" anchor="t" lIns="0" rIns="0" tIns="0" bIns="0">
            <a:spAutoFit/>
          </a:bodyPr>
          <a:lstStyle/>
          <a:p>
            <a:pPr algn="l">
              <a:lnSpc>
                <a:spcPct val="115000"/>
              </a:lnSpc>
            </a:pPr>
            <a:r>
              <a:rPr sz="2400" b="1">
                <a:solidFill>
                  <a:srgbClr val="1D4ED8"/>
                </a:solidFill>
                <a:latin typeface="맑은 고딕"/>
                <a:ea typeface="맑은 고딕"/>
                <a:cs typeface="맑은 고딕"/>
              </a:rPr>
              <a:t>AI</a:t>
            </a:r>
          </a:p>
        </p:txBody>
      </p:sp>
      <p:sp>
        <p:nvSpPr>
          <p:cNvPr id="16" name="TextBox 15"/>
          <p:cNvSpPr txBox="1"/>
          <p:nvPr/>
        </p:nvSpPr>
        <p:spPr>
          <a:xfrm>
            <a:off x="8421624" y="2944368"/>
            <a:ext cx="2706624" cy="32004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설명과 연습을 돕습니다</a:t>
            </a:r>
          </a:p>
        </p:txBody>
      </p:sp>
      <p:sp>
        <p:nvSpPr>
          <p:cNvPr id="17" name="TextBox 16"/>
          <p:cNvSpPr txBox="1"/>
          <p:nvPr/>
        </p:nvSpPr>
        <p:spPr>
          <a:xfrm>
            <a:off x="8421624" y="3429000"/>
            <a:ext cx="2706624" cy="1188720"/>
          </a:xfrm>
          <a:prstGeom prst="rect">
            <a:avLst/>
          </a:prstGeom>
          <a:noFill/>
        </p:spPr>
        <p:txBody>
          <a:bodyPr wrap="square" anchor="t" lIns="0" rIns="0" tIns="0" bIns="0">
            <a:spAutoFit/>
          </a:bodyPr>
          <a:lstStyle/>
          <a:p>
            <a:pPr algn="l">
              <a:lnSpc>
                <a:spcPct val="130000"/>
              </a:lnSpc>
              <a:spcAft>
                <a:spcPts val="600"/>
              </a:spcAft>
            </a:pPr>
            <a:r>
              <a:rPr sz="1300" b="0">
                <a:solidFill>
                  <a:srgbClr val="3E4C59"/>
                </a:solidFill>
                <a:latin typeface="맑은 고딕"/>
                <a:ea typeface="맑은 고딕"/>
                <a:cs typeface="맑은 고딕"/>
              </a:rPr>
              <a:t>· 어려운 말을 쉽게 풀어 줌</a:t>
            </a:r>
          </a:p>
          <a:p>
            <a:pPr algn="l">
              <a:lnSpc>
                <a:spcPct val="130000"/>
              </a:lnSpc>
              <a:spcAft>
                <a:spcPts val="600"/>
              </a:spcAft>
            </a:pPr>
            <a:r>
              <a:rPr sz="1300" b="0">
                <a:solidFill>
                  <a:srgbClr val="3E4C59"/>
                </a:solidFill>
                <a:latin typeface="맑은 고딕"/>
                <a:ea typeface="맑은 고딕"/>
                <a:cs typeface="맑은 고딕"/>
              </a:rPr>
              <a:t>· 되묻고 힌트를 줌</a:t>
            </a:r>
          </a:p>
          <a:p>
            <a:pPr algn="l">
              <a:lnSpc>
                <a:spcPct val="130000"/>
              </a:lnSpc>
              <a:spcAft>
                <a:spcPts val="600"/>
              </a:spcAft>
            </a:pPr>
            <a:r>
              <a:rPr sz="1300" b="0">
                <a:solidFill>
                  <a:srgbClr val="3E4C59"/>
                </a:solidFill>
                <a:latin typeface="맑은 고딕"/>
                <a:ea typeface="맑은 고딕"/>
                <a:cs typeface="맑은 고딕"/>
              </a:rPr>
              <a:t>· 사실은 따로 확인해야 함</a:t>
            </a:r>
          </a:p>
        </p:txBody>
      </p:sp>
      <p:sp>
        <p:nvSpPr>
          <p:cNvPr id="18" name="Rounded Rectangle 17"/>
          <p:cNvSpPr/>
          <p:nvPr/>
        </p:nvSpPr>
        <p:spPr>
          <a:xfrm>
            <a:off x="777240" y="5166360"/>
            <a:ext cx="10637215" cy="685800"/>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43000" y="5349240"/>
            <a:ext cx="9905695" cy="365760"/>
          </a:xfrm>
          <a:prstGeom prst="rect">
            <a:avLst/>
          </a:prstGeom>
          <a:noFill/>
        </p:spPr>
        <p:txBody>
          <a:bodyPr wrap="square" anchor="t" lIns="0" rIns="0" tIns="0" bIns="0">
            <a:spAutoFit/>
          </a:bodyPr>
          <a:lstStyle/>
          <a:p>
            <a:pPr algn="l">
              <a:lnSpc>
                <a:spcPct val="115000"/>
              </a:lnSpc>
            </a:pPr>
            <a:r>
              <a:rPr sz="1450" b="1">
                <a:solidFill>
                  <a:srgbClr val="0E7C86"/>
                </a:solidFill>
                <a:latin typeface="맑은 고딕"/>
                <a:ea typeface="맑은 고딕"/>
                <a:cs typeface="맑은 고딕"/>
              </a:rPr>
              <a:t>AI가 책 읽기와 자료 찾기까지 가져가지 않도록 자리를 정해 주시면 됩니다.</a:t>
            </a:r>
          </a:p>
        </p:txBody>
      </p:sp>
      <p:sp>
        <p:nvSpPr>
          <p:cNvPr id="20" name="Rectangle 1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19 / 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연구 사례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같은 글도 종이로 읽을 때 더 잘 이해합니다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2000년부터 2017년까지의 연구를 모아 분석한 결과입니다.</a:t>
            </a:r>
          </a:p>
        </p:txBody>
      </p:sp>
      <p:sp>
        <p:nvSpPr>
          <p:cNvPr id="6" name="Rounded Rectangle 5"/>
          <p:cNvSpPr/>
          <p:nvPr/>
        </p:nvSpPr>
        <p:spPr>
          <a:xfrm>
            <a:off x="777240" y="2194560"/>
            <a:ext cx="5135727" cy="169164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450592"/>
            <a:ext cx="4495647" cy="365760"/>
          </a:xfrm>
          <a:prstGeom prst="rect">
            <a:avLst/>
          </a:prstGeom>
          <a:noFill/>
        </p:spPr>
        <p:txBody>
          <a:bodyPr wrap="square" anchor="t" lIns="0" rIns="0" tIns="0" bIns="0">
            <a:spAutoFit/>
          </a:bodyPr>
          <a:lstStyle/>
          <a:p>
            <a:pPr algn="l">
              <a:lnSpc>
                <a:spcPct val="115000"/>
              </a:lnSpc>
            </a:pPr>
            <a:r>
              <a:rPr sz="1900" b="1">
                <a:solidFill>
                  <a:srgbClr val="1D4ED8"/>
                </a:solidFill>
                <a:latin typeface="맑은 고딕"/>
                <a:ea typeface="맑은 고딕"/>
                <a:cs typeface="맑은 고딕"/>
              </a:rPr>
              <a:t>종이로 읽기</a:t>
            </a:r>
          </a:p>
        </p:txBody>
      </p:sp>
      <p:sp>
        <p:nvSpPr>
          <p:cNvPr id="8" name="TextBox 7"/>
          <p:cNvSpPr txBox="1"/>
          <p:nvPr/>
        </p:nvSpPr>
        <p:spPr>
          <a:xfrm>
            <a:off x="1097280" y="2944368"/>
            <a:ext cx="4495647" cy="640080"/>
          </a:xfrm>
          <a:prstGeom prst="rect">
            <a:avLst/>
          </a:prstGeom>
          <a:noFill/>
        </p:spPr>
        <p:txBody>
          <a:bodyPr wrap="square" anchor="t" lIns="0" rIns="0" tIns="0" bIns="0">
            <a:spAutoFit/>
          </a:bodyPr>
          <a:lstStyle/>
          <a:p>
            <a:pPr algn="l">
              <a:lnSpc>
                <a:spcPct val="135000"/>
              </a:lnSpc>
            </a:pPr>
            <a:r>
              <a:rPr sz="1400" b="0">
                <a:solidFill>
                  <a:srgbClr val="3E4C59"/>
                </a:solidFill>
                <a:latin typeface="맑은 고딕"/>
                <a:ea typeface="맑은 고딕"/>
                <a:cs typeface="맑은 고딕"/>
              </a:rPr>
              <a:t>같은 글을 읽어도</a:t>
            </a:r>
          </a:p>
          <a:p>
            <a:pPr algn="l">
              <a:lnSpc>
                <a:spcPct val="135000"/>
              </a:lnSpc>
            </a:pPr>
            <a:r>
              <a:rPr sz="1400" b="0">
                <a:solidFill>
                  <a:srgbClr val="3E4C59"/>
                </a:solidFill>
                <a:latin typeface="맑은 고딕"/>
                <a:ea typeface="맑은 고딕"/>
                <a:cs typeface="맑은 고딕"/>
              </a:rPr>
              <a:t>이해도 점수가 더 높았습니다.</a:t>
            </a:r>
          </a:p>
        </p:txBody>
      </p:sp>
      <p:sp>
        <p:nvSpPr>
          <p:cNvPr id="9" name="Rounded Rectangle 8"/>
          <p:cNvSpPr/>
          <p:nvPr/>
        </p:nvSpPr>
        <p:spPr>
          <a:xfrm>
            <a:off x="6278727" y="2194560"/>
            <a:ext cx="5135727" cy="16916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98767" y="2450592"/>
            <a:ext cx="4495647" cy="365760"/>
          </a:xfrm>
          <a:prstGeom prst="rect">
            <a:avLst/>
          </a:prstGeom>
          <a:noFill/>
        </p:spPr>
        <p:txBody>
          <a:bodyPr wrap="square" anchor="t" lIns="0" rIns="0" tIns="0" bIns="0">
            <a:spAutoFit/>
          </a:bodyPr>
          <a:lstStyle/>
          <a:p>
            <a:pPr algn="l">
              <a:lnSpc>
                <a:spcPct val="115000"/>
              </a:lnSpc>
            </a:pPr>
            <a:r>
              <a:rPr sz="1900" b="1">
                <a:solidFill>
                  <a:srgbClr val="7B8894"/>
                </a:solidFill>
                <a:latin typeface="맑은 고딕"/>
                <a:ea typeface="맑은 고딕"/>
                <a:cs typeface="맑은 고딕"/>
              </a:rPr>
              <a:t>화면으로 읽기</a:t>
            </a:r>
          </a:p>
        </p:txBody>
      </p:sp>
      <p:sp>
        <p:nvSpPr>
          <p:cNvPr id="11" name="TextBox 10"/>
          <p:cNvSpPr txBox="1"/>
          <p:nvPr/>
        </p:nvSpPr>
        <p:spPr>
          <a:xfrm>
            <a:off x="6598767" y="2944368"/>
            <a:ext cx="4495647" cy="640080"/>
          </a:xfrm>
          <a:prstGeom prst="rect">
            <a:avLst/>
          </a:prstGeom>
          <a:noFill/>
        </p:spPr>
        <p:txBody>
          <a:bodyPr wrap="square" anchor="t" lIns="0" rIns="0" tIns="0" bIns="0">
            <a:spAutoFit/>
          </a:bodyPr>
          <a:lstStyle/>
          <a:p>
            <a:pPr algn="l">
              <a:lnSpc>
                <a:spcPct val="135000"/>
              </a:lnSpc>
            </a:pPr>
            <a:r>
              <a:rPr sz="1400" b="0">
                <a:solidFill>
                  <a:srgbClr val="3E4C59"/>
                </a:solidFill>
                <a:latin typeface="맑은 고딕"/>
                <a:ea typeface="맑은 고딕"/>
                <a:cs typeface="맑은 고딕"/>
              </a:rPr>
              <a:t>읽는 속도는 비슷했지만</a:t>
            </a:r>
          </a:p>
          <a:p>
            <a:pPr algn="l">
              <a:lnSpc>
                <a:spcPct val="135000"/>
              </a:lnSpc>
            </a:pPr>
            <a:r>
              <a:rPr sz="1400" b="0">
                <a:solidFill>
                  <a:srgbClr val="3E4C59"/>
                </a:solidFill>
                <a:latin typeface="맑은 고딕"/>
                <a:ea typeface="맑은 고딕"/>
                <a:cs typeface="맑은 고딕"/>
              </a:rPr>
              <a:t>남는 것이 적었습니다.</a:t>
            </a:r>
          </a:p>
        </p:txBody>
      </p:sp>
      <p:sp>
        <p:nvSpPr>
          <p:cNvPr id="12" name="Rounded Rectangle 11"/>
          <p:cNvSpPr/>
          <p:nvPr/>
        </p:nvSpPr>
        <p:spPr>
          <a:xfrm>
            <a:off x="777240" y="4069080"/>
            <a:ext cx="10637215" cy="9144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43000" y="4261104"/>
            <a:ext cx="9905695" cy="548640"/>
          </a:xfrm>
          <a:prstGeom prst="rect">
            <a:avLst/>
          </a:prstGeom>
          <a:noFill/>
        </p:spPr>
        <p:txBody>
          <a:bodyPr wrap="square" anchor="t" lIns="0" rIns="0" tIns="0" bIns="0">
            <a:spAutoFit/>
          </a:bodyPr>
          <a:lstStyle/>
          <a:p>
            <a:pPr algn="l">
              <a:lnSpc>
                <a:spcPct val="140000"/>
              </a:lnSpc>
            </a:pPr>
            <a:r>
              <a:rPr sz="1400" b="0">
                <a:solidFill>
                  <a:srgbClr val="3E4C59"/>
                </a:solidFill>
                <a:latin typeface="맑은 고딕"/>
                <a:ea typeface="맑은 고딕"/>
                <a:cs typeface="맑은 고딕"/>
              </a:rPr>
              <a:t>연구 설계가 어떻든 결과는 같은 방향이었습니다. 종이로 읽은 쪽의 학습 효과가 컸습니다.</a:t>
            </a:r>
          </a:p>
          <a:p>
            <a:pPr algn="l">
              <a:lnSpc>
                <a:spcPct val="140000"/>
              </a:lnSpc>
            </a:pPr>
            <a:r>
              <a:rPr sz="1400" b="0">
                <a:solidFill>
                  <a:srgbClr val="3E4C59"/>
                </a:solidFill>
                <a:latin typeface="맑은 고딕"/>
                <a:ea typeface="맑은 고딕"/>
                <a:cs typeface="맑은 고딕"/>
              </a:rPr>
              <a:t>익숙해지면 나아질 것이라는 기대와는 다른 결과입니다.</a:t>
            </a:r>
          </a:p>
        </p:txBody>
      </p:sp>
      <p:sp>
        <p:nvSpPr>
          <p:cNvPr id="14" name="Rounded Rectangle 13"/>
          <p:cNvSpPr/>
          <p:nvPr/>
        </p:nvSpPr>
        <p:spPr>
          <a:xfrm>
            <a:off x="777240" y="5166360"/>
            <a:ext cx="10637215" cy="96012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43000" y="5358383"/>
            <a:ext cx="9905695" cy="64008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화면을 없애자는 이야기가 아닙니다.</a:t>
            </a:r>
          </a:p>
          <a:p>
            <a:pPr algn="l">
              <a:lnSpc>
                <a:spcPct val="135000"/>
              </a:lnSpc>
              <a:spcAft>
                <a:spcPts val="400"/>
              </a:spcAft>
            </a:pPr>
            <a:r>
              <a:rPr sz="1450" b="0">
                <a:solidFill>
                  <a:srgbClr val="3E4C59"/>
                </a:solidFill>
                <a:latin typeface="맑은 고딕"/>
                <a:ea typeface="맑은 고딕"/>
                <a:cs typeface="맑은 고딕"/>
              </a:rPr>
              <a:t>긴 글과 교과서는 종이로 읽는 자리를 남겨 두자는 뜻입니다. 앞 장의 ‘책’이 그 자리입니다.</a:t>
            </a:r>
          </a:p>
        </p:txBody>
      </p:sp>
      <p:sp>
        <p:nvSpPr>
          <p:cNvPr id="16" name="Rectangle 15"/>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Delgado, P., Vargas, C., Ackerman, R., &amp; Salmerón, L. (2018). Educational Research Review, 25, 23–38.</a:t>
            </a:r>
          </a:p>
        </p:txBody>
      </p:sp>
      <p:sp>
        <p:nvSpPr>
          <p:cNvPr id="18" name="TextBox 1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20 / 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연구 사례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기기 자체보다, 무엇에 쓰느냐가 갈랐습니다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만 15세 학생을 대상으로 한 국제 학업성취도 평가 결과입니다.</a:t>
            </a:r>
          </a:p>
        </p:txBody>
      </p:sp>
      <p:sp>
        <p:nvSpPr>
          <p:cNvPr id="6" name="Rounded Rectangle 5"/>
          <p:cNvSpPr/>
          <p:nvPr/>
        </p:nvSpPr>
        <p:spPr>
          <a:xfrm>
            <a:off x="777240" y="2194560"/>
            <a:ext cx="3291840" cy="2377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51560" y="2468880"/>
            <a:ext cx="2743200" cy="502920"/>
          </a:xfrm>
          <a:prstGeom prst="rect">
            <a:avLst/>
          </a:prstGeom>
          <a:noFill/>
        </p:spPr>
        <p:txBody>
          <a:bodyPr wrap="square" anchor="t" lIns="0" rIns="0" tIns="0" bIns="0">
            <a:spAutoFit/>
          </a:bodyPr>
          <a:lstStyle/>
          <a:p>
            <a:pPr algn="l">
              <a:lnSpc>
                <a:spcPct val="115000"/>
              </a:lnSpc>
            </a:pPr>
            <a:r>
              <a:rPr sz="3000" b="1">
                <a:solidFill>
                  <a:srgbClr val="1F2933"/>
                </a:solidFill>
                <a:latin typeface="맑은 고딕"/>
                <a:ea typeface="맑은 고딕"/>
                <a:cs typeface="맑은 고딕"/>
              </a:rPr>
              <a:t>59%</a:t>
            </a:r>
          </a:p>
        </p:txBody>
      </p:sp>
      <p:sp>
        <p:nvSpPr>
          <p:cNvPr id="8" name="TextBox 7"/>
          <p:cNvSpPr txBox="1"/>
          <p:nvPr/>
        </p:nvSpPr>
        <p:spPr>
          <a:xfrm>
            <a:off x="1051560" y="3154680"/>
            <a:ext cx="2743200" cy="685800"/>
          </a:xfrm>
          <a:prstGeom prst="rect">
            <a:avLst/>
          </a:prstGeom>
          <a:noFill/>
        </p:spPr>
        <p:txBody>
          <a:bodyPr wrap="square" anchor="t" lIns="0" rIns="0" tIns="0" bIns="0">
            <a:spAutoFit/>
          </a:bodyPr>
          <a:lstStyle/>
          <a:p>
            <a:pPr algn="l">
              <a:lnSpc>
                <a:spcPct val="135000"/>
              </a:lnSpc>
            </a:pPr>
            <a:r>
              <a:rPr sz="1300" b="0">
                <a:solidFill>
                  <a:srgbClr val="1F2933"/>
                </a:solidFill>
                <a:latin typeface="맑은 고딕"/>
                <a:ea typeface="맑은 고딕"/>
                <a:cs typeface="맑은 고딕"/>
              </a:rPr>
              <a:t>다른 학생의 기기 사용에</a:t>
            </a:r>
          </a:p>
          <a:p>
            <a:pPr algn="l">
              <a:lnSpc>
                <a:spcPct val="135000"/>
              </a:lnSpc>
            </a:pPr>
            <a:r>
              <a:rPr sz="1300" b="0">
                <a:solidFill>
                  <a:srgbClr val="1F2933"/>
                </a:solidFill>
                <a:latin typeface="맑은 고딕"/>
                <a:ea typeface="맑은 고딕"/>
                <a:cs typeface="맑은 고딕"/>
              </a:rPr>
              <a:t>주의가 흐트러진다고 답한 비율</a:t>
            </a:r>
          </a:p>
        </p:txBody>
      </p:sp>
      <p:sp>
        <p:nvSpPr>
          <p:cNvPr id="9" name="Rectangle 8"/>
          <p:cNvSpPr/>
          <p:nvPr/>
        </p:nvSpPr>
        <p:spPr>
          <a:xfrm>
            <a:off x="1051560" y="3913632"/>
            <a:ext cx="2743200"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041648"/>
            <a:ext cx="2743200" cy="411480"/>
          </a:xfrm>
          <a:prstGeom prst="rect">
            <a:avLst/>
          </a:prstGeom>
          <a:noFill/>
        </p:spPr>
        <p:txBody>
          <a:bodyPr wrap="square" anchor="t" lIns="0" rIns="0" tIns="0" bIns="0">
            <a:spAutoFit/>
          </a:bodyPr>
          <a:lstStyle/>
          <a:p>
            <a:pPr algn="l">
              <a:lnSpc>
                <a:spcPct val="125000"/>
              </a:lnSpc>
            </a:pPr>
            <a:r>
              <a:rPr sz="1150" b="0">
                <a:solidFill>
                  <a:srgbClr val="7B8894"/>
                </a:solidFill>
                <a:latin typeface="맑은 고딕"/>
                <a:ea typeface="맑은 고딕"/>
                <a:cs typeface="맑은 고딕"/>
              </a:rPr>
              <a:t>수학 수업에서, OECD 평균</a:t>
            </a:r>
          </a:p>
        </p:txBody>
      </p:sp>
      <p:sp>
        <p:nvSpPr>
          <p:cNvPr id="11" name="Rounded Rectangle 10"/>
          <p:cNvSpPr/>
          <p:nvPr/>
        </p:nvSpPr>
        <p:spPr>
          <a:xfrm>
            <a:off x="4453128" y="2194560"/>
            <a:ext cx="3291840" cy="237744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727448" y="2468880"/>
            <a:ext cx="2743200" cy="502920"/>
          </a:xfrm>
          <a:prstGeom prst="rect">
            <a:avLst/>
          </a:prstGeom>
          <a:noFill/>
        </p:spPr>
        <p:txBody>
          <a:bodyPr wrap="square" anchor="t" lIns="0" rIns="0" tIns="0" bIns="0">
            <a:spAutoFit/>
          </a:bodyPr>
          <a:lstStyle/>
          <a:p>
            <a:pPr algn="l">
              <a:lnSpc>
                <a:spcPct val="115000"/>
              </a:lnSpc>
            </a:pPr>
            <a:r>
              <a:rPr sz="3000" b="1">
                <a:solidFill>
                  <a:srgbClr val="B91C1C"/>
                </a:solidFill>
                <a:latin typeface="맑은 고딕"/>
                <a:ea typeface="맑은 고딕"/>
                <a:cs typeface="맑은 고딕"/>
              </a:rPr>
              <a:t>−15점</a:t>
            </a:r>
          </a:p>
        </p:txBody>
      </p:sp>
      <p:sp>
        <p:nvSpPr>
          <p:cNvPr id="13" name="TextBox 12"/>
          <p:cNvSpPr txBox="1"/>
          <p:nvPr/>
        </p:nvSpPr>
        <p:spPr>
          <a:xfrm>
            <a:off x="4727448" y="3154680"/>
            <a:ext cx="2743200" cy="685800"/>
          </a:xfrm>
          <a:prstGeom prst="rect">
            <a:avLst/>
          </a:prstGeom>
          <a:noFill/>
        </p:spPr>
        <p:txBody>
          <a:bodyPr wrap="square" anchor="t" lIns="0" rIns="0" tIns="0" bIns="0">
            <a:spAutoFit/>
          </a:bodyPr>
          <a:lstStyle/>
          <a:p>
            <a:pPr algn="l">
              <a:lnSpc>
                <a:spcPct val="135000"/>
              </a:lnSpc>
            </a:pPr>
            <a:r>
              <a:rPr sz="1300" b="0">
                <a:solidFill>
                  <a:srgbClr val="1F2933"/>
                </a:solidFill>
                <a:latin typeface="맑은 고딕"/>
                <a:ea typeface="맑은 고딕"/>
                <a:cs typeface="맑은 고딕"/>
              </a:rPr>
              <a:t>매 수업 방해받는 학생의</a:t>
            </a:r>
          </a:p>
          <a:p>
            <a:pPr algn="l">
              <a:lnSpc>
                <a:spcPct val="135000"/>
              </a:lnSpc>
            </a:pPr>
            <a:r>
              <a:rPr sz="1300" b="0">
                <a:solidFill>
                  <a:srgbClr val="1F2933"/>
                </a:solidFill>
                <a:latin typeface="맑은 고딕"/>
                <a:ea typeface="맑은 고딕"/>
                <a:cs typeface="맑은 고딕"/>
              </a:rPr>
              <a:t>수학 점수</a:t>
            </a:r>
          </a:p>
        </p:txBody>
      </p:sp>
      <p:sp>
        <p:nvSpPr>
          <p:cNvPr id="14" name="Rectangle 13"/>
          <p:cNvSpPr/>
          <p:nvPr/>
        </p:nvSpPr>
        <p:spPr>
          <a:xfrm>
            <a:off x="4727448" y="3913632"/>
            <a:ext cx="2743200"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4041648"/>
            <a:ext cx="2743200" cy="411480"/>
          </a:xfrm>
          <a:prstGeom prst="rect">
            <a:avLst/>
          </a:prstGeom>
          <a:noFill/>
        </p:spPr>
        <p:txBody>
          <a:bodyPr wrap="square" anchor="t" lIns="0" rIns="0" tIns="0" bIns="0">
            <a:spAutoFit/>
          </a:bodyPr>
          <a:lstStyle/>
          <a:p>
            <a:pPr algn="l">
              <a:lnSpc>
                <a:spcPct val="125000"/>
              </a:lnSpc>
            </a:pPr>
            <a:r>
              <a:rPr sz="1150" b="0">
                <a:solidFill>
                  <a:srgbClr val="7B8894"/>
                </a:solidFill>
                <a:latin typeface="맑은 고딕"/>
                <a:ea typeface="맑은 고딕"/>
                <a:cs typeface="맑은 고딕"/>
              </a:rPr>
              <a:t>연간 학습량의 약 4분의 3에 해당</a:t>
            </a:r>
          </a:p>
        </p:txBody>
      </p:sp>
      <p:sp>
        <p:nvSpPr>
          <p:cNvPr id="16" name="Rounded Rectangle 15"/>
          <p:cNvSpPr/>
          <p:nvPr/>
        </p:nvSpPr>
        <p:spPr>
          <a:xfrm>
            <a:off x="8129016" y="2194560"/>
            <a:ext cx="3291840" cy="2377440"/>
          </a:xfrm>
          <a:prstGeom prst="roundRect">
            <a:avLst>
              <a:gd name="adj" fmla="val 1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03336" y="2468880"/>
            <a:ext cx="2743200" cy="502920"/>
          </a:xfrm>
          <a:prstGeom prst="rect">
            <a:avLst/>
          </a:prstGeom>
          <a:noFill/>
        </p:spPr>
        <p:txBody>
          <a:bodyPr wrap="square" anchor="t" lIns="0" rIns="0" tIns="0" bIns="0">
            <a:spAutoFit/>
          </a:bodyPr>
          <a:lstStyle/>
          <a:p>
            <a:pPr algn="l">
              <a:lnSpc>
                <a:spcPct val="115000"/>
              </a:lnSpc>
            </a:pPr>
            <a:r>
              <a:rPr sz="3000" b="1">
                <a:solidFill>
                  <a:srgbClr val="15803D"/>
                </a:solidFill>
                <a:latin typeface="맑은 고딕"/>
                <a:ea typeface="맑은 고딕"/>
                <a:cs typeface="맑은 고딕"/>
              </a:rPr>
              <a:t>+14점</a:t>
            </a:r>
          </a:p>
        </p:txBody>
      </p:sp>
      <p:sp>
        <p:nvSpPr>
          <p:cNvPr id="18" name="TextBox 17"/>
          <p:cNvSpPr txBox="1"/>
          <p:nvPr/>
        </p:nvSpPr>
        <p:spPr>
          <a:xfrm>
            <a:off x="8403336" y="3154680"/>
            <a:ext cx="2743200" cy="685800"/>
          </a:xfrm>
          <a:prstGeom prst="rect">
            <a:avLst/>
          </a:prstGeom>
          <a:noFill/>
        </p:spPr>
        <p:txBody>
          <a:bodyPr wrap="square" anchor="t" lIns="0" rIns="0" tIns="0" bIns="0">
            <a:spAutoFit/>
          </a:bodyPr>
          <a:lstStyle/>
          <a:p>
            <a:pPr algn="l">
              <a:lnSpc>
                <a:spcPct val="135000"/>
              </a:lnSpc>
            </a:pPr>
            <a:r>
              <a:rPr sz="1300" b="0">
                <a:solidFill>
                  <a:srgbClr val="1F2933"/>
                </a:solidFill>
                <a:latin typeface="맑은 고딕"/>
                <a:ea typeface="맑은 고딕"/>
                <a:cs typeface="맑은 고딕"/>
              </a:rPr>
              <a:t>학습 목적으로 하루 1시간</a:t>
            </a:r>
          </a:p>
          <a:p>
            <a:pPr algn="l">
              <a:lnSpc>
                <a:spcPct val="135000"/>
              </a:lnSpc>
            </a:pPr>
            <a:r>
              <a:rPr sz="1300" b="0">
                <a:solidFill>
                  <a:srgbClr val="1F2933"/>
                </a:solidFill>
                <a:latin typeface="맑은 고딕"/>
                <a:ea typeface="맑은 고딕"/>
                <a:cs typeface="맑은 고딕"/>
              </a:rPr>
              <a:t>이하 사용한 학생의 수학 점수</a:t>
            </a:r>
          </a:p>
        </p:txBody>
      </p:sp>
      <p:sp>
        <p:nvSpPr>
          <p:cNvPr id="19" name="Rectangle 18"/>
          <p:cNvSpPr/>
          <p:nvPr/>
        </p:nvSpPr>
        <p:spPr>
          <a:xfrm>
            <a:off x="8403336" y="3913632"/>
            <a:ext cx="2743200"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03336" y="4041648"/>
            <a:ext cx="2743200" cy="411480"/>
          </a:xfrm>
          <a:prstGeom prst="rect">
            <a:avLst/>
          </a:prstGeom>
          <a:noFill/>
        </p:spPr>
        <p:txBody>
          <a:bodyPr wrap="square" anchor="t" lIns="0" rIns="0" tIns="0" bIns="0">
            <a:spAutoFit/>
          </a:bodyPr>
          <a:lstStyle/>
          <a:p>
            <a:pPr algn="l">
              <a:lnSpc>
                <a:spcPct val="125000"/>
              </a:lnSpc>
            </a:pPr>
            <a:r>
              <a:rPr sz="1150" b="0">
                <a:solidFill>
                  <a:srgbClr val="7B8894"/>
                </a:solidFill>
                <a:latin typeface="맑은 고딕"/>
                <a:ea typeface="맑은 고딕"/>
                <a:cs typeface="맑은 고딕"/>
              </a:rPr>
              <a:t>전혀 쓰지 않은 학생과 비교</a:t>
            </a:r>
          </a:p>
        </p:txBody>
      </p:sp>
      <p:sp>
        <p:nvSpPr>
          <p:cNvPr id="21" name="Rounded Rectangle 20"/>
          <p:cNvSpPr/>
          <p:nvPr/>
        </p:nvSpPr>
        <p:spPr>
          <a:xfrm>
            <a:off x="777240" y="4800600"/>
            <a:ext cx="10637215" cy="11430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143000" y="5001768"/>
            <a:ext cx="9905695" cy="77724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다만 여가 목적으로 하루 1시간을 넘기면 점수가 크게 떨어졌습니다.</a:t>
            </a:r>
          </a:p>
          <a:p>
            <a:pPr algn="l">
              <a:lnSpc>
                <a:spcPct val="135000"/>
              </a:lnSpc>
              <a:spcAft>
                <a:spcPts val="400"/>
              </a:spcAft>
            </a:pPr>
            <a:r>
              <a:rPr sz="1450" b="0">
                <a:solidFill>
                  <a:srgbClr val="3E4C59"/>
                </a:solidFill>
                <a:latin typeface="맑은 고딕"/>
                <a:ea typeface="맑은 고딕"/>
                <a:cs typeface="맑은 고딕"/>
              </a:rPr>
              <a:t>같은 기기, 같은 시간이라도 학습에 썼는지 오락에 썼는지에 따라 방향이 갈렸습니다. 우리 집 기준도 ‘몇 시간’보다 ‘무엇에’가 먼저입니다.</a:t>
            </a:r>
          </a:p>
        </p:txBody>
      </p:sp>
      <p:sp>
        <p:nvSpPr>
          <p:cNvPr id="23" name="Rectangle 22"/>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OECD, PISA 2022 Results (Volume I)</a:t>
            </a:r>
          </a:p>
        </p:txBody>
      </p:sp>
      <p:sp>
        <p:nvSpPr>
          <p:cNvPr id="25" name="TextBox 24"/>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21 /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숙제와 평가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숙제에 AI를 써도 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정부와 교육청은 ‘일률적 금지’ 대신 ‘범위를 정해 활용’을 선택했습니다.</a:t>
            </a:r>
          </a:p>
        </p:txBody>
      </p:sp>
      <p:sp>
        <p:nvSpPr>
          <p:cNvPr id="6" name="Rounded Rectangle 5"/>
          <p:cNvSpPr/>
          <p:nvPr/>
        </p:nvSpPr>
        <p:spPr>
          <a:xfrm>
            <a:off x="777240" y="2176272"/>
            <a:ext cx="10637215" cy="96012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43000" y="2377440"/>
            <a:ext cx="9905695" cy="594360"/>
          </a:xfrm>
          <a:prstGeom prst="rect">
            <a:avLst/>
          </a:prstGeom>
          <a:noFill/>
        </p:spPr>
        <p:txBody>
          <a:bodyPr wrap="square" anchor="t" lIns="0" rIns="0" tIns="0" bIns="0">
            <a:spAutoFit/>
          </a:bodyPr>
          <a:lstStyle/>
          <a:p>
            <a:pPr algn="l">
              <a:lnSpc>
                <a:spcPct val="135000"/>
              </a:lnSpc>
              <a:spcAft>
                <a:spcPts val="400"/>
              </a:spcAft>
            </a:pPr>
            <a:r>
              <a:rPr sz="1450" b="0">
                <a:solidFill>
                  <a:srgbClr val="3E4C59"/>
                </a:solidFill>
                <a:latin typeface="맑은 고딕"/>
                <a:ea typeface="맑은 고딕"/>
                <a:cs typeface="맑은 고딕"/>
              </a:rPr>
              <a:t>교육부와 17개 시도교육청은 </a:t>
            </a:r>
            <a:r>
              <a:rPr sz="1450" b="1">
                <a:solidFill>
                  <a:srgbClr val="1D4ED8"/>
                </a:solidFill>
                <a:latin typeface="맑은 고딕"/>
                <a:ea typeface="맑은 고딕"/>
                <a:cs typeface="맑은 고딕"/>
              </a:rPr>
              <a:t>「수행평가 시 인공지능(AI) 활용 관리 방안」</a:t>
            </a:r>
            <a:r>
              <a:rPr sz="1450" b="0">
                <a:solidFill>
                  <a:srgbClr val="3E4C59"/>
                </a:solidFill>
                <a:latin typeface="맑은 고딕"/>
                <a:ea typeface="맑은 고딕"/>
                <a:cs typeface="맑은 고딕"/>
              </a:rPr>
              <a:t>을 마련했습니다.</a:t>
            </a:r>
          </a:p>
          <a:p>
            <a:pPr algn="l">
              <a:lnSpc>
                <a:spcPct val="135000"/>
              </a:lnSpc>
              <a:spcAft>
                <a:spcPts val="400"/>
              </a:spcAft>
            </a:pPr>
            <a:r>
              <a:rPr sz="1450" b="0">
                <a:solidFill>
                  <a:srgbClr val="3E4C59"/>
                </a:solidFill>
                <a:latin typeface="맑은 고딕"/>
                <a:ea typeface="맑은 고딕"/>
                <a:cs typeface="맑은 고딕"/>
              </a:rPr>
              <a:t>중·고등학교 수행평가가 중심이지만, 금지보다 안전하고 교육적으로 활용하게 한다는 방향을 보여 줍니다.</a:t>
            </a:r>
          </a:p>
        </p:txBody>
      </p:sp>
      <p:sp>
        <p:nvSpPr>
          <p:cNvPr id="8" name="Rounded Rectangle 7"/>
          <p:cNvSpPr/>
          <p:nvPr/>
        </p:nvSpPr>
        <p:spPr>
          <a:xfrm>
            <a:off x="777240" y="3337560"/>
            <a:ext cx="1951878" cy="1234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570299"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0299" y="3602736"/>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1</a:t>
            </a:r>
          </a:p>
        </p:txBody>
      </p:sp>
      <p:sp>
        <p:nvSpPr>
          <p:cNvPr id="11" name="TextBox 10"/>
          <p:cNvSpPr txBox="1"/>
          <p:nvPr/>
        </p:nvSpPr>
        <p:spPr>
          <a:xfrm>
            <a:off x="905256" y="4069080"/>
            <a:ext cx="1695846" cy="457200"/>
          </a:xfrm>
          <a:prstGeom prst="rect">
            <a:avLst/>
          </a:prstGeom>
          <a:noFill/>
        </p:spPr>
        <p:txBody>
          <a:bodyPr wrap="square" anchor="t" lIns="0" rIns="0" tIns="0" bIns="0">
            <a:spAutoFit/>
          </a:bodyPr>
          <a:lstStyle/>
          <a:p>
            <a:pPr algn="ctr">
              <a:lnSpc>
                <a:spcPct val="120000"/>
              </a:lnSpc>
            </a:pPr>
            <a:r>
              <a:rPr sz="1300" b="1">
                <a:solidFill>
                  <a:srgbClr val="1F2933"/>
                </a:solidFill>
                <a:latin typeface="맑은 고딕"/>
                <a:ea typeface="맑은 고딕"/>
                <a:cs typeface="맑은 고딕"/>
              </a:rPr>
              <a:t>AI 활용 범위 설정</a:t>
            </a:r>
          </a:p>
        </p:txBody>
      </p:sp>
      <p:sp>
        <p:nvSpPr>
          <p:cNvPr id="12" name="Rounded Rectangle 11"/>
          <p:cNvSpPr/>
          <p:nvPr/>
        </p:nvSpPr>
        <p:spPr>
          <a:xfrm>
            <a:off x="2948574" y="3337560"/>
            <a:ext cx="1951878" cy="1234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741633"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1633" y="3602736"/>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2</a:t>
            </a:r>
          </a:p>
        </p:txBody>
      </p:sp>
      <p:sp>
        <p:nvSpPr>
          <p:cNvPr id="15" name="TextBox 14"/>
          <p:cNvSpPr txBox="1"/>
          <p:nvPr/>
        </p:nvSpPr>
        <p:spPr>
          <a:xfrm>
            <a:off x="3076590" y="4069080"/>
            <a:ext cx="1695846" cy="457200"/>
          </a:xfrm>
          <a:prstGeom prst="rect">
            <a:avLst/>
          </a:prstGeom>
          <a:noFill/>
        </p:spPr>
        <p:txBody>
          <a:bodyPr wrap="square" anchor="t" lIns="0" rIns="0" tIns="0" bIns="0">
            <a:spAutoFit/>
          </a:bodyPr>
          <a:lstStyle/>
          <a:p>
            <a:pPr algn="ctr">
              <a:lnSpc>
                <a:spcPct val="120000"/>
              </a:lnSpc>
            </a:pPr>
            <a:r>
              <a:rPr sz="1300" b="1">
                <a:solidFill>
                  <a:srgbClr val="1F2933"/>
                </a:solidFill>
                <a:latin typeface="맑은 고딕"/>
                <a:ea typeface="맑은 고딕"/>
                <a:cs typeface="맑은 고딕"/>
              </a:rPr>
              <a:t>AI 활용 과정 표기 지도</a:t>
            </a:r>
          </a:p>
        </p:txBody>
      </p:sp>
      <p:sp>
        <p:nvSpPr>
          <p:cNvPr id="16" name="Rounded Rectangle 15"/>
          <p:cNvSpPr/>
          <p:nvPr/>
        </p:nvSpPr>
        <p:spPr>
          <a:xfrm>
            <a:off x="5119908" y="3337560"/>
            <a:ext cx="1951878" cy="1234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5912967"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12967" y="3602736"/>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3</a:t>
            </a:r>
          </a:p>
        </p:txBody>
      </p:sp>
      <p:sp>
        <p:nvSpPr>
          <p:cNvPr id="19" name="TextBox 18"/>
          <p:cNvSpPr txBox="1"/>
          <p:nvPr/>
        </p:nvSpPr>
        <p:spPr>
          <a:xfrm>
            <a:off x="5247924" y="4069080"/>
            <a:ext cx="1695846" cy="457200"/>
          </a:xfrm>
          <a:prstGeom prst="rect">
            <a:avLst/>
          </a:prstGeom>
          <a:noFill/>
        </p:spPr>
        <p:txBody>
          <a:bodyPr wrap="square" anchor="t" lIns="0" rIns="0" tIns="0" bIns="0">
            <a:spAutoFit/>
          </a:bodyPr>
          <a:lstStyle/>
          <a:p>
            <a:pPr algn="ctr">
              <a:lnSpc>
                <a:spcPct val="120000"/>
              </a:lnSpc>
            </a:pPr>
            <a:r>
              <a:rPr sz="1300" b="1">
                <a:solidFill>
                  <a:srgbClr val="1F2933"/>
                </a:solidFill>
                <a:latin typeface="맑은 고딕"/>
                <a:ea typeface="맑은 고딕"/>
                <a:cs typeface="맑은 고딕"/>
              </a:rPr>
              <a:t>학생 유의 사항 안내·사전교육</a:t>
            </a:r>
          </a:p>
        </p:txBody>
      </p:sp>
      <p:sp>
        <p:nvSpPr>
          <p:cNvPr id="20" name="Rounded Rectangle 19"/>
          <p:cNvSpPr/>
          <p:nvPr/>
        </p:nvSpPr>
        <p:spPr>
          <a:xfrm>
            <a:off x="7291242" y="3337560"/>
            <a:ext cx="1951878" cy="1234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084301"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4301" y="3602736"/>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4</a:t>
            </a:r>
          </a:p>
        </p:txBody>
      </p:sp>
      <p:sp>
        <p:nvSpPr>
          <p:cNvPr id="23" name="TextBox 22"/>
          <p:cNvSpPr txBox="1"/>
          <p:nvPr/>
        </p:nvSpPr>
        <p:spPr>
          <a:xfrm>
            <a:off x="7419258" y="4069080"/>
            <a:ext cx="1695846" cy="457200"/>
          </a:xfrm>
          <a:prstGeom prst="rect">
            <a:avLst/>
          </a:prstGeom>
          <a:noFill/>
        </p:spPr>
        <p:txBody>
          <a:bodyPr wrap="square" anchor="t" lIns="0" rIns="0" tIns="0" bIns="0">
            <a:spAutoFit/>
          </a:bodyPr>
          <a:lstStyle/>
          <a:p>
            <a:pPr algn="ctr">
              <a:lnSpc>
                <a:spcPct val="120000"/>
              </a:lnSpc>
            </a:pPr>
            <a:r>
              <a:rPr sz="1300" b="1">
                <a:solidFill>
                  <a:srgbClr val="1F2933"/>
                </a:solidFill>
                <a:latin typeface="맑은 고딕"/>
                <a:ea typeface="맑은 고딕"/>
                <a:cs typeface="맑은 고딕"/>
              </a:rPr>
              <a:t>평가 설계 방향</a:t>
            </a:r>
          </a:p>
        </p:txBody>
      </p:sp>
      <p:sp>
        <p:nvSpPr>
          <p:cNvPr id="24" name="Rounded Rectangle 23"/>
          <p:cNvSpPr/>
          <p:nvPr/>
        </p:nvSpPr>
        <p:spPr>
          <a:xfrm>
            <a:off x="9462576" y="3337560"/>
            <a:ext cx="1951878" cy="12344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10255636"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55636" y="3602736"/>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5</a:t>
            </a:r>
          </a:p>
        </p:txBody>
      </p:sp>
      <p:sp>
        <p:nvSpPr>
          <p:cNvPr id="27" name="TextBox 26"/>
          <p:cNvSpPr txBox="1"/>
          <p:nvPr/>
        </p:nvSpPr>
        <p:spPr>
          <a:xfrm>
            <a:off x="9590592" y="4069080"/>
            <a:ext cx="1695846" cy="457200"/>
          </a:xfrm>
          <a:prstGeom prst="rect">
            <a:avLst/>
          </a:prstGeom>
          <a:noFill/>
        </p:spPr>
        <p:txBody>
          <a:bodyPr wrap="square" anchor="t" lIns="0" rIns="0" tIns="0" bIns="0">
            <a:spAutoFit/>
          </a:bodyPr>
          <a:lstStyle/>
          <a:p>
            <a:pPr algn="ctr">
              <a:lnSpc>
                <a:spcPct val="120000"/>
              </a:lnSpc>
            </a:pPr>
            <a:r>
              <a:rPr sz="1300" b="1">
                <a:solidFill>
                  <a:srgbClr val="1F2933"/>
                </a:solidFill>
                <a:latin typeface="맑은 고딕"/>
                <a:ea typeface="맑은 고딕"/>
                <a:cs typeface="맑은 고딕"/>
              </a:rPr>
              <a:t>개인정보 보호</a:t>
            </a:r>
          </a:p>
        </p:txBody>
      </p:sp>
      <p:sp>
        <p:nvSpPr>
          <p:cNvPr id="28" name="Rounded Rectangle 27"/>
          <p:cNvSpPr/>
          <p:nvPr/>
        </p:nvSpPr>
        <p:spPr>
          <a:xfrm>
            <a:off x="777240" y="4800600"/>
            <a:ext cx="10637215" cy="1444752"/>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143000" y="4965192"/>
            <a:ext cx="3657600" cy="274320"/>
          </a:xfrm>
          <a:prstGeom prst="rect">
            <a:avLst/>
          </a:prstGeom>
          <a:noFill/>
        </p:spPr>
        <p:txBody>
          <a:bodyPr wrap="square" anchor="t" lIns="0" rIns="0" tIns="0" bIns="0">
            <a:spAutoFit/>
          </a:bodyPr>
          <a:lstStyle/>
          <a:p>
            <a:pPr algn="l">
              <a:lnSpc>
                <a:spcPct val="115000"/>
              </a:lnSpc>
            </a:pPr>
            <a:r>
              <a:rPr sz="1300" b="1">
                <a:solidFill>
                  <a:srgbClr val="B91C1C"/>
                </a:solidFill>
                <a:latin typeface="맑은 고딕"/>
                <a:ea typeface="맑은 고딕"/>
                <a:cs typeface="맑은 고딕"/>
              </a:rPr>
              <a:t>금지되는 행위로 제시된 예</a:t>
            </a:r>
          </a:p>
        </p:txBody>
      </p:sp>
      <p:sp>
        <p:nvSpPr>
          <p:cNvPr id="30" name="TextBox 29"/>
          <p:cNvSpPr txBox="1"/>
          <p:nvPr/>
        </p:nvSpPr>
        <p:spPr>
          <a:xfrm>
            <a:off x="1143000" y="5285232"/>
            <a:ext cx="9905695" cy="548640"/>
          </a:xfrm>
          <a:prstGeom prst="rect">
            <a:avLst/>
          </a:prstGeom>
          <a:noFill/>
        </p:spPr>
        <p:txBody>
          <a:bodyPr wrap="square" anchor="t" lIns="0" rIns="0" tIns="0" bIns="0">
            <a:spAutoFit/>
          </a:bodyPr>
          <a:lstStyle/>
          <a:p>
            <a:pPr algn="l">
              <a:lnSpc>
                <a:spcPct val="130000"/>
              </a:lnSpc>
              <a:spcAft>
                <a:spcPts val="400"/>
              </a:spcAft>
            </a:pPr>
            <a:r>
              <a:rPr sz="1400" b="0">
                <a:solidFill>
                  <a:srgbClr val="3E4C59"/>
                </a:solidFill>
                <a:latin typeface="맑은 고딕"/>
                <a:ea typeface="맑은 고딕"/>
                <a:cs typeface="맑은 고딕"/>
              </a:rPr>
              <a:t>· AI가 생성한 글·이미지를 자신의 창작물로 제출하는 행위</a:t>
            </a:r>
          </a:p>
          <a:p>
            <a:pPr algn="l">
              <a:lnSpc>
                <a:spcPct val="130000"/>
              </a:lnSpc>
              <a:spcAft>
                <a:spcPts val="400"/>
              </a:spcAft>
            </a:pPr>
            <a:r>
              <a:rPr sz="1400" b="0">
                <a:solidFill>
                  <a:srgbClr val="3E4C59"/>
                </a:solidFill>
                <a:latin typeface="맑은 고딕"/>
                <a:ea typeface="맑은 고딕"/>
                <a:cs typeface="맑은 고딕"/>
              </a:rPr>
              <a:t>· 문제풀이 앱 등에 평가 문항을 입력하고 생성된 답안을 그대로 제출하는 행위</a:t>
            </a:r>
          </a:p>
        </p:txBody>
      </p:sp>
      <p:sp>
        <p:nvSpPr>
          <p:cNvPr id="31" name="Rectangle 30"/>
          <p:cNvSpPr/>
          <p:nvPr/>
        </p:nvSpPr>
        <p:spPr>
          <a:xfrm>
            <a:off x="1143000" y="5870448"/>
            <a:ext cx="9905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980176"/>
            <a:ext cx="9905695" cy="274320"/>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초등학교 과제의 허용 범위는 담임 선생님의 안내가 우선입니다.</a:t>
            </a:r>
          </a:p>
        </p:txBody>
      </p:sp>
      <p:sp>
        <p:nvSpPr>
          <p:cNvPr id="33" name="Rectangle 32"/>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교육부·17개 시도교육청, 「수행평가 시 인공지능(AI) 활용 관리 방안」</a:t>
            </a:r>
          </a:p>
        </p:txBody>
      </p:sp>
      <p:sp>
        <p:nvSpPr>
          <p:cNvPr id="35" name="TextBox 34"/>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22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지원 수준 4단계</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어디까지가 도움일까요?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같은 AI라도 무엇을 요청하느냐에 따라 단계가 달라집니다.</a:t>
            </a:r>
          </a:p>
        </p:txBody>
      </p:sp>
      <p:sp>
        <p:nvSpPr>
          <p:cNvPr id="6" name="Rounded Rectangle 5"/>
          <p:cNvSpPr/>
          <p:nvPr/>
        </p:nvSpPr>
        <p:spPr>
          <a:xfrm>
            <a:off x="777240" y="2331720"/>
            <a:ext cx="2331720" cy="2011680"/>
          </a:xfrm>
          <a:prstGeom prst="roundRect">
            <a:avLst>
              <a:gd name="adj" fmla="val 1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33271" y="2560320"/>
            <a:ext cx="365760" cy="36576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615184"/>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1</a:t>
            </a:r>
          </a:p>
        </p:txBody>
      </p:sp>
      <p:sp>
        <p:nvSpPr>
          <p:cNvPr id="9" name="TextBox 8"/>
          <p:cNvSpPr txBox="1"/>
          <p:nvPr/>
        </p:nvSpPr>
        <p:spPr>
          <a:xfrm>
            <a:off x="1033271" y="3063240"/>
            <a:ext cx="1819655" cy="365760"/>
          </a:xfrm>
          <a:prstGeom prst="rect">
            <a:avLst/>
          </a:prstGeom>
          <a:noFill/>
        </p:spPr>
        <p:txBody>
          <a:bodyPr wrap="square" anchor="t" lIns="0" rIns="0" tIns="0" bIns="0">
            <a:spAutoFit/>
          </a:bodyPr>
          <a:lstStyle/>
          <a:p>
            <a:pPr algn="l">
              <a:lnSpc>
                <a:spcPct val="115000"/>
              </a:lnSpc>
            </a:pPr>
            <a:r>
              <a:rPr sz="1750" b="1">
                <a:solidFill>
                  <a:srgbClr val="15803D"/>
                </a:solidFill>
                <a:latin typeface="맑은 고딕"/>
                <a:ea typeface="맑은 고딕"/>
                <a:cs typeface="맑은 고딕"/>
              </a:rPr>
              <a:t>개념 설명</a:t>
            </a:r>
          </a:p>
        </p:txBody>
      </p:sp>
      <p:sp>
        <p:nvSpPr>
          <p:cNvPr id="10" name="TextBox 9"/>
          <p:cNvSpPr txBox="1"/>
          <p:nvPr/>
        </p:nvSpPr>
        <p:spPr>
          <a:xfrm>
            <a:off x="1033271" y="3520440"/>
            <a:ext cx="1819655" cy="64008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“분수가 뭔지</a:t>
            </a:r>
          </a:p>
          <a:p>
            <a:pPr algn="l">
              <a:lnSpc>
                <a:spcPct val="130000"/>
              </a:lnSpc>
            </a:pPr>
            <a:r>
              <a:rPr sz="1300" b="0">
                <a:solidFill>
                  <a:srgbClr val="3E4C59"/>
                </a:solidFill>
                <a:latin typeface="맑은 고딕"/>
                <a:ea typeface="맑은 고딕"/>
                <a:cs typeface="맑은 고딕"/>
              </a:rPr>
              <a:t>쉽게 설명해 줘”</a:t>
            </a:r>
          </a:p>
        </p:txBody>
      </p:sp>
      <p:sp>
        <p:nvSpPr>
          <p:cNvPr id="11" name="Right Arrow 10"/>
          <p:cNvSpPr/>
          <p:nvPr/>
        </p:nvSpPr>
        <p:spPr>
          <a:xfrm>
            <a:off x="3181045" y="3200400"/>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45738" y="2331720"/>
            <a:ext cx="2331720" cy="2011680"/>
          </a:xfrm>
          <a:prstGeom prst="roundRect">
            <a:avLst>
              <a:gd name="adj" fmla="val 10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801770" y="2560320"/>
            <a:ext cx="365760" cy="36576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01770" y="2615184"/>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2</a:t>
            </a:r>
          </a:p>
        </p:txBody>
      </p:sp>
      <p:sp>
        <p:nvSpPr>
          <p:cNvPr id="15" name="TextBox 14"/>
          <p:cNvSpPr txBox="1"/>
          <p:nvPr/>
        </p:nvSpPr>
        <p:spPr>
          <a:xfrm>
            <a:off x="3801770" y="3063240"/>
            <a:ext cx="1819655" cy="365760"/>
          </a:xfrm>
          <a:prstGeom prst="rect">
            <a:avLst/>
          </a:prstGeom>
          <a:noFill/>
        </p:spPr>
        <p:txBody>
          <a:bodyPr wrap="square" anchor="t" lIns="0" rIns="0" tIns="0" bIns="0">
            <a:spAutoFit/>
          </a:bodyPr>
          <a:lstStyle/>
          <a:p>
            <a:pPr algn="l">
              <a:lnSpc>
                <a:spcPct val="115000"/>
              </a:lnSpc>
            </a:pPr>
            <a:r>
              <a:rPr sz="1750" b="1">
                <a:solidFill>
                  <a:srgbClr val="15803D"/>
                </a:solidFill>
                <a:latin typeface="맑은 고딕"/>
                <a:ea typeface="맑은 고딕"/>
                <a:cs typeface="맑은 고딕"/>
              </a:rPr>
              <a:t>한 단계 힌트</a:t>
            </a:r>
          </a:p>
        </p:txBody>
      </p:sp>
      <p:sp>
        <p:nvSpPr>
          <p:cNvPr id="16" name="TextBox 15"/>
          <p:cNvSpPr txBox="1"/>
          <p:nvPr/>
        </p:nvSpPr>
        <p:spPr>
          <a:xfrm>
            <a:off x="3801770" y="3520440"/>
            <a:ext cx="1819655" cy="64008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“정답 말고</a:t>
            </a:r>
          </a:p>
          <a:p>
            <a:pPr algn="l">
              <a:lnSpc>
                <a:spcPct val="130000"/>
              </a:lnSpc>
            </a:pPr>
            <a:r>
              <a:rPr sz="1300" b="0">
                <a:solidFill>
                  <a:srgbClr val="3E4C59"/>
                </a:solidFill>
                <a:latin typeface="맑은 고딕"/>
                <a:ea typeface="맑은 고딕"/>
                <a:cs typeface="맑은 고딕"/>
              </a:rPr>
              <a:t>첫 번째 힌트만”</a:t>
            </a:r>
          </a:p>
        </p:txBody>
      </p:sp>
      <p:sp>
        <p:nvSpPr>
          <p:cNvPr id="17" name="Right Arrow 16"/>
          <p:cNvSpPr/>
          <p:nvPr/>
        </p:nvSpPr>
        <p:spPr>
          <a:xfrm>
            <a:off x="5949543" y="3200400"/>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14236" y="2331720"/>
            <a:ext cx="2331720" cy="2011680"/>
          </a:xfrm>
          <a:prstGeom prst="roundRect">
            <a:avLst>
              <a:gd name="adj" fmla="val 10000"/>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70268" y="2560320"/>
            <a:ext cx="365760" cy="3657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70268" y="2615184"/>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3</a:t>
            </a:r>
          </a:p>
        </p:txBody>
      </p:sp>
      <p:sp>
        <p:nvSpPr>
          <p:cNvPr id="21" name="TextBox 20"/>
          <p:cNvSpPr txBox="1"/>
          <p:nvPr/>
        </p:nvSpPr>
        <p:spPr>
          <a:xfrm>
            <a:off x="6570268" y="3063240"/>
            <a:ext cx="1819655" cy="365760"/>
          </a:xfrm>
          <a:prstGeom prst="rect">
            <a:avLst/>
          </a:prstGeom>
          <a:noFill/>
        </p:spPr>
        <p:txBody>
          <a:bodyPr wrap="square" anchor="t" lIns="0" rIns="0" tIns="0" bIns="0">
            <a:spAutoFit/>
          </a:bodyPr>
          <a:lstStyle/>
          <a:p>
            <a:pPr algn="l">
              <a:lnSpc>
                <a:spcPct val="115000"/>
              </a:lnSpc>
            </a:pPr>
            <a:r>
              <a:rPr sz="1750" b="1">
                <a:solidFill>
                  <a:srgbClr val="B45309"/>
                </a:solidFill>
                <a:latin typeface="맑은 고딕"/>
                <a:ea typeface="맑은 고딕"/>
                <a:cs typeface="맑은 고딕"/>
              </a:rPr>
              <a:t>피드백</a:t>
            </a:r>
          </a:p>
        </p:txBody>
      </p:sp>
      <p:sp>
        <p:nvSpPr>
          <p:cNvPr id="22" name="TextBox 21"/>
          <p:cNvSpPr txBox="1"/>
          <p:nvPr/>
        </p:nvSpPr>
        <p:spPr>
          <a:xfrm>
            <a:off x="6570268" y="3520440"/>
            <a:ext cx="1819655" cy="64008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“내가 쓴 글에서</a:t>
            </a:r>
          </a:p>
          <a:p>
            <a:pPr algn="l">
              <a:lnSpc>
                <a:spcPct val="130000"/>
              </a:lnSpc>
            </a:pPr>
            <a:r>
              <a:rPr sz="1300" b="0">
                <a:solidFill>
                  <a:srgbClr val="3E4C59"/>
                </a:solidFill>
                <a:latin typeface="맑은 고딕"/>
                <a:ea typeface="맑은 고딕"/>
                <a:cs typeface="맑은 고딕"/>
              </a:rPr>
              <a:t>어색한 곳 찾아 줘”</a:t>
            </a:r>
          </a:p>
        </p:txBody>
      </p:sp>
      <p:sp>
        <p:nvSpPr>
          <p:cNvPr id="23" name="Right Arrow 22"/>
          <p:cNvSpPr/>
          <p:nvPr/>
        </p:nvSpPr>
        <p:spPr>
          <a:xfrm>
            <a:off x="8718042" y="3200400"/>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82735" y="2331720"/>
            <a:ext cx="2331720" cy="201168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9338767" y="2560320"/>
            <a:ext cx="365760" cy="36576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38767" y="2615184"/>
            <a:ext cx="36576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맑은 고딕"/>
                <a:ea typeface="맑은 고딕"/>
                <a:cs typeface="맑은 고딕"/>
              </a:rPr>
              <a:t>4</a:t>
            </a:r>
          </a:p>
        </p:txBody>
      </p:sp>
      <p:sp>
        <p:nvSpPr>
          <p:cNvPr id="27" name="TextBox 26"/>
          <p:cNvSpPr txBox="1"/>
          <p:nvPr/>
        </p:nvSpPr>
        <p:spPr>
          <a:xfrm>
            <a:off x="9338767" y="3063240"/>
            <a:ext cx="1819655" cy="365760"/>
          </a:xfrm>
          <a:prstGeom prst="rect">
            <a:avLst/>
          </a:prstGeom>
          <a:noFill/>
        </p:spPr>
        <p:txBody>
          <a:bodyPr wrap="square" anchor="t" lIns="0" rIns="0" tIns="0" bIns="0">
            <a:spAutoFit/>
          </a:bodyPr>
          <a:lstStyle/>
          <a:p>
            <a:pPr algn="l">
              <a:lnSpc>
                <a:spcPct val="115000"/>
              </a:lnSpc>
            </a:pPr>
            <a:r>
              <a:rPr sz="1750" b="1">
                <a:solidFill>
                  <a:srgbClr val="B91C1C"/>
                </a:solidFill>
                <a:latin typeface="맑은 고딕"/>
                <a:ea typeface="맑은 고딕"/>
                <a:cs typeface="맑은 고딕"/>
              </a:rPr>
              <a:t>작성 대행</a:t>
            </a:r>
          </a:p>
        </p:txBody>
      </p:sp>
      <p:sp>
        <p:nvSpPr>
          <p:cNvPr id="28" name="TextBox 27"/>
          <p:cNvSpPr txBox="1"/>
          <p:nvPr/>
        </p:nvSpPr>
        <p:spPr>
          <a:xfrm>
            <a:off x="9338767" y="3520440"/>
            <a:ext cx="1819655" cy="640080"/>
          </a:xfrm>
          <a:prstGeom prst="rect">
            <a:avLst/>
          </a:prstGeom>
          <a:noFill/>
        </p:spPr>
        <p:txBody>
          <a:bodyPr wrap="square" anchor="t" lIns="0" rIns="0" tIns="0" bIns="0">
            <a:spAutoFit/>
          </a:bodyPr>
          <a:lstStyle/>
          <a:p>
            <a:pPr algn="l">
              <a:lnSpc>
                <a:spcPct val="130000"/>
              </a:lnSpc>
            </a:pPr>
            <a:r>
              <a:rPr sz="1300" b="0">
                <a:solidFill>
                  <a:srgbClr val="3E4C59"/>
                </a:solidFill>
                <a:latin typeface="맑은 고딕"/>
                <a:ea typeface="맑은 고딕"/>
                <a:cs typeface="맑은 고딕"/>
              </a:rPr>
              <a:t>“독후감을</a:t>
            </a:r>
          </a:p>
          <a:p>
            <a:pPr algn="l">
              <a:lnSpc>
                <a:spcPct val="130000"/>
              </a:lnSpc>
            </a:pPr>
            <a:r>
              <a:rPr sz="1300" b="0">
                <a:solidFill>
                  <a:srgbClr val="3E4C59"/>
                </a:solidFill>
                <a:latin typeface="맑은 고딕"/>
                <a:ea typeface="맑은 고딕"/>
                <a:cs typeface="맑은 고딕"/>
              </a:rPr>
              <a:t>대신 써 줘”</a:t>
            </a:r>
          </a:p>
        </p:txBody>
      </p:sp>
      <p:sp>
        <p:nvSpPr>
          <p:cNvPr id="29" name="Rectangle 28"/>
          <p:cNvSpPr/>
          <p:nvPr/>
        </p:nvSpPr>
        <p:spPr>
          <a:xfrm>
            <a:off x="777240" y="4590288"/>
            <a:ext cx="10637215" cy="45720"/>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709160"/>
            <a:ext cx="3657600" cy="274320"/>
          </a:xfrm>
          <a:prstGeom prst="rect">
            <a:avLst/>
          </a:prstGeom>
          <a:noFill/>
        </p:spPr>
        <p:txBody>
          <a:bodyPr wrap="square" anchor="t" lIns="0" rIns="0" tIns="0" bIns="0">
            <a:spAutoFit/>
          </a:bodyPr>
          <a:lstStyle/>
          <a:p>
            <a:pPr algn="l">
              <a:lnSpc>
                <a:spcPct val="115000"/>
              </a:lnSpc>
            </a:pPr>
            <a:r>
              <a:rPr sz="1300" b="1">
                <a:solidFill>
                  <a:srgbClr val="15803D"/>
                </a:solidFill>
                <a:latin typeface="맑은 고딕"/>
                <a:ea typeface="맑은 고딕"/>
                <a:cs typeface="맑은 고딕"/>
              </a:rPr>
              <a:t>◀ 아이가 생각합니다</a:t>
            </a:r>
          </a:p>
        </p:txBody>
      </p:sp>
      <p:sp>
        <p:nvSpPr>
          <p:cNvPr id="31" name="TextBox 30"/>
          <p:cNvSpPr txBox="1"/>
          <p:nvPr/>
        </p:nvSpPr>
        <p:spPr>
          <a:xfrm>
            <a:off x="7756855" y="4709160"/>
            <a:ext cx="3657600" cy="274320"/>
          </a:xfrm>
          <a:prstGeom prst="rect">
            <a:avLst/>
          </a:prstGeom>
          <a:noFill/>
        </p:spPr>
        <p:txBody>
          <a:bodyPr wrap="square" anchor="t" lIns="0" rIns="0" tIns="0" bIns="0">
            <a:spAutoFit/>
          </a:bodyPr>
          <a:lstStyle/>
          <a:p>
            <a:pPr algn="r">
              <a:lnSpc>
                <a:spcPct val="115000"/>
              </a:lnSpc>
            </a:pPr>
            <a:r>
              <a:rPr sz="1300" b="1">
                <a:solidFill>
                  <a:srgbClr val="B91C1C"/>
                </a:solidFill>
                <a:latin typeface="맑은 고딕"/>
                <a:ea typeface="맑은 고딕"/>
                <a:cs typeface="맑은 고딕"/>
              </a:rPr>
              <a:t>AI가 대신합니다 ▶</a:t>
            </a:r>
          </a:p>
        </p:txBody>
      </p:sp>
      <p:sp>
        <p:nvSpPr>
          <p:cNvPr id="32" name="Rounded Rectangle 31"/>
          <p:cNvSpPr/>
          <p:nvPr/>
        </p:nvSpPr>
        <p:spPr>
          <a:xfrm>
            <a:off x="777240" y="5166360"/>
            <a:ext cx="10637215" cy="822960"/>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143000" y="5349240"/>
            <a:ext cx="9905695" cy="502920"/>
          </a:xfrm>
          <a:prstGeom prst="rect">
            <a:avLst/>
          </a:prstGeom>
          <a:noFill/>
        </p:spPr>
        <p:txBody>
          <a:bodyPr wrap="square" anchor="t" lIns="0" rIns="0" tIns="0" bIns="0">
            <a:spAutoFit/>
          </a:bodyPr>
          <a:lstStyle/>
          <a:p>
            <a:pPr algn="l">
              <a:lnSpc>
                <a:spcPct val="115000"/>
              </a:lnSpc>
            </a:pPr>
            <a:r>
              <a:rPr sz="1450" b="0">
                <a:solidFill>
                  <a:srgbClr val="3E4C59"/>
                </a:solidFill>
                <a:latin typeface="맑은 고딕"/>
                <a:ea typeface="맑은 고딕"/>
                <a:cs typeface="맑은 고딕"/>
              </a:rPr>
              <a:t>선은 과제마다 다릅니다. </a:t>
            </a:r>
            <a:r>
              <a:rPr sz="1450" b="1">
                <a:solidFill>
                  <a:srgbClr val="0E7C86"/>
                </a:solidFill>
                <a:latin typeface="맑은 고딕"/>
                <a:ea typeface="맑은 고딕"/>
                <a:cs typeface="맑은 고딕"/>
              </a:rPr>
              <a:t>“이 과제로 재려던 능력을 AI가 대신하고 있나?”</a:t>
            </a:r>
            <a:r>
              <a:rPr sz="1450" b="0">
                <a:solidFill>
                  <a:srgbClr val="3E4C59"/>
                </a:solidFill>
                <a:latin typeface="맑은 고딕"/>
                <a:ea typeface="맑은 고딕"/>
                <a:cs typeface="맑은 고딕"/>
              </a:rPr>
              <a:t> 이것만 따져 보시면 됩니다.</a:t>
            </a:r>
          </a:p>
        </p:txBody>
      </p:sp>
      <p:sp>
        <p:nvSpPr>
          <p:cNvPr id="34" name="Rectangle 33"/>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Bastani, H. et al. (2025). Generative AI without guardrails can harm learning: Evidence from high school mathematics. PNAS 122(26).</a:t>
            </a:r>
          </a:p>
        </p:txBody>
      </p:sp>
      <p:sp>
        <p:nvSpPr>
          <p:cNvPr id="36" name="TextBox 35"/>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23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숙제와 평가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과제 종류에 따라 선이 다릅니다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같은 ‘숙제’라도 훈련하는 과제와 찾아보는 과제는 기준이 다릅니다.</a:t>
            </a:r>
          </a:p>
        </p:txBody>
      </p:sp>
      <p:sp>
        <p:nvSpPr>
          <p:cNvPr id="6" name="Rounded Rectangle 5"/>
          <p:cNvSpPr/>
          <p:nvPr/>
        </p:nvSpPr>
        <p:spPr>
          <a:xfrm>
            <a:off x="777240" y="2148840"/>
            <a:ext cx="7635240" cy="3584448"/>
          </a:xfrm>
          <a:prstGeom prst="roundRect">
            <a:avLst>
              <a:gd name="adj" fmla="val 6000"/>
            </a:avLst>
          </a:prstGeom>
          <a:solidFill>
            <a:srgbClr val="FFFFFF"/>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777240" y="2148840"/>
            <a:ext cx="7635240" cy="402336"/>
          </a:xfrm>
          <a:prstGeom prst="rect">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58568"/>
            <a:ext cx="1691640" cy="274320"/>
          </a:xfrm>
          <a:prstGeom prst="rect">
            <a:avLst/>
          </a:prstGeom>
          <a:noFill/>
        </p:spPr>
        <p:txBody>
          <a:bodyPr wrap="square" anchor="t" lIns="0" rIns="0" tIns="0" bIns="0">
            <a:spAutoFit/>
          </a:bodyPr>
          <a:lstStyle/>
          <a:p>
            <a:pPr algn="l">
              <a:lnSpc>
                <a:spcPct val="115000"/>
              </a:lnSpc>
            </a:pPr>
            <a:r>
              <a:rPr sz="1250" b="1">
                <a:solidFill>
                  <a:srgbClr val="0E7C86"/>
                </a:solidFill>
                <a:latin typeface="맑은 고딕"/>
                <a:ea typeface="맑은 고딕"/>
                <a:cs typeface="맑은 고딕"/>
              </a:rPr>
              <a:t>구분</a:t>
            </a:r>
          </a:p>
        </p:txBody>
      </p:sp>
      <p:sp>
        <p:nvSpPr>
          <p:cNvPr id="9" name="TextBox 8"/>
          <p:cNvSpPr txBox="1"/>
          <p:nvPr/>
        </p:nvSpPr>
        <p:spPr>
          <a:xfrm>
            <a:off x="2834640" y="2258568"/>
            <a:ext cx="2697480" cy="274320"/>
          </a:xfrm>
          <a:prstGeom prst="rect">
            <a:avLst/>
          </a:prstGeom>
          <a:noFill/>
        </p:spPr>
        <p:txBody>
          <a:bodyPr wrap="square" anchor="t" lIns="0" rIns="0" tIns="0" bIns="0">
            <a:spAutoFit/>
          </a:bodyPr>
          <a:lstStyle/>
          <a:p>
            <a:pPr algn="l">
              <a:lnSpc>
                <a:spcPct val="115000"/>
              </a:lnSpc>
            </a:pPr>
            <a:r>
              <a:rPr sz="1250" b="1">
                <a:solidFill>
                  <a:srgbClr val="0E7C86"/>
                </a:solidFill>
                <a:latin typeface="맑은 고딕"/>
                <a:ea typeface="맑은 고딕"/>
                <a:cs typeface="맑은 고딕"/>
              </a:rPr>
              <a:t>이런 과제</a:t>
            </a:r>
          </a:p>
        </p:txBody>
      </p:sp>
      <p:sp>
        <p:nvSpPr>
          <p:cNvPr id="10" name="TextBox 9"/>
          <p:cNvSpPr txBox="1"/>
          <p:nvPr/>
        </p:nvSpPr>
        <p:spPr>
          <a:xfrm>
            <a:off x="5669279" y="2258568"/>
            <a:ext cx="2514600" cy="274320"/>
          </a:xfrm>
          <a:prstGeom prst="rect">
            <a:avLst/>
          </a:prstGeom>
          <a:noFill/>
        </p:spPr>
        <p:txBody>
          <a:bodyPr wrap="square" anchor="t" lIns="0" rIns="0" tIns="0" bIns="0">
            <a:spAutoFit/>
          </a:bodyPr>
          <a:lstStyle/>
          <a:p>
            <a:pPr algn="l">
              <a:lnSpc>
                <a:spcPct val="115000"/>
              </a:lnSpc>
            </a:pPr>
            <a:r>
              <a:rPr sz="1250" b="1">
                <a:solidFill>
                  <a:srgbClr val="0E7C86"/>
                </a:solidFill>
                <a:latin typeface="맑은 고딕"/>
                <a:ea typeface="맑은 고딕"/>
                <a:cs typeface="맑은 고딕"/>
              </a:rPr>
              <a:t>왜 그런가</a:t>
            </a:r>
          </a:p>
        </p:txBody>
      </p:sp>
      <p:sp>
        <p:nvSpPr>
          <p:cNvPr id="11" name="Rectangle 10"/>
          <p:cNvSpPr/>
          <p:nvPr/>
        </p:nvSpPr>
        <p:spPr>
          <a:xfrm>
            <a:off x="832103" y="2551176"/>
            <a:ext cx="7525512" cy="1060704"/>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2770632"/>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2752344"/>
            <a:ext cx="1691640" cy="320040"/>
          </a:xfrm>
          <a:prstGeom prst="rect">
            <a:avLst/>
          </a:prstGeom>
          <a:noFill/>
        </p:spPr>
        <p:txBody>
          <a:bodyPr wrap="square" anchor="t" lIns="0" rIns="0" tIns="0" bIns="0">
            <a:spAutoFit/>
          </a:bodyPr>
          <a:lstStyle/>
          <a:p>
            <a:pPr algn="l">
              <a:lnSpc>
                <a:spcPct val="115000"/>
              </a:lnSpc>
            </a:pPr>
            <a:r>
              <a:rPr sz="1600" b="1">
                <a:solidFill>
                  <a:srgbClr val="B91C1C"/>
                </a:solidFill>
                <a:latin typeface="맑은 고딕"/>
                <a:ea typeface="맑은 고딕"/>
                <a:cs typeface="맑은 고딕"/>
              </a:rPr>
              <a:t>쓰지 않기</a:t>
            </a:r>
          </a:p>
        </p:txBody>
      </p:sp>
      <p:sp>
        <p:nvSpPr>
          <p:cNvPr id="14" name="TextBox 13"/>
          <p:cNvSpPr txBox="1"/>
          <p:nvPr/>
        </p:nvSpPr>
        <p:spPr>
          <a:xfrm>
            <a:off x="2834640" y="2770632"/>
            <a:ext cx="2697480" cy="640080"/>
          </a:xfrm>
          <a:prstGeom prst="rect">
            <a:avLst/>
          </a:prstGeom>
          <a:noFill/>
        </p:spPr>
        <p:txBody>
          <a:bodyPr wrap="square" anchor="t" lIns="0" rIns="0" tIns="0" bIns="0">
            <a:spAutoFit/>
          </a:bodyPr>
          <a:lstStyle/>
          <a:p>
            <a:pPr algn="l">
              <a:lnSpc>
                <a:spcPct val="135000"/>
              </a:lnSpc>
            </a:pPr>
            <a:r>
              <a:rPr sz="1250" b="0">
                <a:solidFill>
                  <a:srgbClr val="1F2933"/>
                </a:solidFill>
                <a:latin typeface="맑은 고딕"/>
                <a:ea typeface="맑은 고딕"/>
                <a:cs typeface="맑은 고딕"/>
              </a:rPr>
              <a:t>받아쓰기 · 연산 · 암기</a:t>
            </a:r>
          </a:p>
          <a:p>
            <a:pPr algn="l">
              <a:lnSpc>
                <a:spcPct val="135000"/>
              </a:lnSpc>
            </a:pPr>
            <a:r>
              <a:rPr sz="1250" b="0">
                <a:solidFill>
                  <a:srgbClr val="1F2933"/>
                </a:solidFill>
                <a:latin typeface="맑은 고딕"/>
                <a:ea typeface="맑은 고딕"/>
                <a:cs typeface="맑은 고딕"/>
              </a:rPr>
              <a:t>일기 · 독서록 · 수행평가</a:t>
            </a:r>
          </a:p>
        </p:txBody>
      </p:sp>
      <p:sp>
        <p:nvSpPr>
          <p:cNvPr id="15" name="TextBox 14"/>
          <p:cNvSpPr txBox="1"/>
          <p:nvPr/>
        </p:nvSpPr>
        <p:spPr>
          <a:xfrm>
            <a:off x="5669279" y="2734056"/>
            <a:ext cx="2514600" cy="777240"/>
          </a:xfrm>
          <a:prstGeom prst="rect">
            <a:avLst/>
          </a:prstGeom>
          <a:noFill/>
        </p:spPr>
        <p:txBody>
          <a:bodyPr wrap="square" anchor="t" lIns="0" rIns="0" tIns="0" bIns="0">
            <a:spAutoFit/>
          </a:bodyPr>
          <a:lstStyle/>
          <a:p>
            <a:pPr algn="l">
              <a:lnSpc>
                <a:spcPct val="130000"/>
              </a:lnSpc>
            </a:pPr>
            <a:r>
              <a:rPr sz="1150" b="0">
                <a:solidFill>
                  <a:srgbClr val="3E4C59"/>
                </a:solidFill>
                <a:latin typeface="맑은 고딕"/>
                <a:ea typeface="맑은 고딕"/>
                <a:cs typeface="맑은 고딕"/>
              </a:rPr>
              <a:t>과제 자체가 훈련입니다.</a:t>
            </a:r>
          </a:p>
          <a:p>
            <a:pPr algn="l">
              <a:lnSpc>
                <a:spcPct val="130000"/>
              </a:lnSpc>
            </a:pPr>
            <a:r>
              <a:rPr sz="1150" b="0">
                <a:solidFill>
                  <a:srgbClr val="3E4C59"/>
                </a:solidFill>
                <a:latin typeface="맑은 고딕"/>
                <a:ea typeface="맑은 고딕"/>
                <a:cs typeface="맑은 고딕"/>
              </a:rPr>
              <a:t>AI가 대신하면 훈련이</a:t>
            </a:r>
          </a:p>
          <a:p>
            <a:pPr algn="l">
              <a:lnSpc>
                <a:spcPct val="130000"/>
              </a:lnSpc>
            </a:pPr>
            <a:r>
              <a:rPr sz="1150" b="0">
                <a:solidFill>
                  <a:srgbClr val="3E4C59"/>
                </a:solidFill>
                <a:latin typeface="맑은 고딕"/>
                <a:ea typeface="맑은 고딕"/>
                <a:cs typeface="맑은 고딕"/>
              </a:rPr>
              <a:t>통째로 사라집니다.</a:t>
            </a:r>
          </a:p>
        </p:txBody>
      </p:sp>
      <p:sp>
        <p:nvSpPr>
          <p:cNvPr id="16" name="Rectangle 15"/>
          <p:cNvSpPr/>
          <p:nvPr/>
        </p:nvSpPr>
        <p:spPr>
          <a:xfrm>
            <a:off x="832103" y="3611880"/>
            <a:ext cx="7525512" cy="1060704"/>
          </a:xfrm>
          <a:prstGeom prst="rect">
            <a:avLst/>
          </a:prstGeom>
          <a:solidFill>
            <a:srgbClr val="FD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3" y="3611880"/>
            <a:ext cx="7525512"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5840" y="3831336"/>
            <a:ext cx="274320" cy="27432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89888" y="3813048"/>
            <a:ext cx="1691640" cy="320040"/>
          </a:xfrm>
          <a:prstGeom prst="rect">
            <a:avLst/>
          </a:prstGeom>
          <a:noFill/>
        </p:spPr>
        <p:txBody>
          <a:bodyPr wrap="square" anchor="t" lIns="0" rIns="0" tIns="0" bIns="0">
            <a:spAutoFit/>
          </a:bodyPr>
          <a:lstStyle/>
          <a:p>
            <a:pPr algn="l">
              <a:lnSpc>
                <a:spcPct val="115000"/>
              </a:lnSpc>
            </a:pPr>
            <a:r>
              <a:rPr sz="1600" b="1">
                <a:solidFill>
                  <a:srgbClr val="B45309"/>
                </a:solidFill>
                <a:latin typeface="맑은 고딕"/>
                <a:ea typeface="맑은 고딕"/>
                <a:cs typeface="맑은 고딕"/>
              </a:rPr>
              <a:t>조건부</a:t>
            </a:r>
          </a:p>
        </p:txBody>
      </p:sp>
      <p:sp>
        <p:nvSpPr>
          <p:cNvPr id="20" name="TextBox 19"/>
          <p:cNvSpPr txBox="1"/>
          <p:nvPr/>
        </p:nvSpPr>
        <p:spPr>
          <a:xfrm>
            <a:off x="2834640" y="3831336"/>
            <a:ext cx="2697480" cy="640080"/>
          </a:xfrm>
          <a:prstGeom prst="rect">
            <a:avLst/>
          </a:prstGeom>
          <a:noFill/>
        </p:spPr>
        <p:txBody>
          <a:bodyPr wrap="square" anchor="t" lIns="0" rIns="0" tIns="0" bIns="0">
            <a:spAutoFit/>
          </a:bodyPr>
          <a:lstStyle/>
          <a:p>
            <a:pPr algn="l">
              <a:lnSpc>
                <a:spcPct val="135000"/>
              </a:lnSpc>
            </a:pPr>
            <a:r>
              <a:rPr sz="1250" b="0">
                <a:solidFill>
                  <a:srgbClr val="1F2933"/>
                </a:solidFill>
                <a:latin typeface="맑은 고딕"/>
                <a:ea typeface="맑은 고딕"/>
                <a:cs typeface="맑은 고딕"/>
              </a:rPr>
              <a:t>조사 보고서 · 발표 준비</a:t>
            </a:r>
          </a:p>
          <a:p>
            <a:pPr algn="l">
              <a:lnSpc>
                <a:spcPct val="135000"/>
              </a:lnSpc>
            </a:pPr>
            <a:r>
              <a:rPr sz="1250" b="0">
                <a:solidFill>
                  <a:srgbClr val="1F2933"/>
                </a:solidFill>
                <a:latin typeface="맑은 고딕"/>
                <a:ea typeface="맑은 고딕"/>
                <a:cs typeface="맑은 고딕"/>
              </a:rPr>
              <a:t>내가 쓴 감상문 다듬기</a:t>
            </a:r>
          </a:p>
        </p:txBody>
      </p:sp>
      <p:sp>
        <p:nvSpPr>
          <p:cNvPr id="21" name="TextBox 20"/>
          <p:cNvSpPr txBox="1"/>
          <p:nvPr/>
        </p:nvSpPr>
        <p:spPr>
          <a:xfrm>
            <a:off x="5669279" y="3794760"/>
            <a:ext cx="2514600" cy="777240"/>
          </a:xfrm>
          <a:prstGeom prst="rect">
            <a:avLst/>
          </a:prstGeom>
          <a:noFill/>
        </p:spPr>
        <p:txBody>
          <a:bodyPr wrap="square" anchor="t" lIns="0" rIns="0" tIns="0" bIns="0">
            <a:spAutoFit/>
          </a:bodyPr>
          <a:lstStyle/>
          <a:p>
            <a:pPr algn="l">
              <a:lnSpc>
                <a:spcPct val="130000"/>
              </a:lnSpc>
            </a:pPr>
            <a:r>
              <a:rPr sz="1150" b="0">
                <a:solidFill>
                  <a:srgbClr val="3E4C59"/>
                </a:solidFill>
                <a:latin typeface="맑은 고딕"/>
                <a:ea typeface="맑은 고딕"/>
                <a:cs typeface="맑은 고딕"/>
              </a:rPr>
              <a:t>내 초안을 먼저 쓴 뒤</a:t>
            </a:r>
          </a:p>
          <a:p>
            <a:pPr algn="l">
              <a:lnSpc>
                <a:spcPct val="130000"/>
              </a:lnSpc>
            </a:pPr>
            <a:r>
              <a:rPr sz="1150" b="0">
                <a:solidFill>
                  <a:srgbClr val="3E4C59"/>
                </a:solidFill>
                <a:latin typeface="맑은 고딕"/>
                <a:ea typeface="맑은 고딕"/>
                <a:cs typeface="맑은 고딕"/>
              </a:rPr>
              <a:t>점검용으로만. 쓴 사실은</a:t>
            </a:r>
          </a:p>
          <a:p>
            <a:pPr algn="l">
              <a:lnSpc>
                <a:spcPct val="130000"/>
              </a:lnSpc>
            </a:pPr>
            <a:r>
              <a:rPr sz="1150" b="0">
                <a:solidFill>
                  <a:srgbClr val="3E4C59"/>
                </a:solidFill>
                <a:latin typeface="맑은 고딕"/>
                <a:ea typeface="맑은 고딕"/>
                <a:cs typeface="맑은 고딕"/>
              </a:rPr>
              <a:t>과제에 밝힙니다.</a:t>
            </a:r>
          </a:p>
        </p:txBody>
      </p:sp>
      <p:sp>
        <p:nvSpPr>
          <p:cNvPr id="22" name="Rectangle 21"/>
          <p:cNvSpPr/>
          <p:nvPr/>
        </p:nvSpPr>
        <p:spPr>
          <a:xfrm>
            <a:off x="832103" y="4672583"/>
            <a:ext cx="7525512" cy="1060704"/>
          </a:xfrm>
          <a:prstGeom prst="rect">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3" y="4672583"/>
            <a:ext cx="7525512"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892040"/>
            <a:ext cx="274320" cy="27432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9888" y="4873751"/>
            <a:ext cx="1691640" cy="320040"/>
          </a:xfrm>
          <a:prstGeom prst="rect">
            <a:avLst/>
          </a:prstGeom>
          <a:noFill/>
        </p:spPr>
        <p:txBody>
          <a:bodyPr wrap="square" anchor="t" lIns="0" rIns="0" tIns="0" bIns="0">
            <a:spAutoFit/>
          </a:bodyPr>
          <a:lstStyle/>
          <a:p>
            <a:pPr algn="l">
              <a:lnSpc>
                <a:spcPct val="115000"/>
              </a:lnSpc>
            </a:pPr>
            <a:r>
              <a:rPr sz="1600" b="1">
                <a:solidFill>
                  <a:srgbClr val="15803D"/>
                </a:solidFill>
                <a:latin typeface="맑은 고딕"/>
                <a:ea typeface="맑은 고딕"/>
                <a:cs typeface="맑은 고딕"/>
              </a:rPr>
              <a:t>권장</a:t>
            </a:r>
          </a:p>
        </p:txBody>
      </p:sp>
      <p:sp>
        <p:nvSpPr>
          <p:cNvPr id="26" name="TextBox 25"/>
          <p:cNvSpPr txBox="1"/>
          <p:nvPr/>
        </p:nvSpPr>
        <p:spPr>
          <a:xfrm>
            <a:off x="2834640" y="4892040"/>
            <a:ext cx="2697480" cy="640080"/>
          </a:xfrm>
          <a:prstGeom prst="rect">
            <a:avLst/>
          </a:prstGeom>
          <a:noFill/>
        </p:spPr>
        <p:txBody>
          <a:bodyPr wrap="square" anchor="t" lIns="0" rIns="0" tIns="0" bIns="0">
            <a:spAutoFit/>
          </a:bodyPr>
          <a:lstStyle/>
          <a:p>
            <a:pPr algn="l">
              <a:lnSpc>
                <a:spcPct val="135000"/>
              </a:lnSpc>
            </a:pPr>
            <a:r>
              <a:rPr sz="1250" b="0">
                <a:solidFill>
                  <a:srgbClr val="1F2933"/>
                </a:solidFill>
                <a:latin typeface="맑은 고딕"/>
                <a:ea typeface="맑은 고딕"/>
                <a:cs typeface="맑은 고딕"/>
              </a:rPr>
              <a:t>어려운 개념 다시 설명받기</a:t>
            </a:r>
          </a:p>
          <a:p>
            <a:pPr algn="l">
              <a:lnSpc>
                <a:spcPct val="135000"/>
              </a:lnSpc>
            </a:pPr>
            <a:r>
              <a:rPr sz="1250" b="0">
                <a:solidFill>
                  <a:srgbClr val="1F2933"/>
                </a:solidFill>
                <a:latin typeface="맑은 고딕"/>
                <a:ea typeface="맑은 고딕"/>
                <a:cs typeface="맑은 고딕"/>
              </a:rPr>
              <a:t>모르는 낱말 · 아이디어 넓히기</a:t>
            </a:r>
          </a:p>
        </p:txBody>
      </p:sp>
      <p:sp>
        <p:nvSpPr>
          <p:cNvPr id="27" name="TextBox 26"/>
          <p:cNvSpPr txBox="1"/>
          <p:nvPr/>
        </p:nvSpPr>
        <p:spPr>
          <a:xfrm>
            <a:off x="5669279" y="4855464"/>
            <a:ext cx="2514600" cy="777240"/>
          </a:xfrm>
          <a:prstGeom prst="rect">
            <a:avLst/>
          </a:prstGeom>
          <a:noFill/>
        </p:spPr>
        <p:txBody>
          <a:bodyPr wrap="square" anchor="t" lIns="0" rIns="0" tIns="0" bIns="0">
            <a:spAutoFit/>
          </a:bodyPr>
          <a:lstStyle/>
          <a:p>
            <a:pPr algn="l">
              <a:lnSpc>
                <a:spcPct val="130000"/>
              </a:lnSpc>
            </a:pPr>
            <a:r>
              <a:rPr sz="1150" b="0">
                <a:solidFill>
                  <a:srgbClr val="3E4C59"/>
                </a:solidFill>
                <a:latin typeface="맑은 고딕"/>
                <a:ea typeface="맑은 고딕"/>
                <a:cs typeface="맑은 고딕"/>
              </a:rPr>
              <a:t>막힌 지점을 뚫는 용도.</a:t>
            </a:r>
          </a:p>
          <a:p>
            <a:pPr algn="l">
              <a:lnSpc>
                <a:spcPct val="130000"/>
              </a:lnSpc>
            </a:pPr>
            <a:r>
              <a:rPr sz="1150" b="0">
                <a:solidFill>
                  <a:srgbClr val="3E4C59"/>
                </a:solidFill>
                <a:latin typeface="맑은 고딕"/>
                <a:ea typeface="맑은 고딕"/>
                <a:cs typeface="맑은 고딕"/>
              </a:rPr>
              <a:t>여기서 AI는 옆자리</a:t>
            </a:r>
          </a:p>
          <a:p>
            <a:pPr algn="l">
              <a:lnSpc>
                <a:spcPct val="130000"/>
              </a:lnSpc>
            </a:pPr>
            <a:r>
              <a:rPr sz="1150" b="0">
                <a:solidFill>
                  <a:srgbClr val="3E4C59"/>
                </a:solidFill>
                <a:latin typeface="맑은 고딕"/>
                <a:ea typeface="맑은 고딕"/>
                <a:cs typeface="맑은 고딕"/>
              </a:rPr>
              <a:t>조교에 가깝습니다.</a:t>
            </a:r>
          </a:p>
        </p:txBody>
      </p:sp>
      <p:sp>
        <p:nvSpPr>
          <p:cNvPr id="28" name="Rounded Rectangle 27"/>
          <p:cNvSpPr/>
          <p:nvPr/>
        </p:nvSpPr>
        <p:spPr>
          <a:xfrm>
            <a:off x="8732519" y="2148840"/>
            <a:ext cx="2681935" cy="358444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006840" y="2468880"/>
            <a:ext cx="41148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2679192"/>
            <a:ext cx="2133295" cy="731520"/>
          </a:xfrm>
          <a:prstGeom prst="rect">
            <a:avLst/>
          </a:prstGeom>
          <a:noFill/>
        </p:spPr>
        <p:txBody>
          <a:bodyPr wrap="square" anchor="t" lIns="0" rIns="0" tIns="0" bIns="0">
            <a:spAutoFit/>
          </a:bodyPr>
          <a:lstStyle/>
          <a:p>
            <a:pPr algn="l">
              <a:lnSpc>
                <a:spcPct val="120000"/>
              </a:lnSpc>
            </a:pPr>
            <a:r>
              <a:rPr sz="1800" b="1">
                <a:solidFill>
                  <a:srgbClr val="1F2933"/>
                </a:solidFill>
                <a:latin typeface="맑은 고딕"/>
                <a:ea typeface="맑은 고딕"/>
                <a:cs typeface="맑은 고딕"/>
              </a:rPr>
              <a:t>학원 숙제는</a:t>
            </a:r>
          </a:p>
          <a:p>
            <a:pPr algn="l">
              <a:lnSpc>
                <a:spcPct val="120000"/>
              </a:lnSpc>
            </a:pPr>
            <a:r>
              <a:rPr sz="1800" b="1">
                <a:solidFill>
                  <a:srgbClr val="1F2933"/>
                </a:solidFill>
                <a:latin typeface="맑은 고딕"/>
                <a:ea typeface="맑은 고딕"/>
                <a:cs typeface="맑은 고딕"/>
              </a:rPr>
              <a:t>조금 다릅니다</a:t>
            </a:r>
          </a:p>
        </p:txBody>
      </p:sp>
      <p:sp>
        <p:nvSpPr>
          <p:cNvPr id="31" name="TextBox 30"/>
          <p:cNvSpPr txBox="1"/>
          <p:nvPr/>
        </p:nvSpPr>
        <p:spPr>
          <a:xfrm>
            <a:off x="9006840" y="3520440"/>
            <a:ext cx="2133295" cy="1280160"/>
          </a:xfrm>
          <a:prstGeom prst="rect">
            <a:avLst/>
          </a:prstGeom>
          <a:noFill/>
        </p:spPr>
        <p:txBody>
          <a:bodyPr wrap="square" anchor="t" lIns="0" rIns="0" tIns="0" bIns="0">
            <a:spAutoFit/>
          </a:bodyPr>
          <a:lstStyle/>
          <a:p>
            <a:pPr algn="l">
              <a:lnSpc>
                <a:spcPct val="140000"/>
              </a:lnSpc>
            </a:pPr>
            <a:r>
              <a:rPr sz="1300" b="0">
                <a:solidFill>
                  <a:srgbClr val="3E4C59"/>
                </a:solidFill>
                <a:latin typeface="맑은 고딕"/>
                <a:ea typeface="맑은 고딕"/>
                <a:cs typeface="맑은 고딕"/>
              </a:rPr>
              <a:t>감당하기 어려운 ‘양’이</a:t>
            </a:r>
          </a:p>
          <a:p>
            <a:pPr algn="l">
              <a:lnSpc>
                <a:spcPct val="140000"/>
              </a:lnSpc>
            </a:pPr>
            <a:r>
              <a:rPr sz="1300" b="0">
                <a:solidFill>
                  <a:srgbClr val="3E4C59"/>
                </a:solidFill>
                <a:latin typeface="맑은 고딕"/>
                <a:ea typeface="맑은 고딕"/>
                <a:cs typeface="맑은 고딕"/>
              </a:rPr>
              <a:t>원인이라면, 그건 AI를</a:t>
            </a:r>
          </a:p>
          <a:p>
            <a:pPr algn="l">
              <a:lnSpc>
                <a:spcPct val="140000"/>
              </a:lnSpc>
            </a:pPr>
            <a:r>
              <a:rPr sz="1300" b="0">
                <a:solidFill>
                  <a:srgbClr val="3E4C59"/>
                </a:solidFill>
                <a:latin typeface="맑은 고딕"/>
                <a:ea typeface="맑은 고딕"/>
                <a:cs typeface="맑은 고딕"/>
              </a:rPr>
              <a:t>쓰느냐 마느냐의 문제가</a:t>
            </a:r>
          </a:p>
          <a:p>
            <a:pPr algn="l">
              <a:lnSpc>
                <a:spcPct val="140000"/>
              </a:lnSpc>
            </a:pPr>
            <a:r>
              <a:rPr sz="1300" b="0">
                <a:solidFill>
                  <a:srgbClr val="3E4C59"/>
                </a:solidFill>
                <a:latin typeface="맑은 고딕"/>
                <a:ea typeface="맑은 고딕"/>
                <a:cs typeface="맑은 고딕"/>
              </a:rPr>
              <a:t>아닙니다.</a:t>
            </a:r>
          </a:p>
        </p:txBody>
      </p:sp>
      <p:sp>
        <p:nvSpPr>
          <p:cNvPr id="32" name="Rectangle 31"/>
          <p:cNvSpPr/>
          <p:nvPr/>
        </p:nvSpPr>
        <p:spPr>
          <a:xfrm>
            <a:off x="9006840" y="4846320"/>
            <a:ext cx="21332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6840" y="5001768"/>
            <a:ext cx="2133295" cy="548640"/>
          </a:xfrm>
          <a:prstGeom prst="rect">
            <a:avLst/>
          </a:prstGeom>
          <a:noFill/>
        </p:spPr>
        <p:txBody>
          <a:bodyPr wrap="square" anchor="t" lIns="0" rIns="0" tIns="0" bIns="0">
            <a:spAutoFit/>
          </a:bodyPr>
          <a:lstStyle/>
          <a:p>
            <a:pPr algn="l">
              <a:lnSpc>
                <a:spcPct val="130000"/>
              </a:lnSpc>
            </a:pPr>
            <a:r>
              <a:rPr sz="1350" b="1">
                <a:solidFill>
                  <a:srgbClr val="1D4ED8"/>
                </a:solidFill>
                <a:latin typeface="맑은 고딕"/>
                <a:ea typeface="맑은 고딕"/>
                <a:cs typeface="맑은 고딕"/>
              </a:rPr>
              <a:t>학원과 먼저</a:t>
            </a:r>
          </a:p>
          <a:p>
            <a:pPr algn="l">
              <a:lnSpc>
                <a:spcPct val="130000"/>
              </a:lnSpc>
            </a:pPr>
            <a:r>
              <a:rPr sz="1350" b="1">
                <a:solidFill>
                  <a:srgbClr val="1D4ED8"/>
                </a:solidFill>
                <a:latin typeface="맑은 고딕"/>
                <a:ea typeface="맑은 고딕"/>
                <a:cs typeface="맑은 고딕"/>
              </a:rPr>
              <a:t>상의할 문제입니다.</a:t>
            </a:r>
          </a:p>
        </p:txBody>
      </p:sp>
      <p:sp>
        <p:nvSpPr>
          <p:cNvPr id="34" name="Rectangle 33"/>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구분 기준은 교육부·17개 시도교육청 「수행평가 시 인공지능(AI) 활용 관리 방안」의 취지를 과제 유형에 적용한 것입니다.</a:t>
            </a:r>
          </a:p>
        </p:txBody>
      </p:sp>
      <p:sp>
        <p:nvSpPr>
          <p:cNvPr id="36" name="TextBox 35"/>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24 / 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퀴즈 · 손들기</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세 학생 중 누가 생각하고 있나요?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같은 독후감 과제를 세 학생이 이렇게 했습니다.</a:t>
            </a:r>
          </a:p>
        </p:txBody>
      </p:sp>
      <p:sp>
        <p:nvSpPr>
          <p:cNvPr id="6" name="Rounded Rectangle 5"/>
          <p:cNvSpPr/>
          <p:nvPr/>
        </p:nvSpPr>
        <p:spPr>
          <a:xfrm>
            <a:off x="777240" y="2194560"/>
            <a:ext cx="3291840" cy="22860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450592"/>
            <a:ext cx="2706624"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가 학생</a:t>
            </a:r>
          </a:p>
        </p:txBody>
      </p:sp>
      <p:sp>
        <p:nvSpPr>
          <p:cNvPr id="8" name="TextBox 7"/>
          <p:cNvSpPr txBox="1"/>
          <p:nvPr/>
        </p:nvSpPr>
        <p:spPr>
          <a:xfrm>
            <a:off x="1069848" y="2944368"/>
            <a:ext cx="2706624" cy="1280160"/>
          </a:xfrm>
          <a:prstGeom prst="rect">
            <a:avLst/>
          </a:prstGeom>
          <a:noFill/>
        </p:spPr>
        <p:txBody>
          <a:bodyPr wrap="square" anchor="t" lIns="0" rIns="0" tIns="0" bIns="0">
            <a:spAutoFit/>
          </a:bodyPr>
          <a:lstStyle/>
          <a:p>
            <a:pPr algn="l">
              <a:lnSpc>
                <a:spcPct val="140000"/>
              </a:lnSpc>
            </a:pPr>
            <a:r>
              <a:rPr sz="1350" b="0">
                <a:solidFill>
                  <a:srgbClr val="3E4C59"/>
                </a:solidFill>
                <a:latin typeface="맑은 고딕"/>
                <a:ea typeface="맑은 고딕"/>
                <a:cs typeface="맑은 고딕"/>
              </a:rPr>
              <a:t>AI에게 독후감을 써 달라고 한 뒤,</a:t>
            </a:r>
          </a:p>
          <a:p>
            <a:pPr algn="l">
              <a:lnSpc>
                <a:spcPct val="140000"/>
              </a:lnSpc>
            </a:pPr>
            <a:r>
              <a:rPr sz="1350" b="0">
                <a:solidFill>
                  <a:srgbClr val="3E4C59"/>
                </a:solidFill>
                <a:latin typeface="맑은 고딕"/>
                <a:ea typeface="맑은 고딕"/>
                <a:cs typeface="맑은 고딕"/>
              </a:rPr>
              <a:t>어색한 단어 몇 개만 바꿔서 냈습니다.</a:t>
            </a:r>
          </a:p>
        </p:txBody>
      </p:sp>
      <p:sp>
        <p:nvSpPr>
          <p:cNvPr id="9" name="Rounded Rectangle 8"/>
          <p:cNvSpPr/>
          <p:nvPr/>
        </p:nvSpPr>
        <p:spPr>
          <a:xfrm>
            <a:off x="4453128" y="2194560"/>
            <a:ext cx="3291840" cy="228600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745736" y="2450592"/>
            <a:ext cx="2706624" cy="365760"/>
          </a:xfrm>
          <a:prstGeom prst="rect">
            <a:avLst/>
          </a:prstGeom>
          <a:noFill/>
        </p:spPr>
        <p:txBody>
          <a:bodyPr wrap="square" anchor="t" lIns="0" rIns="0" tIns="0" bIns="0">
            <a:spAutoFit/>
          </a:bodyPr>
          <a:lstStyle/>
          <a:p>
            <a:pPr algn="l">
              <a:lnSpc>
                <a:spcPct val="115000"/>
              </a:lnSpc>
            </a:pPr>
            <a:r>
              <a:rPr sz="1800" b="1">
                <a:solidFill>
                  <a:srgbClr val="1D4ED8"/>
                </a:solidFill>
                <a:latin typeface="맑은 고딕"/>
                <a:ea typeface="맑은 고딕"/>
                <a:cs typeface="맑은 고딕"/>
              </a:rPr>
              <a:t>나 학생</a:t>
            </a:r>
          </a:p>
        </p:txBody>
      </p:sp>
      <p:sp>
        <p:nvSpPr>
          <p:cNvPr id="11" name="TextBox 10"/>
          <p:cNvSpPr txBox="1"/>
          <p:nvPr/>
        </p:nvSpPr>
        <p:spPr>
          <a:xfrm>
            <a:off x="4745736" y="2944368"/>
            <a:ext cx="2706624" cy="1280160"/>
          </a:xfrm>
          <a:prstGeom prst="rect">
            <a:avLst/>
          </a:prstGeom>
          <a:noFill/>
        </p:spPr>
        <p:txBody>
          <a:bodyPr wrap="square" anchor="t" lIns="0" rIns="0" tIns="0" bIns="0">
            <a:spAutoFit/>
          </a:bodyPr>
          <a:lstStyle/>
          <a:p>
            <a:pPr algn="l">
              <a:lnSpc>
                <a:spcPct val="140000"/>
              </a:lnSpc>
            </a:pPr>
            <a:r>
              <a:rPr sz="1350" b="0">
                <a:solidFill>
                  <a:srgbClr val="3E4C59"/>
                </a:solidFill>
                <a:latin typeface="맑은 고딕"/>
                <a:ea typeface="맑은 고딕"/>
                <a:cs typeface="맑은 고딕"/>
              </a:rPr>
              <a:t>직접 쓴 초고를 AI에게 보여 주고</a:t>
            </a:r>
          </a:p>
          <a:p>
            <a:pPr algn="l">
              <a:lnSpc>
                <a:spcPct val="140000"/>
              </a:lnSpc>
            </a:pPr>
            <a:r>
              <a:rPr sz="1350" b="0">
                <a:solidFill>
                  <a:srgbClr val="3E4C59"/>
                </a:solidFill>
                <a:latin typeface="맑은 고딕"/>
                <a:ea typeface="맑은 고딕"/>
                <a:cs typeface="맑은 고딕"/>
              </a:rPr>
              <a:t>어디가 이해하기 어려운지 물은 뒤</a:t>
            </a:r>
          </a:p>
          <a:p>
            <a:pPr algn="l">
              <a:lnSpc>
                <a:spcPct val="140000"/>
              </a:lnSpc>
            </a:pPr>
            <a:r>
              <a:rPr sz="1350" b="0">
                <a:solidFill>
                  <a:srgbClr val="3E4C59"/>
                </a:solidFill>
                <a:latin typeface="맑은 고딕"/>
                <a:ea typeface="맑은 고딕"/>
                <a:cs typeface="맑은 고딕"/>
              </a:rPr>
              <a:t>스스로 고쳤습니다.</a:t>
            </a:r>
          </a:p>
        </p:txBody>
      </p:sp>
      <p:sp>
        <p:nvSpPr>
          <p:cNvPr id="12" name="Rounded Rectangle 11"/>
          <p:cNvSpPr/>
          <p:nvPr/>
        </p:nvSpPr>
        <p:spPr>
          <a:xfrm>
            <a:off x="8129016" y="2194560"/>
            <a:ext cx="3291840" cy="22860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421624" y="2450592"/>
            <a:ext cx="2706624"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다 학생</a:t>
            </a:r>
          </a:p>
        </p:txBody>
      </p:sp>
      <p:sp>
        <p:nvSpPr>
          <p:cNvPr id="14" name="TextBox 13"/>
          <p:cNvSpPr txBox="1"/>
          <p:nvPr/>
        </p:nvSpPr>
        <p:spPr>
          <a:xfrm>
            <a:off x="8421624" y="2944368"/>
            <a:ext cx="2706624" cy="1280160"/>
          </a:xfrm>
          <a:prstGeom prst="rect">
            <a:avLst/>
          </a:prstGeom>
          <a:noFill/>
        </p:spPr>
        <p:txBody>
          <a:bodyPr wrap="square" anchor="t" lIns="0" rIns="0" tIns="0" bIns="0">
            <a:spAutoFit/>
          </a:bodyPr>
          <a:lstStyle/>
          <a:p>
            <a:pPr algn="l">
              <a:lnSpc>
                <a:spcPct val="140000"/>
              </a:lnSpc>
            </a:pPr>
            <a:r>
              <a:rPr sz="1350" b="0">
                <a:solidFill>
                  <a:srgbClr val="3E4C59"/>
                </a:solidFill>
                <a:latin typeface="맑은 고딕"/>
                <a:ea typeface="맑은 고딕"/>
                <a:cs typeface="맑은 고딕"/>
              </a:rPr>
              <a:t>AI에게 줄거리를 요약하게 하고</a:t>
            </a:r>
          </a:p>
          <a:p>
            <a:pPr algn="l">
              <a:lnSpc>
                <a:spcPct val="140000"/>
              </a:lnSpc>
            </a:pPr>
            <a:r>
              <a:rPr sz="1350" b="0">
                <a:solidFill>
                  <a:srgbClr val="3E4C59"/>
                </a:solidFill>
                <a:latin typeface="맑은 고딕"/>
                <a:ea typeface="맑은 고딕"/>
                <a:cs typeface="맑은 고딕"/>
              </a:rPr>
              <a:t>그 요약을 바탕으로 느낀 점만</a:t>
            </a:r>
          </a:p>
          <a:p>
            <a:pPr algn="l">
              <a:lnSpc>
                <a:spcPct val="140000"/>
              </a:lnSpc>
            </a:pPr>
            <a:r>
              <a:rPr sz="1350" b="0">
                <a:solidFill>
                  <a:srgbClr val="3E4C59"/>
                </a:solidFill>
                <a:latin typeface="맑은 고딕"/>
                <a:ea typeface="맑은 고딕"/>
                <a:cs typeface="맑은 고딕"/>
              </a:rPr>
              <a:t>직접 썼습니다.</a:t>
            </a:r>
          </a:p>
        </p:txBody>
      </p:sp>
      <p:sp>
        <p:nvSpPr>
          <p:cNvPr id="15" name="Rounded Rectangle 14"/>
          <p:cNvSpPr/>
          <p:nvPr/>
        </p:nvSpPr>
        <p:spPr>
          <a:xfrm>
            <a:off x="777240" y="4754880"/>
            <a:ext cx="10637215" cy="123444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143000" y="4956048"/>
            <a:ext cx="9905695" cy="77724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정답은 ‘나 학생’입니다. </a:t>
            </a:r>
            <a:r>
              <a:rPr sz="1450" b="0">
                <a:solidFill>
                  <a:srgbClr val="3E4C59"/>
                </a:solidFill>
                <a:latin typeface="맑은 고딕"/>
                <a:ea typeface="맑은 고딕"/>
                <a:cs typeface="맑은 고딕"/>
              </a:rPr>
              <a:t>‘가 학생’은 작성 대행이고, ‘다 학생’은 애매합니다.</a:t>
            </a:r>
          </a:p>
          <a:p>
            <a:pPr algn="l">
              <a:lnSpc>
                <a:spcPct val="135000"/>
              </a:lnSpc>
              <a:spcAft>
                <a:spcPts val="400"/>
              </a:spcAft>
            </a:pPr>
            <a:r>
              <a:rPr sz="1450" b="0">
                <a:solidFill>
                  <a:srgbClr val="3E4C59"/>
                </a:solidFill>
                <a:latin typeface="맑은 고딕"/>
                <a:ea typeface="맑은 고딕"/>
                <a:cs typeface="맑은 고딕"/>
              </a:rPr>
              <a:t>책을 읽고 이해하는 게 과제 목표였다면, 줄거리 요약을 맡긴 순간 정작 재려던 것이 빠집니다.</a:t>
            </a:r>
          </a:p>
        </p:txBody>
      </p:sp>
      <p:sp>
        <p:nvSpPr>
          <p:cNvPr id="17" name="Rectangle 16"/>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25 / 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실습 · 프롬프트 바꾸기</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‘답 알려줘’를 바꿔봅시다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상황은 그대로 두고, 요청하는 한 줄만 바꿔 봅니다.</a:t>
            </a:r>
          </a:p>
        </p:txBody>
      </p:sp>
      <p:sp>
        <p:nvSpPr>
          <p:cNvPr id="6" name="TextBox 5"/>
          <p:cNvSpPr txBox="1"/>
          <p:nvPr/>
        </p:nvSpPr>
        <p:spPr>
          <a:xfrm>
            <a:off x="777240" y="2194560"/>
            <a:ext cx="4114800" cy="274320"/>
          </a:xfrm>
          <a:prstGeom prst="rect">
            <a:avLst/>
          </a:prstGeom>
          <a:noFill/>
        </p:spPr>
        <p:txBody>
          <a:bodyPr wrap="square" anchor="t" lIns="0" rIns="0" tIns="0" bIns="0">
            <a:spAutoFit/>
          </a:bodyPr>
          <a:lstStyle/>
          <a:p>
            <a:pPr algn="l">
              <a:lnSpc>
                <a:spcPct val="115000"/>
              </a:lnSpc>
            </a:pPr>
            <a:r>
              <a:rPr sz="1300" b="1">
                <a:solidFill>
                  <a:srgbClr val="7B8894"/>
                </a:solidFill>
                <a:latin typeface="맑은 고딕"/>
                <a:ea typeface="맑은 고딕"/>
                <a:cs typeface="맑은 고딕"/>
              </a:rPr>
              <a:t>바꾸기 전</a:t>
            </a:r>
          </a:p>
        </p:txBody>
      </p:sp>
      <p:sp>
        <p:nvSpPr>
          <p:cNvPr id="7" name="TextBox 6"/>
          <p:cNvSpPr txBox="1"/>
          <p:nvPr/>
        </p:nvSpPr>
        <p:spPr>
          <a:xfrm>
            <a:off x="5806440" y="2194560"/>
            <a:ext cx="5608015" cy="274320"/>
          </a:xfrm>
          <a:prstGeom prst="rect">
            <a:avLst/>
          </a:prstGeom>
          <a:noFill/>
        </p:spPr>
        <p:txBody>
          <a:bodyPr wrap="square" anchor="t" lIns="0" rIns="0" tIns="0" bIns="0">
            <a:spAutoFit/>
          </a:bodyPr>
          <a:lstStyle/>
          <a:p>
            <a:pPr algn="l">
              <a:lnSpc>
                <a:spcPct val="115000"/>
              </a:lnSpc>
            </a:pPr>
            <a:r>
              <a:rPr sz="1300" b="1">
                <a:solidFill>
                  <a:srgbClr val="1D4ED8"/>
                </a:solidFill>
                <a:latin typeface="맑은 고딕"/>
                <a:ea typeface="맑은 고딕"/>
                <a:cs typeface="맑은 고딕"/>
              </a:rPr>
              <a:t>바꾼 뒤</a:t>
            </a:r>
          </a:p>
        </p:txBody>
      </p:sp>
      <p:sp>
        <p:nvSpPr>
          <p:cNvPr id="8" name="Rounded Rectangle 7"/>
          <p:cNvSpPr/>
          <p:nvPr/>
        </p:nvSpPr>
        <p:spPr>
          <a:xfrm>
            <a:off x="777240" y="2578608"/>
            <a:ext cx="4114800" cy="804672"/>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825496"/>
            <a:ext cx="3602736" cy="365760"/>
          </a:xfrm>
          <a:prstGeom prst="rect">
            <a:avLst/>
          </a:prstGeom>
          <a:noFill/>
        </p:spPr>
        <p:txBody>
          <a:bodyPr wrap="square" anchor="t" lIns="0" rIns="0" tIns="0" bIns="0">
            <a:spAutoFit/>
          </a:bodyPr>
          <a:lstStyle/>
          <a:p>
            <a:pPr algn="l">
              <a:lnSpc>
                <a:spcPct val="115000"/>
              </a:lnSpc>
            </a:pPr>
            <a:r>
              <a:rPr sz="1500" b="0">
                <a:solidFill>
                  <a:srgbClr val="7B8894"/>
                </a:solidFill>
                <a:latin typeface="맑은 고딕"/>
                <a:ea typeface="맑은 고딕"/>
                <a:cs typeface="맑은 고딕"/>
              </a:rPr>
              <a:t>“이 문제 답 뭐야?”</a:t>
            </a:r>
          </a:p>
        </p:txBody>
      </p:sp>
      <p:sp>
        <p:nvSpPr>
          <p:cNvPr id="10" name="Right Arrow 9"/>
          <p:cNvSpPr/>
          <p:nvPr/>
        </p:nvSpPr>
        <p:spPr>
          <a:xfrm>
            <a:off x="5166359" y="2871216"/>
            <a:ext cx="384048" cy="237744"/>
          </a:xfrm>
          <a:prstGeom prst="rightArrow">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06440" y="2578608"/>
            <a:ext cx="5608015" cy="80467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062472" y="2825496"/>
            <a:ext cx="5095951"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“정답은 말하지 말고 첫 번째 힌트만 줘.”</a:t>
            </a:r>
          </a:p>
        </p:txBody>
      </p:sp>
      <p:sp>
        <p:nvSpPr>
          <p:cNvPr id="13" name="Rounded Rectangle 12"/>
          <p:cNvSpPr/>
          <p:nvPr/>
        </p:nvSpPr>
        <p:spPr>
          <a:xfrm>
            <a:off x="777240" y="3602736"/>
            <a:ext cx="4114800" cy="804672"/>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33271" y="3849624"/>
            <a:ext cx="3602736" cy="365760"/>
          </a:xfrm>
          <a:prstGeom prst="rect">
            <a:avLst/>
          </a:prstGeom>
          <a:noFill/>
        </p:spPr>
        <p:txBody>
          <a:bodyPr wrap="square" anchor="t" lIns="0" rIns="0" tIns="0" bIns="0">
            <a:spAutoFit/>
          </a:bodyPr>
          <a:lstStyle/>
          <a:p>
            <a:pPr algn="l">
              <a:lnSpc>
                <a:spcPct val="115000"/>
              </a:lnSpc>
            </a:pPr>
            <a:r>
              <a:rPr sz="1500" b="0">
                <a:solidFill>
                  <a:srgbClr val="7B8894"/>
                </a:solidFill>
                <a:latin typeface="맑은 고딕"/>
                <a:ea typeface="맑은 고딕"/>
                <a:cs typeface="맑은 고딕"/>
              </a:rPr>
              <a:t>“독후감 써 줘.”</a:t>
            </a:r>
          </a:p>
        </p:txBody>
      </p:sp>
      <p:sp>
        <p:nvSpPr>
          <p:cNvPr id="15" name="Right Arrow 14"/>
          <p:cNvSpPr/>
          <p:nvPr/>
        </p:nvSpPr>
        <p:spPr>
          <a:xfrm>
            <a:off x="5166359" y="3895344"/>
            <a:ext cx="384048" cy="237744"/>
          </a:xfrm>
          <a:prstGeom prst="rightArrow">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06440" y="3602736"/>
            <a:ext cx="5608015" cy="80467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062472" y="3849624"/>
            <a:ext cx="5095951"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“내가 쓴 독후감에서 이해하기 어려운 문장을 찾아 줘.”</a:t>
            </a:r>
          </a:p>
        </p:txBody>
      </p:sp>
      <p:sp>
        <p:nvSpPr>
          <p:cNvPr id="18" name="Rounded Rectangle 17"/>
          <p:cNvSpPr/>
          <p:nvPr/>
        </p:nvSpPr>
        <p:spPr>
          <a:xfrm>
            <a:off x="777240" y="4626864"/>
            <a:ext cx="4114800" cy="804672"/>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33271" y="4873752"/>
            <a:ext cx="3602736" cy="365760"/>
          </a:xfrm>
          <a:prstGeom prst="rect">
            <a:avLst/>
          </a:prstGeom>
          <a:noFill/>
        </p:spPr>
        <p:txBody>
          <a:bodyPr wrap="square" anchor="t" lIns="0" rIns="0" tIns="0" bIns="0">
            <a:spAutoFit/>
          </a:bodyPr>
          <a:lstStyle/>
          <a:p>
            <a:pPr algn="l">
              <a:lnSpc>
                <a:spcPct val="115000"/>
              </a:lnSpc>
            </a:pPr>
            <a:r>
              <a:rPr sz="1500" b="0">
                <a:solidFill>
                  <a:srgbClr val="7B8894"/>
                </a:solidFill>
                <a:latin typeface="맑은 고딕"/>
                <a:ea typeface="맑은 고딕"/>
                <a:cs typeface="맑은 고딕"/>
              </a:rPr>
              <a:t>“이거 맞아?”</a:t>
            </a:r>
          </a:p>
        </p:txBody>
      </p:sp>
      <p:sp>
        <p:nvSpPr>
          <p:cNvPr id="20" name="Right Arrow 19"/>
          <p:cNvSpPr/>
          <p:nvPr/>
        </p:nvSpPr>
        <p:spPr>
          <a:xfrm>
            <a:off x="5166359" y="4919472"/>
            <a:ext cx="384048" cy="237744"/>
          </a:xfrm>
          <a:prstGeom prst="rightArrow">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06440" y="4626864"/>
            <a:ext cx="5608015" cy="804672"/>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062472" y="4873752"/>
            <a:ext cx="5095951"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“어디서 나온 내용인지 출처를 알려 줘. 확인해 볼게.”</a:t>
            </a:r>
          </a:p>
        </p:txBody>
      </p:sp>
      <p:sp>
        <p:nvSpPr>
          <p:cNvPr id="23" name="Rounded Rectangle 22"/>
          <p:cNvSpPr/>
          <p:nvPr/>
        </p:nvSpPr>
        <p:spPr>
          <a:xfrm>
            <a:off x="777240" y="5715000"/>
            <a:ext cx="10637215" cy="658368"/>
          </a:xfrm>
          <a:prstGeom prst="roundRect">
            <a:avLst>
              <a:gd name="adj" fmla="val 12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5897879"/>
            <a:ext cx="9905695" cy="365760"/>
          </a:xfrm>
          <a:prstGeom prst="rect">
            <a:avLst/>
          </a:prstGeom>
          <a:noFill/>
        </p:spPr>
        <p:txBody>
          <a:bodyPr wrap="square" anchor="t" lIns="0" rIns="0" tIns="0" bIns="0">
            <a:spAutoFit/>
          </a:bodyPr>
          <a:lstStyle/>
          <a:p>
            <a:pPr algn="l">
              <a:lnSpc>
                <a:spcPct val="115000"/>
              </a:lnSpc>
            </a:pPr>
            <a:r>
              <a:rPr sz="1450" b="1">
                <a:solidFill>
                  <a:srgbClr val="0E7C86"/>
                </a:solidFill>
                <a:latin typeface="맑은 고딕"/>
                <a:ea typeface="맑은 고딕"/>
                <a:cs typeface="맑은 고딕"/>
              </a:rPr>
              <a:t>옆자리 분과 하나씩 만들어 보세요. 우리 아이가 실제로 하는 질문이면 더 좋습니다.</a:t>
            </a:r>
          </a:p>
        </p:txBody>
      </p:sp>
      <p:sp>
        <p:nvSpPr>
          <p:cNvPr id="25" name="Rectangle 24"/>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26 /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프롬프트 공식</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 프롬프트 공식, 네 칸만 채우면 됩니다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외울 것은 네 가지뿐입니다. 아이가 이 형식만 익히면 돌아오는 답이 달라집니다.</a:t>
            </a:r>
          </a:p>
        </p:txBody>
      </p:sp>
      <p:sp>
        <p:nvSpPr>
          <p:cNvPr id="6" name="Rounded Rectangle 5"/>
          <p:cNvSpPr/>
          <p:nvPr/>
        </p:nvSpPr>
        <p:spPr>
          <a:xfrm>
            <a:off x="777240" y="2176272"/>
            <a:ext cx="2398699" cy="1719072"/>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14983" y="2377440"/>
            <a:ext cx="347472" cy="347472"/>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3" y="2423160"/>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1</a:t>
            </a:r>
          </a:p>
        </p:txBody>
      </p:sp>
      <p:sp>
        <p:nvSpPr>
          <p:cNvPr id="9" name="TextBox 8"/>
          <p:cNvSpPr txBox="1"/>
          <p:nvPr/>
        </p:nvSpPr>
        <p:spPr>
          <a:xfrm>
            <a:off x="1014983" y="2834640"/>
            <a:ext cx="1923211" cy="292608"/>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내 수준</a:t>
            </a:r>
          </a:p>
        </p:txBody>
      </p:sp>
      <p:sp>
        <p:nvSpPr>
          <p:cNvPr id="10" name="TextBox 9"/>
          <p:cNvSpPr txBox="1"/>
          <p:nvPr/>
        </p:nvSpPr>
        <p:spPr>
          <a:xfrm>
            <a:off x="1014983" y="3145536"/>
            <a:ext cx="1923211" cy="640080"/>
          </a:xfrm>
          <a:prstGeom prst="rect">
            <a:avLst/>
          </a:prstGeom>
          <a:noFill/>
        </p:spPr>
        <p:txBody>
          <a:bodyPr wrap="square" anchor="t" lIns="0" rIns="0" tIns="0" bIns="0">
            <a:spAutoFit/>
          </a:bodyPr>
          <a:lstStyle/>
          <a:p>
            <a:pPr algn="l">
              <a:lnSpc>
                <a:spcPct val="125000"/>
              </a:lnSpc>
            </a:pPr>
            <a:r>
              <a:rPr sz="1200" b="0">
                <a:solidFill>
                  <a:srgbClr val="1D4ED8"/>
                </a:solidFill>
                <a:latin typeface="맑은 고딕"/>
                <a:ea typeface="맑은 고딕"/>
                <a:cs typeface="맑은 고딕"/>
              </a:rPr>
              <a:t>“초등학교 4학년이야”</a:t>
            </a:r>
          </a:p>
        </p:txBody>
      </p:sp>
      <p:sp>
        <p:nvSpPr>
          <p:cNvPr id="11" name="TextBox 10"/>
          <p:cNvSpPr txBox="1"/>
          <p:nvPr/>
        </p:nvSpPr>
        <p:spPr>
          <a:xfrm>
            <a:off x="3175939" y="2871216"/>
            <a:ext cx="347472" cy="329184"/>
          </a:xfrm>
          <a:prstGeom prst="rect">
            <a:avLst/>
          </a:prstGeom>
          <a:noFill/>
        </p:spPr>
        <p:txBody>
          <a:bodyPr wrap="square" anchor="t" lIns="0" rIns="0" tIns="0" bIns="0">
            <a:spAutoFit/>
          </a:bodyPr>
          <a:lstStyle/>
          <a:p>
            <a:pPr algn="ctr">
              <a:lnSpc>
                <a:spcPct val="115000"/>
              </a:lnSpc>
            </a:pPr>
            <a:r>
              <a:rPr sz="2000" b="1">
                <a:solidFill>
                  <a:srgbClr val="7B8894"/>
                </a:solidFill>
                <a:latin typeface="맑은 고딕"/>
                <a:ea typeface="맑은 고딕"/>
                <a:cs typeface="맑은 고딕"/>
              </a:rPr>
              <a:t>+</a:t>
            </a:r>
          </a:p>
        </p:txBody>
      </p:sp>
      <p:sp>
        <p:nvSpPr>
          <p:cNvPr id="12" name="Rounded Rectangle 11"/>
          <p:cNvSpPr/>
          <p:nvPr/>
        </p:nvSpPr>
        <p:spPr>
          <a:xfrm>
            <a:off x="3523411" y="2176272"/>
            <a:ext cx="2398699" cy="1719072"/>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761155" y="2377440"/>
            <a:ext cx="347472" cy="347472"/>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1155" y="2423160"/>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2</a:t>
            </a:r>
          </a:p>
        </p:txBody>
      </p:sp>
      <p:sp>
        <p:nvSpPr>
          <p:cNvPr id="15" name="TextBox 14"/>
          <p:cNvSpPr txBox="1"/>
          <p:nvPr/>
        </p:nvSpPr>
        <p:spPr>
          <a:xfrm>
            <a:off x="3761155" y="2834640"/>
            <a:ext cx="1923211" cy="292608"/>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내 시도</a:t>
            </a:r>
          </a:p>
        </p:txBody>
      </p:sp>
      <p:sp>
        <p:nvSpPr>
          <p:cNvPr id="16" name="TextBox 15"/>
          <p:cNvSpPr txBox="1"/>
          <p:nvPr/>
        </p:nvSpPr>
        <p:spPr>
          <a:xfrm>
            <a:off x="3761155" y="3145536"/>
            <a:ext cx="1923211" cy="640080"/>
          </a:xfrm>
          <a:prstGeom prst="rect">
            <a:avLst/>
          </a:prstGeom>
          <a:noFill/>
        </p:spPr>
        <p:txBody>
          <a:bodyPr wrap="square" anchor="t" lIns="0" rIns="0" tIns="0" bIns="0">
            <a:spAutoFit/>
          </a:bodyPr>
          <a:lstStyle/>
          <a:p>
            <a:pPr algn="l">
              <a:lnSpc>
                <a:spcPct val="125000"/>
              </a:lnSpc>
            </a:pPr>
            <a:r>
              <a:rPr sz="1200" b="0">
                <a:solidFill>
                  <a:srgbClr val="1D4ED8"/>
                </a:solidFill>
                <a:latin typeface="맑은 고딕"/>
                <a:ea typeface="맑은 고딕"/>
                <a:cs typeface="맑은 고딕"/>
              </a:rPr>
              <a:t>“분모끼리 더했어”</a:t>
            </a:r>
          </a:p>
        </p:txBody>
      </p:sp>
      <p:sp>
        <p:nvSpPr>
          <p:cNvPr id="17" name="TextBox 16"/>
          <p:cNvSpPr txBox="1"/>
          <p:nvPr/>
        </p:nvSpPr>
        <p:spPr>
          <a:xfrm>
            <a:off x="5922111" y="2871216"/>
            <a:ext cx="347472" cy="329184"/>
          </a:xfrm>
          <a:prstGeom prst="rect">
            <a:avLst/>
          </a:prstGeom>
          <a:noFill/>
        </p:spPr>
        <p:txBody>
          <a:bodyPr wrap="square" anchor="t" lIns="0" rIns="0" tIns="0" bIns="0">
            <a:spAutoFit/>
          </a:bodyPr>
          <a:lstStyle/>
          <a:p>
            <a:pPr algn="ctr">
              <a:lnSpc>
                <a:spcPct val="115000"/>
              </a:lnSpc>
            </a:pPr>
            <a:r>
              <a:rPr sz="2000" b="1">
                <a:solidFill>
                  <a:srgbClr val="7B8894"/>
                </a:solidFill>
                <a:latin typeface="맑은 고딕"/>
                <a:ea typeface="맑은 고딕"/>
                <a:cs typeface="맑은 고딕"/>
              </a:rPr>
              <a:t>+</a:t>
            </a:r>
          </a:p>
        </p:txBody>
      </p:sp>
      <p:sp>
        <p:nvSpPr>
          <p:cNvPr id="18" name="Rounded Rectangle 17"/>
          <p:cNvSpPr/>
          <p:nvPr/>
        </p:nvSpPr>
        <p:spPr>
          <a:xfrm>
            <a:off x="6269583" y="2176272"/>
            <a:ext cx="2398699" cy="1719072"/>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07327" y="2377440"/>
            <a:ext cx="347472" cy="347472"/>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2423160"/>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3</a:t>
            </a:r>
          </a:p>
        </p:txBody>
      </p:sp>
      <p:sp>
        <p:nvSpPr>
          <p:cNvPr id="21" name="TextBox 20"/>
          <p:cNvSpPr txBox="1"/>
          <p:nvPr/>
        </p:nvSpPr>
        <p:spPr>
          <a:xfrm>
            <a:off x="6507327" y="2834640"/>
            <a:ext cx="1923211" cy="292608"/>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필요한 도움</a:t>
            </a:r>
          </a:p>
        </p:txBody>
      </p:sp>
      <p:sp>
        <p:nvSpPr>
          <p:cNvPr id="22" name="TextBox 21"/>
          <p:cNvSpPr txBox="1"/>
          <p:nvPr/>
        </p:nvSpPr>
        <p:spPr>
          <a:xfrm>
            <a:off x="6507327" y="3145536"/>
            <a:ext cx="1923211" cy="640080"/>
          </a:xfrm>
          <a:prstGeom prst="rect">
            <a:avLst/>
          </a:prstGeom>
          <a:noFill/>
        </p:spPr>
        <p:txBody>
          <a:bodyPr wrap="square" anchor="t" lIns="0" rIns="0" tIns="0" bIns="0">
            <a:spAutoFit/>
          </a:bodyPr>
          <a:lstStyle/>
          <a:p>
            <a:pPr algn="l">
              <a:lnSpc>
                <a:spcPct val="125000"/>
              </a:lnSpc>
            </a:pPr>
            <a:r>
              <a:rPr sz="1200" b="0">
                <a:solidFill>
                  <a:srgbClr val="1D4ED8"/>
                </a:solidFill>
                <a:latin typeface="맑은 고딕"/>
                <a:ea typeface="맑은 고딕"/>
                <a:cs typeface="맑은 고딕"/>
              </a:rPr>
              <a:t>“어디가 틀렸는지 궁금해”</a:t>
            </a:r>
          </a:p>
        </p:txBody>
      </p:sp>
      <p:sp>
        <p:nvSpPr>
          <p:cNvPr id="23" name="TextBox 22"/>
          <p:cNvSpPr txBox="1"/>
          <p:nvPr/>
        </p:nvSpPr>
        <p:spPr>
          <a:xfrm>
            <a:off x="8668283" y="2871216"/>
            <a:ext cx="347472" cy="329184"/>
          </a:xfrm>
          <a:prstGeom prst="rect">
            <a:avLst/>
          </a:prstGeom>
          <a:noFill/>
        </p:spPr>
        <p:txBody>
          <a:bodyPr wrap="square" anchor="t" lIns="0" rIns="0" tIns="0" bIns="0">
            <a:spAutoFit/>
          </a:bodyPr>
          <a:lstStyle/>
          <a:p>
            <a:pPr algn="ctr">
              <a:lnSpc>
                <a:spcPct val="115000"/>
              </a:lnSpc>
            </a:pPr>
            <a:r>
              <a:rPr sz="2000" b="1">
                <a:solidFill>
                  <a:srgbClr val="7B8894"/>
                </a:solidFill>
                <a:latin typeface="맑은 고딕"/>
                <a:ea typeface="맑은 고딕"/>
                <a:cs typeface="맑은 고딕"/>
              </a:rPr>
              <a:t>+</a:t>
            </a:r>
          </a:p>
        </p:txBody>
      </p:sp>
      <p:sp>
        <p:nvSpPr>
          <p:cNvPr id="24" name="Rounded Rectangle 23"/>
          <p:cNvSpPr/>
          <p:nvPr/>
        </p:nvSpPr>
        <p:spPr>
          <a:xfrm>
            <a:off x="9015755" y="2176272"/>
            <a:ext cx="2398699" cy="1719072"/>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9253499" y="2377440"/>
            <a:ext cx="347472" cy="347472"/>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3499" y="2423160"/>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4</a:t>
            </a:r>
          </a:p>
        </p:txBody>
      </p:sp>
      <p:sp>
        <p:nvSpPr>
          <p:cNvPr id="27" name="TextBox 26"/>
          <p:cNvSpPr txBox="1"/>
          <p:nvPr/>
        </p:nvSpPr>
        <p:spPr>
          <a:xfrm>
            <a:off x="9253499" y="2834640"/>
            <a:ext cx="1923211" cy="292608"/>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답변 방식</a:t>
            </a:r>
          </a:p>
        </p:txBody>
      </p:sp>
      <p:sp>
        <p:nvSpPr>
          <p:cNvPr id="28" name="TextBox 27"/>
          <p:cNvSpPr txBox="1"/>
          <p:nvPr/>
        </p:nvSpPr>
        <p:spPr>
          <a:xfrm>
            <a:off x="9253499" y="3145536"/>
            <a:ext cx="1923211" cy="640080"/>
          </a:xfrm>
          <a:prstGeom prst="rect">
            <a:avLst/>
          </a:prstGeom>
          <a:noFill/>
        </p:spPr>
        <p:txBody>
          <a:bodyPr wrap="square" anchor="t" lIns="0" rIns="0" tIns="0" bIns="0">
            <a:spAutoFit/>
          </a:bodyPr>
          <a:lstStyle/>
          <a:p>
            <a:pPr algn="l">
              <a:lnSpc>
                <a:spcPct val="125000"/>
              </a:lnSpc>
            </a:pPr>
            <a:r>
              <a:rPr sz="1200" b="0">
                <a:solidFill>
                  <a:srgbClr val="1D4ED8"/>
                </a:solidFill>
                <a:latin typeface="맑은 고딕"/>
                <a:ea typeface="맑은 고딕"/>
                <a:cs typeface="맑은 고딕"/>
              </a:rPr>
              <a:t>“정답 말고 질문으로 해 줘”</a:t>
            </a:r>
          </a:p>
        </p:txBody>
      </p:sp>
      <p:sp>
        <p:nvSpPr>
          <p:cNvPr id="29" name="Rounded Rectangle 28"/>
          <p:cNvSpPr/>
          <p:nvPr/>
        </p:nvSpPr>
        <p:spPr>
          <a:xfrm>
            <a:off x="777240" y="4078224"/>
            <a:ext cx="10637215" cy="20116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143000" y="4261104"/>
            <a:ext cx="6400800" cy="274320"/>
          </a:xfrm>
          <a:prstGeom prst="rect">
            <a:avLst/>
          </a:prstGeom>
          <a:noFill/>
        </p:spPr>
        <p:txBody>
          <a:bodyPr wrap="square" anchor="t" lIns="0" rIns="0" tIns="0" bIns="0">
            <a:spAutoFit/>
          </a:bodyPr>
          <a:lstStyle/>
          <a:p>
            <a:pPr algn="l">
              <a:lnSpc>
                <a:spcPct val="115000"/>
              </a:lnSpc>
            </a:pPr>
            <a:r>
              <a:rPr sz="1300" b="1">
                <a:solidFill>
                  <a:srgbClr val="1D4ED8"/>
                </a:solidFill>
                <a:latin typeface="맑은 고딕"/>
                <a:ea typeface="맑은 고딕"/>
                <a:cs typeface="맑은 고딕"/>
              </a:rPr>
              <a:t>=  </a:t>
            </a:r>
            <a:r>
              <a:rPr sz="1300" b="1">
                <a:solidFill>
                  <a:srgbClr val="0E7C86"/>
                </a:solidFill>
                <a:latin typeface="맑은 고딕"/>
                <a:ea typeface="맑은 고딕"/>
                <a:cs typeface="맑은 고딕"/>
              </a:rPr>
              <a:t>네 칸을 이어 붙이면 이런 한 문장이 됩니다</a:t>
            </a:r>
          </a:p>
        </p:txBody>
      </p:sp>
      <p:sp>
        <p:nvSpPr>
          <p:cNvPr id="31" name="Rectangle 30"/>
          <p:cNvSpPr/>
          <p:nvPr/>
        </p:nvSpPr>
        <p:spPr>
          <a:xfrm>
            <a:off x="1143000" y="4608576"/>
            <a:ext cx="45720" cy="12801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7319" y="4608576"/>
            <a:ext cx="9448495" cy="1325880"/>
          </a:xfrm>
          <a:prstGeom prst="rect">
            <a:avLst/>
          </a:prstGeom>
          <a:noFill/>
        </p:spPr>
        <p:txBody>
          <a:bodyPr wrap="square" anchor="t" lIns="0" rIns="0" tIns="0" bIns="0">
            <a:spAutoFit/>
          </a:bodyPr>
          <a:lstStyle/>
          <a:p>
            <a:pPr algn="l">
              <a:lnSpc>
                <a:spcPct val="145000"/>
              </a:lnSpc>
              <a:spcAft>
                <a:spcPts val="300"/>
              </a:spcAft>
            </a:pPr>
            <a:r>
              <a:rPr sz="1600" b="0">
                <a:solidFill>
                  <a:srgbClr val="1F2933"/>
                </a:solidFill>
                <a:latin typeface="맑은 고딕"/>
                <a:ea typeface="맑은 고딕"/>
                <a:cs typeface="맑은 고딕"/>
              </a:rPr>
              <a:t>나는 초등학교 4학년이야. 분모가 다른 분수의 덧셈을 공부하고 있어.</a:t>
            </a:r>
          </a:p>
          <a:p>
            <a:pPr algn="l">
              <a:lnSpc>
                <a:spcPct val="145000"/>
              </a:lnSpc>
              <a:spcAft>
                <a:spcPts val="300"/>
              </a:spcAft>
            </a:pPr>
            <a:r>
              <a:rPr sz="1600" b="0">
                <a:solidFill>
                  <a:srgbClr val="1F2933"/>
                </a:solidFill>
                <a:latin typeface="맑은 고딕"/>
                <a:ea typeface="맑은 고딕"/>
                <a:cs typeface="맑은 고딕"/>
              </a:rPr>
              <a:t>분모끼리 더했는데 왜 틀렸는지 모르겠어.</a:t>
            </a:r>
          </a:p>
          <a:p>
            <a:pPr algn="l">
              <a:lnSpc>
                <a:spcPct val="145000"/>
              </a:lnSpc>
              <a:spcAft>
                <a:spcPts val="300"/>
              </a:spcAft>
            </a:pPr>
            <a:r>
              <a:rPr sz="1600" b="0">
                <a:solidFill>
                  <a:srgbClr val="1F2933"/>
                </a:solidFill>
                <a:latin typeface="맑은 고딕"/>
                <a:ea typeface="맑은 고딕"/>
                <a:cs typeface="맑은 고딕"/>
              </a:rPr>
              <a:t>정답을 바로 말하지 말고, 그림으로 생각할 수 있는 질문을 하나씩 해 줘.</a:t>
            </a:r>
          </a:p>
        </p:txBody>
      </p:sp>
      <p:sp>
        <p:nvSpPr>
          <p:cNvPr id="33" name="Rectangle 32"/>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27 /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사용 습관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 약속은 스마트폰 약속과 따로 갈 수 없습니다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AI는 대부분 그 스마트폰 안에서 씁니다.</a:t>
            </a:r>
          </a:p>
        </p:txBody>
      </p:sp>
      <p:sp>
        <p:nvSpPr>
          <p:cNvPr id="6" name="Rounded Rectangle 5"/>
          <p:cNvSpPr/>
          <p:nvPr/>
        </p:nvSpPr>
        <p:spPr>
          <a:xfrm>
            <a:off x="777240" y="2194560"/>
            <a:ext cx="5135727" cy="210312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450592"/>
            <a:ext cx="2194560" cy="32004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청소년</a:t>
            </a:r>
          </a:p>
        </p:txBody>
      </p:sp>
      <p:sp>
        <p:nvSpPr>
          <p:cNvPr id="8" name="TextBox 7"/>
          <p:cNvSpPr txBox="1"/>
          <p:nvPr/>
        </p:nvSpPr>
        <p:spPr>
          <a:xfrm>
            <a:off x="1097280" y="2816352"/>
            <a:ext cx="2194560" cy="274320"/>
          </a:xfrm>
          <a:prstGeom prst="rect">
            <a:avLst/>
          </a:prstGeom>
          <a:noFill/>
        </p:spPr>
        <p:txBody>
          <a:bodyPr wrap="square" anchor="t" lIns="0" rIns="0" tIns="0" bIns="0">
            <a:spAutoFit/>
          </a:bodyPr>
          <a:lstStyle/>
          <a:p>
            <a:pPr algn="l">
              <a:lnSpc>
                <a:spcPct val="115000"/>
              </a:lnSpc>
            </a:pPr>
            <a:r>
              <a:rPr sz="1300" b="0">
                <a:solidFill>
                  <a:srgbClr val="7B8894"/>
                </a:solidFill>
                <a:latin typeface="맑은 고딕"/>
                <a:ea typeface="맑은 고딕"/>
                <a:cs typeface="맑은 고딕"/>
              </a:rPr>
              <a:t>만 10~19세</a:t>
            </a:r>
          </a:p>
        </p:txBody>
      </p:sp>
      <p:sp>
        <p:nvSpPr>
          <p:cNvPr id="9" name="TextBox 8"/>
          <p:cNvSpPr txBox="1"/>
          <p:nvPr/>
        </p:nvSpPr>
        <p:spPr>
          <a:xfrm>
            <a:off x="3169767" y="2487168"/>
            <a:ext cx="2423160" cy="685800"/>
          </a:xfrm>
          <a:prstGeom prst="rect">
            <a:avLst/>
          </a:prstGeom>
          <a:noFill/>
        </p:spPr>
        <p:txBody>
          <a:bodyPr wrap="square" anchor="t" lIns="0" rIns="0" tIns="0" bIns="0">
            <a:spAutoFit/>
          </a:bodyPr>
          <a:lstStyle/>
          <a:p>
            <a:pPr algn="r">
              <a:lnSpc>
                <a:spcPct val="115000"/>
              </a:lnSpc>
            </a:pPr>
            <a:r>
              <a:rPr sz="4000" b="1">
                <a:solidFill>
                  <a:srgbClr val="1D4ED8"/>
                </a:solidFill>
                <a:latin typeface="맑은 고딕"/>
                <a:ea typeface="맑은 고딕"/>
                <a:cs typeface="맑은 고딕"/>
              </a:rPr>
              <a:t>42.6%</a:t>
            </a:r>
          </a:p>
        </p:txBody>
      </p:sp>
      <p:sp>
        <p:nvSpPr>
          <p:cNvPr id="10" name="Rectangle 9"/>
          <p:cNvSpPr/>
          <p:nvPr/>
        </p:nvSpPr>
        <p:spPr>
          <a:xfrm>
            <a:off x="1097280" y="3401568"/>
            <a:ext cx="4495647"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566160"/>
            <a:ext cx="4495647" cy="320040"/>
          </a:xfrm>
          <a:prstGeom prst="rect">
            <a:avLst/>
          </a:prstGeom>
          <a:noFill/>
        </p:spPr>
        <p:txBody>
          <a:bodyPr wrap="square" anchor="t" lIns="0" rIns="0" tIns="0" bIns="0">
            <a:spAutoFit/>
          </a:bodyPr>
          <a:lstStyle/>
          <a:p>
            <a:pPr algn="l">
              <a:lnSpc>
                <a:spcPct val="115000"/>
              </a:lnSpc>
            </a:pPr>
            <a:r>
              <a:rPr sz="1300" b="0">
                <a:solidFill>
                  <a:srgbClr val="3E4C59"/>
                </a:solidFill>
                <a:latin typeface="맑은 고딕"/>
                <a:ea typeface="맑은 고딕"/>
                <a:cs typeface="맑은 고딕"/>
              </a:rPr>
              <a:t>스마트폰 과의존 위험군 · 전년 대비 +2.5%p</a:t>
            </a:r>
          </a:p>
        </p:txBody>
      </p:sp>
      <p:sp>
        <p:nvSpPr>
          <p:cNvPr id="12" name="Rounded Rectangle 11"/>
          <p:cNvSpPr/>
          <p:nvPr/>
        </p:nvSpPr>
        <p:spPr>
          <a:xfrm>
            <a:off x="6278727" y="2194560"/>
            <a:ext cx="5135727" cy="210312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98767" y="2450592"/>
            <a:ext cx="2194560" cy="32004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유아동</a:t>
            </a:r>
          </a:p>
        </p:txBody>
      </p:sp>
      <p:sp>
        <p:nvSpPr>
          <p:cNvPr id="14" name="TextBox 13"/>
          <p:cNvSpPr txBox="1"/>
          <p:nvPr/>
        </p:nvSpPr>
        <p:spPr>
          <a:xfrm>
            <a:off x="6598767" y="2816352"/>
            <a:ext cx="2194560" cy="274320"/>
          </a:xfrm>
          <a:prstGeom prst="rect">
            <a:avLst/>
          </a:prstGeom>
          <a:noFill/>
        </p:spPr>
        <p:txBody>
          <a:bodyPr wrap="square" anchor="t" lIns="0" rIns="0" tIns="0" bIns="0">
            <a:spAutoFit/>
          </a:bodyPr>
          <a:lstStyle/>
          <a:p>
            <a:pPr algn="l">
              <a:lnSpc>
                <a:spcPct val="115000"/>
              </a:lnSpc>
            </a:pPr>
            <a:r>
              <a:rPr sz="1300" b="0">
                <a:solidFill>
                  <a:srgbClr val="7B8894"/>
                </a:solidFill>
                <a:latin typeface="맑은 고딕"/>
                <a:ea typeface="맑은 고딕"/>
                <a:cs typeface="맑은 고딕"/>
              </a:rPr>
              <a:t>만 3~9세</a:t>
            </a:r>
          </a:p>
        </p:txBody>
      </p:sp>
      <p:sp>
        <p:nvSpPr>
          <p:cNvPr id="15" name="TextBox 14"/>
          <p:cNvSpPr txBox="1"/>
          <p:nvPr/>
        </p:nvSpPr>
        <p:spPr>
          <a:xfrm>
            <a:off x="8671255" y="2487168"/>
            <a:ext cx="2423160" cy="685800"/>
          </a:xfrm>
          <a:prstGeom prst="rect">
            <a:avLst/>
          </a:prstGeom>
          <a:noFill/>
        </p:spPr>
        <p:txBody>
          <a:bodyPr wrap="square" anchor="t" lIns="0" rIns="0" tIns="0" bIns="0">
            <a:spAutoFit/>
          </a:bodyPr>
          <a:lstStyle/>
          <a:p>
            <a:pPr algn="r">
              <a:lnSpc>
                <a:spcPct val="115000"/>
              </a:lnSpc>
            </a:pPr>
            <a:r>
              <a:rPr sz="4000" b="1">
                <a:solidFill>
                  <a:srgbClr val="0E7C86"/>
                </a:solidFill>
                <a:latin typeface="맑은 고딕"/>
                <a:ea typeface="맑은 고딕"/>
                <a:cs typeface="맑은 고딕"/>
              </a:rPr>
              <a:t>25.9%</a:t>
            </a:r>
          </a:p>
        </p:txBody>
      </p:sp>
      <p:sp>
        <p:nvSpPr>
          <p:cNvPr id="16" name="Rectangle 15"/>
          <p:cNvSpPr/>
          <p:nvPr/>
        </p:nvSpPr>
        <p:spPr>
          <a:xfrm>
            <a:off x="6598767" y="3401568"/>
            <a:ext cx="4495647"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3566160"/>
            <a:ext cx="4495647" cy="320040"/>
          </a:xfrm>
          <a:prstGeom prst="rect">
            <a:avLst/>
          </a:prstGeom>
          <a:noFill/>
        </p:spPr>
        <p:txBody>
          <a:bodyPr wrap="square" anchor="t" lIns="0" rIns="0" tIns="0" bIns="0">
            <a:spAutoFit/>
          </a:bodyPr>
          <a:lstStyle/>
          <a:p>
            <a:pPr algn="l">
              <a:lnSpc>
                <a:spcPct val="115000"/>
              </a:lnSpc>
            </a:pPr>
            <a:r>
              <a:rPr sz="1300" b="0">
                <a:solidFill>
                  <a:srgbClr val="3E4C59"/>
                </a:solidFill>
                <a:latin typeface="맑은 고딕"/>
                <a:ea typeface="맑은 고딕"/>
                <a:cs typeface="맑은 고딕"/>
              </a:rPr>
              <a:t>스마트폰 과의존 위험군 · 전년 대비 +0.9%p</a:t>
            </a:r>
          </a:p>
        </p:txBody>
      </p:sp>
      <p:sp>
        <p:nvSpPr>
          <p:cNvPr id="18" name="Rounded Rectangle 17"/>
          <p:cNvSpPr/>
          <p:nvPr/>
        </p:nvSpPr>
        <p:spPr>
          <a:xfrm>
            <a:off x="777240" y="4572000"/>
            <a:ext cx="10637215" cy="8686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43000" y="4754880"/>
            <a:ext cx="9905695" cy="502920"/>
          </a:xfrm>
          <a:prstGeom prst="rect">
            <a:avLst/>
          </a:prstGeom>
          <a:noFill/>
        </p:spPr>
        <p:txBody>
          <a:bodyPr wrap="square" anchor="t" lIns="0" rIns="0" tIns="0" bIns="0">
            <a:spAutoFit/>
          </a:bodyPr>
          <a:lstStyle/>
          <a:p>
            <a:pPr algn="l">
              <a:lnSpc>
                <a:spcPct val="140000"/>
              </a:lnSpc>
            </a:pPr>
            <a:r>
              <a:rPr sz="1350" b="0">
                <a:solidFill>
                  <a:srgbClr val="3E4C59"/>
                </a:solidFill>
                <a:latin typeface="맑은 고딕"/>
                <a:ea typeface="맑은 고딕"/>
                <a:cs typeface="맑은 고딕"/>
              </a:rPr>
              <a:t>전국 1만 가구를 방문 면접해 조사한 국가승인통계입니다.</a:t>
            </a:r>
          </a:p>
          <a:p>
            <a:pPr algn="l">
              <a:lnSpc>
                <a:spcPct val="140000"/>
              </a:lnSpc>
            </a:pPr>
            <a:r>
              <a:rPr sz="1350" b="0">
                <a:solidFill>
                  <a:srgbClr val="3E4C59"/>
                </a:solidFill>
                <a:latin typeface="맑은 고딕"/>
                <a:ea typeface="맑은 고딕"/>
                <a:cs typeface="맑은 고딕"/>
              </a:rPr>
              <a:t>두 연령대 모두 전년보다 올랐습니다.</a:t>
            </a:r>
          </a:p>
        </p:txBody>
      </p:sp>
      <p:sp>
        <p:nvSpPr>
          <p:cNvPr id="20" name="Rounded Rectangle 19"/>
          <p:cNvSpPr/>
          <p:nvPr/>
        </p:nvSpPr>
        <p:spPr>
          <a:xfrm>
            <a:off x="777240" y="5596127"/>
            <a:ext cx="10637215" cy="658368"/>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143000" y="5779008"/>
            <a:ext cx="9905695" cy="365760"/>
          </a:xfrm>
          <a:prstGeom prst="rect">
            <a:avLst/>
          </a:prstGeom>
          <a:noFill/>
        </p:spPr>
        <p:txBody>
          <a:bodyPr wrap="square" anchor="t" lIns="0" rIns="0" tIns="0" bIns="0">
            <a:spAutoFit/>
          </a:bodyPr>
          <a:lstStyle/>
          <a:p>
            <a:pPr algn="l">
              <a:lnSpc>
                <a:spcPct val="115000"/>
              </a:lnSpc>
            </a:pPr>
            <a:r>
              <a:rPr sz="1450" b="1">
                <a:solidFill>
                  <a:srgbClr val="0E7C86"/>
                </a:solidFill>
                <a:latin typeface="맑은 고딕"/>
                <a:ea typeface="맑은 고딕"/>
                <a:cs typeface="맑은 고딕"/>
              </a:rPr>
              <a:t>기기 사용 규칙이 없으면 AI 사용 규칙도 지켜지기 어렵습니다. 두 가지를 같이 정해 주세요.</a:t>
            </a:r>
          </a:p>
        </p:txBody>
      </p:sp>
      <p:sp>
        <p:nvSpPr>
          <p:cNvPr id="22" name="Rectangle 2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과학기술정보통신부·한국지능정보사회진흥원, 『2024년 스마트폰 과의존 실태조사』</a:t>
            </a:r>
          </a:p>
        </p:txBody>
      </p:sp>
      <p:sp>
        <p:nvSpPr>
          <p:cNvPr id="24" name="TextBox 2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28 / 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사용 습관</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틈만 나면 AI를 찾는 아이에게</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막기보다, 쓰기 전과 쓴 뒤에 한마디씩 붙여 보세요.</a:t>
            </a:r>
          </a:p>
        </p:txBody>
      </p:sp>
      <p:sp>
        <p:nvSpPr>
          <p:cNvPr id="6" name="Rounded Rectangle 5"/>
          <p:cNvSpPr/>
          <p:nvPr/>
        </p:nvSpPr>
        <p:spPr>
          <a:xfrm>
            <a:off x="777240" y="2176272"/>
            <a:ext cx="3291840" cy="21488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395728"/>
            <a:ext cx="2706624" cy="274320"/>
          </a:xfrm>
          <a:prstGeom prst="rect">
            <a:avLst/>
          </a:prstGeom>
          <a:noFill/>
        </p:spPr>
        <p:txBody>
          <a:bodyPr wrap="square" anchor="t" lIns="0" rIns="0" tIns="0" bIns="0">
            <a:spAutoFit/>
          </a:bodyPr>
          <a:lstStyle/>
          <a:p>
            <a:pPr algn="l">
              <a:lnSpc>
                <a:spcPct val="115000"/>
              </a:lnSpc>
            </a:pPr>
            <a:r>
              <a:rPr sz="1200" b="1">
                <a:solidFill>
                  <a:srgbClr val="7B8894"/>
                </a:solidFill>
                <a:latin typeface="맑은 고딕"/>
                <a:ea typeface="맑은 고딕"/>
                <a:cs typeface="맑은 고딕"/>
              </a:rPr>
              <a:t>쓰기 전</a:t>
            </a:r>
          </a:p>
        </p:txBody>
      </p:sp>
      <p:sp>
        <p:nvSpPr>
          <p:cNvPr id="8" name="TextBox 7"/>
          <p:cNvSpPr txBox="1"/>
          <p:nvPr/>
        </p:nvSpPr>
        <p:spPr>
          <a:xfrm>
            <a:off x="1069848" y="2743200"/>
            <a:ext cx="2706624" cy="45720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“먼저 네 생각은?”</a:t>
            </a:r>
          </a:p>
        </p:txBody>
      </p:sp>
      <p:sp>
        <p:nvSpPr>
          <p:cNvPr id="9" name="TextBox 8"/>
          <p:cNvSpPr txBox="1"/>
          <p:nvPr/>
        </p:nvSpPr>
        <p:spPr>
          <a:xfrm>
            <a:off x="1069848" y="3401568"/>
            <a:ext cx="270662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이미 아는 것 하나,</a:t>
            </a:r>
          </a:p>
          <a:p>
            <a:pPr algn="l">
              <a:lnSpc>
                <a:spcPct val="135000"/>
              </a:lnSpc>
            </a:pPr>
            <a:r>
              <a:rPr sz="1300" b="0">
                <a:solidFill>
                  <a:srgbClr val="3E4C59"/>
                </a:solidFill>
                <a:latin typeface="맑은 고딕"/>
                <a:ea typeface="맑은 고딕"/>
                <a:cs typeface="맑은 고딕"/>
              </a:rPr>
              <a:t>궁금한 것 하나를 말하게 합니다.</a:t>
            </a:r>
          </a:p>
        </p:txBody>
      </p:sp>
      <p:sp>
        <p:nvSpPr>
          <p:cNvPr id="10" name="Right Arrow 9"/>
          <p:cNvSpPr/>
          <p:nvPr/>
        </p:nvSpPr>
        <p:spPr>
          <a:xfrm>
            <a:off x="4114800" y="3090672"/>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53128" y="2176272"/>
            <a:ext cx="3291840" cy="214884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745736" y="2395728"/>
            <a:ext cx="2706624" cy="274320"/>
          </a:xfrm>
          <a:prstGeom prst="rect">
            <a:avLst/>
          </a:prstGeom>
          <a:noFill/>
        </p:spPr>
        <p:txBody>
          <a:bodyPr wrap="square" anchor="t" lIns="0" rIns="0" tIns="0" bIns="0">
            <a:spAutoFit/>
          </a:bodyPr>
          <a:lstStyle/>
          <a:p>
            <a:pPr algn="l">
              <a:lnSpc>
                <a:spcPct val="115000"/>
              </a:lnSpc>
            </a:pPr>
            <a:r>
              <a:rPr sz="1200" b="1">
                <a:solidFill>
                  <a:srgbClr val="7B8894"/>
                </a:solidFill>
                <a:latin typeface="맑은 고딕"/>
                <a:ea typeface="맑은 고딕"/>
                <a:cs typeface="맑은 고딕"/>
              </a:rPr>
              <a:t>쓰는 중</a:t>
            </a:r>
          </a:p>
        </p:txBody>
      </p:sp>
      <p:sp>
        <p:nvSpPr>
          <p:cNvPr id="13" name="TextBox 12"/>
          <p:cNvSpPr txBox="1"/>
          <p:nvPr/>
        </p:nvSpPr>
        <p:spPr>
          <a:xfrm>
            <a:off x="4745736" y="2743200"/>
            <a:ext cx="2706624" cy="45720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“무엇을 도와달라고 할까?”</a:t>
            </a:r>
          </a:p>
        </p:txBody>
      </p:sp>
      <p:sp>
        <p:nvSpPr>
          <p:cNvPr id="14" name="TextBox 13"/>
          <p:cNvSpPr txBox="1"/>
          <p:nvPr/>
        </p:nvSpPr>
        <p:spPr>
          <a:xfrm>
            <a:off x="4745736" y="3401568"/>
            <a:ext cx="270662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설명인지 힌트인지 피드백인지</a:t>
            </a:r>
          </a:p>
          <a:p>
            <a:pPr algn="l">
              <a:lnSpc>
                <a:spcPct val="135000"/>
              </a:lnSpc>
            </a:pPr>
            <a:r>
              <a:rPr sz="1300" b="0">
                <a:solidFill>
                  <a:srgbClr val="3E4C59"/>
                </a:solidFill>
                <a:latin typeface="맑은 고딕"/>
                <a:ea typeface="맑은 고딕"/>
                <a:cs typeface="맑은 고딕"/>
              </a:rPr>
              <a:t>먼저 정하게 합니다.</a:t>
            </a:r>
          </a:p>
        </p:txBody>
      </p:sp>
      <p:sp>
        <p:nvSpPr>
          <p:cNvPr id="15" name="Right Arrow 14"/>
          <p:cNvSpPr/>
          <p:nvPr/>
        </p:nvSpPr>
        <p:spPr>
          <a:xfrm>
            <a:off x="7790688" y="3090672"/>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29016" y="2176272"/>
            <a:ext cx="3291840" cy="214884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21624" y="2395728"/>
            <a:ext cx="2706624"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쓴 뒤</a:t>
            </a:r>
          </a:p>
        </p:txBody>
      </p:sp>
      <p:sp>
        <p:nvSpPr>
          <p:cNvPr id="18" name="TextBox 17"/>
          <p:cNvSpPr txBox="1"/>
          <p:nvPr/>
        </p:nvSpPr>
        <p:spPr>
          <a:xfrm>
            <a:off x="8421624" y="2743200"/>
            <a:ext cx="2706624" cy="45720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“화면 닫고 설명해 볼까?”</a:t>
            </a:r>
          </a:p>
        </p:txBody>
      </p:sp>
      <p:sp>
        <p:nvSpPr>
          <p:cNvPr id="19" name="TextBox 18"/>
          <p:cNvSpPr txBox="1"/>
          <p:nvPr/>
        </p:nvSpPr>
        <p:spPr>
          <a:xfrm>
            <a:off x="8421624" y="3401568"/>
            <a:ext cx="270662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자기 말로 옮기지 못하면</a:t>
            </a:r>
          </a:p>
          <a:p>
            <a:pPr algn="l">
              <a:lnSpc>
                <a:spcPct val="135000"/>
              </a:lnSpc>
            </a:pPr>
            <a:r>
              <a:rPr sz="1300" b="0">
                <a:solidFill>
                  <a:srgbClr val="3E4C59"/>
                </a:solidFill>
                <a:latin typeface="맑은 고딕"/>
                <a:ea typeface="맑은 고딕"/>
                <a:cs typeface="맑은 고딕"/>
              </a:rPr>
              <a:t>아직 배운 것이 아닙니다.</a:t>
            </a:r>
          </a:p>
        </p:txBody>
      </p:sp>
      <p:sp>
        <p:nvSpPr>
          <p:cNvPr id="20" name="Rounded Rectangle 19"/>
          <p:cNvSpPr/>
          <p:nvPr/>
        </p:nvSpPr>
        <p:spPr>
          <a:xfrm>
            <a:off x="777240" y="4617720"/>
            <a:ext cx="10637215" cy="109728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143000" y="4809744"/>
            <a:ext cx="9905695" cy="685800"/>
          </a:xfrm>
          <a:prstGeom prst="rect">
            <a:avLst/>
          </a:prstGeom>
          <a:noFill/>
        </p:spPr>
        <p:txBody>
          <a:bodyPr wrap="square" anchor="t" lIns="0" rIns="0" tIns="0" bIns="0">
            <a:spAutoFit/>
          </a:bodyPr>
          <a:lstStyle/>
          <a:p>
            <a:pPr algn="l">
              <a:lnSpc>
                <a:spcPct val="135000"/>
              </a:lnSpc>
              <a:spcAft>
                <a:spcPts val="400"/>
              </a:spcAft>
            </a:pPr>
            <a:r>
              <a:rPr sz="1450" b="0">
                <a:solidFill>
                  <a:srgbClr val="3E4C59"/>
                </a:solidFill>
                <a:latin typeface="맑은 고딕"/>
                <a:ea typeface="맑은 고딕"/>
                <a:cs typeface="맑은 고딕"/>
              </a:rPr>
              <a:t>매일 쓰는 아이는 아직 많지 않습니다. </a:t>
            </a:r>
            <a:r>
              <a:rPr sz="1450" b="1">
                <a:solidFill>
                  <a:srgbClr val="0E7C86"/>
                </a:solidFill>
                <a:latin typeface="맑은 고딕"/>
                <a:ea typeface="맑은 고딕"/>
                <a:cs typeface="맑은 고딕"/>
              </a:rPr>
              <a:t>초등 4~6학년 중 ‘매일 이용’은 3.7%</a:t>
            </a:r>
            <a:r>
              <a:rPr sz="1450" b="0">
                <a:solidFill>
                  <a:srgbClr val="3E4C59"/>
                </a:solidFill>
                <a:latin typeface="맑은 고딕"/>
                <a:ea typeface="맑은 고딕"/>
                <a:cs typeface="맑은 고딕"/>
              </a:rPr>
              <a:t>입니다.</a:t>
            </a:r>
          </a:p>
          <a:p>
            <a:pPr algn="l">
              <a:lnSpc>
                <a:spcPct val="135000"/>
              </a:lnSpc>
              <a:spcAft>
                <a:spcPts val="400"/>
              </a:spcAft>
            </a:pPr>
            <a:r>
              <a:rPr sz="1450" b="0">
                <a:solidFill>
                  <a:srgbClr val="3E4C59"/>
                </a:solidFill>
                <a:latin typeface="맑은 고딕"/>
                <a:ea typeface="맑은 고딕"/>
                <a:cs typeface="맑은 고딕"/>
              </a:rPr>
              <a:t>막아야 할 때라기보다, 습관이 굳기 전에 쓰는 방식을 정해 둘 시기입니다.</a:t>
            </a:r>
          </a:p>
        </p:txBody>
      </p:sp>
      <p:sp>
        <p:nvSpPr>
          <p:cNvPr id="22" name="Rectangle 21"/>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한국언론진흥재단, 『2025 10대 청소년 미디어 이용 조사』(초4~고3 2,674명)</a:t>
            </a:r>
          </a:p>
        </p:txBody>
      </p:sp>
      <p:sp>
        <p:nvSpPr>
          <p:cNvPr id="24" name="TextBox 23"/>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29 / 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사실 확인 · 할루시네이션</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AI가 출처를 달면 믿어도 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사실이 아닌 내용을 그럴듯하게 지어내는 일이 있습니다. 네 가지로 걸러 냅니다.</a:t>
            </a:r>
          </a:p>
        </p:txBody>
      </p:sp>
      <p:sp>
        <p:nvSpPr>
          <p:cNvPr id="6" name="Rounded Rectangle 5"/>
          <p:cNvSpPr/>
          <p:nvPr/>
        </p:nvSpPr>
        <p:spPr>
          <a:xfrm>
            <a:off x="777240" y="2176272"/>
            <a:ext cx="2453563"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51560" y="2395728"/>
            <a:ext cx="365760" cy="36576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50592"/>
            <a:ext cx="365760"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051560" y="2907792"/>
            <a:ext cx="1904923" cy="41148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링크가 실제로 열리나?</a:t>
            </a:r>
          </a:p>
        </p:txBody>
      </p:sp>
      <p:sp>
        <p:nvSpPr>
          <p:cNvPr id="10" name="TextBox 9"/>
          <p:cNvSpPr txBox="1"/>
          <p:nvPr/>
        </p:nvSpPr>
        <p:spPr>
          <a:xfrm>
            <a:off x="1051560" y="3337560"/>
            <a:ext cx="1904923" cy="731520"/>
          </a:xfrm>
          <a:prstGeom prst="rect">
            <a:avLst/>
          </a:prstGeom>
          <a:noFill/>
        </p:spPr>
        <p:txBody>
          <a:bodyPr wrap="square" anchor="t" lIns="0" rIns="0" tIns="0" bIns="0">
            <a:spAutoFit/>
          </a:bodyPr>
          <a:lstStyle/>
          <a:p>
            <a:pPr algn="l">
              <a:lnSpc>
                <a:spcPct val="130000"/>
              </a:lnSpc>
            </a:pPr>
            <a:r>
              <a:rPr sz="1200" b="0">
                <a:solidFill>
                  <a:srgbClr val="3E4C59"/>
                </a:solidFill>
                <a:latin typeface="맑은 고딕"/>
                <a:ea typeface="맑은 고딕"/>
                <a:cs typeface="맑은 고딕"/>
              </a:rPr>
              <a:t>존재하지 않는 주소를</a:t>
            </a:r>
          </a:p>
          <a:p>
            <a:pPr algn="l">
              <a:lnSpc>
                <a:spcPct val="130000"/>
              </a:lnSpc>
            </a:pPr>
            <a:r>
              <a:rPr sz="1200" b="0">
                <a:solidFill>
                  <a:srgbClr val="3E4C59"/>
                </a:solidFill>
                <a:latin typeface="맑은 고딕"/>
                <a:ea typeface="맑은 고딕"/>
                <a:cs typeface="맑은 고딕"/>
              </a:rPr>
              <a:t>만들어 내기도 합니다.</a:t>
            </a:r>
          </a:p>
        </p:txBody>
      </p:sp>
      <p:sp>
        <p:nvSpPr>
          <p:cNvPr id="11" name="Rounded Rectangle 10"/>
          <p:cNvSpPr/>
          <p:nvPr/>
        </p:nvSpPr>
        <p:spPr>
          <a:xfrm>
            <a:off x="3505123" y="2176272"/>
            <a:ext cx="2453563"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779443" y="2395728"/>
            <a:ext cx="365760" cy="36576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79443" y="2450592"/>
            <a:ext cx="365760"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4" name="TextBox 13"/>
          <p:cNvSpPr txBox="1"/>
          <p:nvPr/>
        </p:nvSpPr>
        <p:spPr>
          <a:xfrm>
            <a:off x="3779443" y="2907792"/>
            <a:ext cx="1904923" cy="41148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원문에 그 내용이 있나?</a:t>
            </a:r>
          </a:p>
        </p:txBody>
      </p:sp>
      <p:sp>
        <p:nvSpPr>
          <p:cNvPr id="15" name="TextBox 14"/>
          <p:cNvSpPr txBox="1"/>
          <p:nvPr/>
        </p:nvSpPr>
        <p:spPr>
          <a:xfrm>
            <a:off x="3779443" y="3337560"/>
            <a:ext cx="1904923" cy="731520"/>
          </a:xfrm>
          <a:prstGeom prst="rect">
            <a:avLst/>
          </a:prstGeom>
          <a:noFill/>
        </p:spPr>
        <p:txBody>
          <a:bodyPr wrap="square" anchor="t" lIns="0" rIns="0" tIns="0" bIns="0">
            <a:spAutoFit/>
          </a:bodyPr>
          <a:lstStyle/>
          <a:p>
            <a:pPr algn="l">
              <a:lnSpc>
                <a:spcPct val="130000"/>
              </a:lnSpc>
            </a:pPr>
            <a:r>
              <a:rPr sz="1200" b="0">
                <a:solidFill>
                  <a:srgbClr val="3E4C59"/>
                </a:solidFill>
                <a:latin typeface="맑은 고딕"/>
                <a:ea typeface="맑은 고딕"/>
                <a:cs typeface="맑은 고딕"/>
              </a:rPr>
              <a:t>링크는 진짜인데 내용은</a:t>
            </a:r>
          </a:p>
          <a:p>
            <a:pPr algn="l">
              <a:lnSpc>
                <a:spcPct val="130000"/>
              </a:lnSpc>
            </a:pPr>
            <a:r>
              <a:rPr sz="1200" b="0">
                <a:solidFill>
                  <a:srgbClr val="3E4C59"/>
                </a:solidFill>
                <a:latin typeface="맑은 고딕"/>
                <a:ea typeface="맑은 고딕"/>
                <a:cs typeface="맑은 고딕"/>
              </a:rPr>
              <a:t>다르게 요약되기도 합니다.</a:t>
            </a:r>
          </a:p>
        </p:txBody>
      </p:sp>
      <p:sp>
        <p:nvSpPr>
          <p:cNvPr id="16" name="Rounded Rectangle 15"/>
          <p:cNvSpPr/>
          <p:nvPr/>
        </p:nvSpPr>
        <p:spPr>
          <a:xfrm>
            <a:off x="6233007" y="2176272"/>
            <a:ext cx="2453563" cy="19659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507327" y="2395728"/>
            <a:ext cx="365760" cy="36576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7327" y="2450592"/>
            <a:ext cx="365760"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19" name="TextBox 18"/>
          <p:cNvSpPr txBox="1"/>
          <p:nvPr/>
        </p:nvSpPr>
        <p:spPr>
          <a:xfrm>
            <a:off x="6507327" y="2907792"/>
            <a:ext cx="1904923" cy="41148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날짜와 대상이 맞나?</a:t>
            </a:r>
          </a:p>
        </p:txBody>
      </p:sp>
      <p:sp>
        <p:nvSpPr>
          <p:cNvPr id="20" name="TextBox 19"/>
          <p:cNvSpPr txBox="1"/>
          <p:nvPr/>
        </p:nvSpPr>
        <p:spPr>
          <a:xfrm>
            <a:off x="6507327" y="3337560"/>
            <a:ext cx="1904923" cy="731520"/>
          </a:xfrm>
          <a:prstGeom prst="rect">
            <a:avLst/>
          </a:prstGeom>
          <a:noFill/>
        </p:spPr>
        <p:txBody>
          <a:bodyPr wrap="square" anchor="t" lIns="0" rIns="0" tIns="0" bIns="0">
            <a:spAutoFit/>
          </a:bodyPr>
          <a:lstStyle/>
          <a:p>
            <a:pPr algn="l">
              <a:lnSpc>
                <a:spcPct val="130000"/>
              </a:lnSpc>
            </a:pPr>
            <a:r>
              <a:rPr sz="1200" b="0">
                <a:solidFill>
                  <a:srgbClr val="3E4C59"/>
                </a:solidFill>
                <a:latin typeface="맑은 고딕"/>
                <a:ea typeface="맑은 고딕"/>
                <a:cs typeface="맑은 고딕"/>
              </a:rPr>
              <a:t>오래된 자료이거나</a:t>
            </a:r>
          </a:p>
          <a:p>
            <a:pPr algn="l">
              <a:lnSpc>
                <a:spcPct val="130000"/>
              </a:lnSpc>
            </a:pPr>
            <a:r>
              <a:rPr sz="1200" b="0">
                <a:solidFill>
                  <a:srgbClr val="3E4C59"/>
                </a:solidFill>
                <a:latin typeface="맑은 고딕"/>
                <a:ea typeface="맑은 고딕"/>
                <a:cs typeface="맑은 고딕"/>
              </a:rPr>
              <a:t>다른 나라 이야기일 수 있습니다.</a:t>
            </a:r>
          </a:p>
        </p:txBody>
      </p:sp>
      <p:sp>
        <p:nvSpPr>
          <p:cNvPr id="21" name="Rounded Rectangle 20"/>
          <p:cNvSpPr/>
          <p:nvPr/>
        </p:nvSpPr>
        <p:spPr>
          <a:xfrm>
            <a:off x="8960891" y="2176272"/>
            <a:ext cx="2453563" cy="196596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9235211" y="2395728"/>
            <a:ext cx="365760" cy="36576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211" y="2450592"/>
            <a:ext cx="365760"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4</a:t>
            </a:r>
          </a:p>
        </p:txBody>
      </p:sp>
      <p:sp>
        <p:nvSpPr>
          <p:cNvPr id="24" name="TextBox 23"/>
          <p:cNvSpPr txBox="1"/>
          <p:nvPr/>
        </p:nvSpPr>
        <p:spPr>
          <a:xfrm>
            <a:off x="9235211" y="2907792"/>
            <a:ext cx="1904923" cy="411480"/>
          </a:xfrm>
          <a:prstGeom prst="rect">
            <a:avLst/>
          </a:prstGeom>
          <a:noFill/>
        </p:spPr>
        <p:txBody>
          <a:bodyPr wrap="square" anchor="t" lIns="0" rIns="0" tIns="0" bIns="0">
            <a:spAutoFit/>
          </a:bodyPr>
          <a:lstStyle/>
          <a:p>
            <a:pPr algn="l">
              <a:lnSpc>
                <a:spcPct val="115000"/>
              </a:lnSpc>
            </a:pPr>
            <a:r>
              <a:rPr sz="1550" b="1">
                <a:solidFill>
                  <a:srgbClr val="1F2933"/>
                </a:solidFill>
                <a:latin typeface="맑은 고딕"/>
                <a:ea typeface="맑은 고딕"/>
                <a:cs typeface="맑은 고딕"/>
              </a:rPr>
              <a:t>반대로 물어보기</a:t>
            </a:r>
          </a:p>
        </p:txBody>
      </p:sp>
      <p:sp>
        <p:nvSpPr>
          <p:cNvPr id="25" name="TextBox 24"/>
          <p:cNvSpPr txBox="1"/>
          <p:nvPr/>
        </p:nvSpPr>
        <p:spPr>
          <a:xfrm>
            <a:off x="9235211" y="3337560"/>
            <a:ext cx="1904923" cy="731520"/>
          </a:xfrm>
          <a:prstGeom prst="rect">
            <a:avLst/>
          </a:prstGeom>
          <a:noFill/>
        </p:spPr>
        <p:txBody>
          <a:bodyPr wrap="square" anchor="t" lIns="0" rIns="0" tIns="0" bIns="0">
            <a:spAutoFit/>
          </a:bodyPr>
          <a:lstStyle/>
          <a:p>
            <a:pPr algn="l">
              <a:lnSpc>
                <a:spcPct val="130000"/>
              </a:lnSpc>
            </a:pPr>
            <a:r>
              <a:rPr sz="1200" b="0">
                <a:solidFill>
                  <a:srgbClr val="3E4C59"/>
                </a:solidFill>
                <a:latin typeface="맑은 고딕"/>
                <a:ea typeface="맑은 고딕"/>
                <a:cs typeface="맑은 고딕"/>
              </a:rPr>
              <a:t>“틀렸다고 치고</a:t>
            </a:r>
          </a:p>
          <a:p>
            <a:pPr algn="l">
              <a:lnSpc>
                <a:spcPct val="130000"/>
              </a:lnSpc>
            </a:pPr>
            <a:r>
              <a:rPr sz="1200" b="0">
                <a:solidFill>
                  <a:srgbClr val="3E4C59"/>
                </a:solidFill>
                <a:latin typeface="맑은 고딕"/>
                <a:ea typeface="맑은 고딕"/>
                <a:cs typeface="맑은 고딕"/>
              </a:rPr>
              <a:t>반박해 줘”라고</a:t>
            </a:r>
          </a:p>
          <a:p>
            <a:pPr algn="l">
              <a:lnSpc>
                <a:spcPct val="130000"/>
              </a:lnSpc>
            </a:pPr>
            <a:r>
              <a:rPr sz="1200" b="0">
                <a:solidFill>
                  <a:srgbClr val="3E4C59"/>
                </a:solidFill>
                <a:latin typeface="맑은 고딕"/>
                <a:ea typeface="맑은 고딕"/>
                <a:cs typeface="맑은 고딕"/>
              </a:rPr>
              <a:t>시켜 보세요.</a:t>
            </a:r>
          </a:p>
        </p:txBody>
      </p:sp>
      <p:sp>
        <p:nvSpPr>
          <p:cNvPr id="26" name="Rounded Rectangle 25"/>
          <p:cNvSpPr/>
          <p:nvPr/>
        </p:nvSpPr>
        <p:spPr>
          <a:xfrm>
            <a:off x="777240" y="4261104"/>
            <a:ext cx="10637215" cy="914400"/>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77240" y="4425696"/>
            <a:ext cx="10637215" cy="292608"/>
          </a:xfrm>
          <a:prstGeom prst="rect">
            <a:avLst/>
          </a:prstGeom>
          <a:noFill/>
        </p:spPr>
        <p:txBody>
          <a:bodyPr wrap="square" anchor="t" lIns="0" rIns="0" tIns="0" bIns="0">
            <a:spAutoFit/>
          </a:bodyPr>
          <a:lstStyle/>
          <a:p>
            <a:pPr algn="ctr">
              <a:lnSpc>
                <a:spcPct val="115000"/>
              </a:lnSpc>
            </a:pPr>
            <a:r>
              <a:rPr sz="1650" b="1">
                <a:solidFill>
                  <a:srgbClr val="FFFFFF"/>
                </a:solidFill>
                <a:latin typeface="맑은 고딕"/>
                <a:ea typeface="맑은 고딕"/>
                <a:cs typeface="맑은 고딕"/>
              </a:rPr>
              <a:t>아이에게 심어 줄 한 문장 — “AI는 아는 척을 아주 잘한다.”</a:t>
            </a:r>
          </a:p>
        </p:txBody>
      </p:sp>
      <p:sp>
        <p:nvSpPr>
          <p:cNvPr id="28" name="TextBox 27"/>
          <p:cNvSpPr txBox="1"/>
          <p:nvPr/>
        </p:nvSpPr>
        <p:spPr>
          <a:xfrm>
            <a:off x="777240" y="4791456"/>
            <a:ext cx="10637215" cy="274320"/>
          </a:xfrm>
          <a:prstGeom prst="rect">
            <a:avLst/>
          </a:prstGeom>
          <a:noFill/>
        </p:spPr>
        <p:txBody>
          <a:bodyPr wrap="square" anchor="t" lIns="0" rIns="0" tIns="0" bIns="0">
            <a:spAutoFit/>
          </a:bodyPr>
          <a:lstStyle/>
          <a:p>
            <a:pPr algn="ctr">
              <a:lnSpc>
                <a:spcPct val="115000"/>
              </a:lnSpc>
            </a:pPr>
            <a:r>
              <a:rPr sz="1250" b="0">
                <a:solidFill>
                  <a:srgbClr val="FFFFFF"/>
                </a:solidFill>
                <a:latin typeface="맑은 고딕"/>
                <a:ea typeface="맑은 고딕"/>
                <a:cs typeface="맑은 고딕"/>
              </a:rPr>
              <a:t>같은 AI에게 “정말 맞아?”라고 되묻는 것은 검증이 아닙니다. 4번처럼 반박을 시켜 보세요.</a:t>
            </a:r>
          </a:p>
        </p:txBody>
      </p:sp>
      <p:sp>
        <p:nvSpPr>
          <p:cNvPr id="29" name="Rounded Rectangle 28"/>
          <p:cNvSpPr/>
          <p:nvPr/>
        </p:nvSpPr>
        <p:spPr>
          <a:xfrm>
            <a:off x="777240" y="5303520"/>
            <a:ext cx="10637215" cy="9144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143000" y="5468112"/>
            <a:ext cx="9905695" cy="640080"/>
          </a:xfrm>
          <a:prstGeom prst="rect">
            <a:avLst/>
          </a:prstGeom>
          <a:noFill/>
        </p:spPr>
        <p:txBody>
          <a:bodyPr wrap="square" anchor="t" lIns="0" rIns="0" tIns="0" bIns="0">
            <a:spAutoFit/>
          </a:bodyPr>
          <a:lstStyle/>
          <a:p>
            <a:pPr algn="l">
              <a:lnSpc>
                <a:spcPct val="135000"/>
              </a:lnSpc>
              <a:spcAft>
                <a:spcPts val="400"/>
              </a:spcAft>
            </a:pPr>
            <a:r>
              <a:rPr sz="1450" b="0">
                <a:solidFill>
                  <a:srgbClr val="3E4C59"/>
                </a:solidFill>
                <a:latin typeface="맑은 고딕"/>
                <a:ea typeface="맑은 고딕"/>
                <a:cs typeface="맑은 고딕"/>
              </a:rPr>
              <a:t>중·고등학생의 </a:t>
            </a:r>
            <a:r>
              <a:rPr sz="1450" b="1">
                <a:solidFill>
                  <a:srgbClr val="0E7C86"/>
                </a:solidFill>
                <a:latin typeface="맑은 고딕"/>
                <a:ea typeface="맑은 고딕"/>
                <a:cs typeface="맑은 고딕"/>
              </a:rPr>
              <a:t>39%가 AI 답변을 신뢰</a:t>
            </a:r>
            <a:r>
              <a:rPr sz="1450" b="0">
                <a:solidFill>
                  <a:srgbClr val="3E4C59"/>
                </a:solidFill>
                <a:latin typeface="맑은 고딕"/>
                <a:ea typeface="맑은 고딕"/>
                <a:cs typeface="맑은 고딕"/>
              </a:rPr>
              <a:t>한다고 답했지만, </a:t>
            </a:r>
            <a:r>
              <a:rPr sz="1450" b="1">
                <a:solidFill>
                  <a:srgbClr val="0E7C86"/>
                </a:solidFill>
                <a:latin typeface="맑은 고딕"/>
                <a:ea typeface="맑은 고딕"/>
                <a:cs typeface="맑은 고딕"/>
              </a:rPr>
              <a:t>능동적으로 검증한다는 응답은 21.2%</a:t>
            </a:r>
            <a:r>
              <a:rPr sz="1450" b="0">
                <a:solidFill>
                  <a:srgbClr val="3E4C59"/>
                </a:solidFill>
                <a:latin typeface="맑은 고딕"/>
                <a:ea typeface="맑은 고딕"/>
                <a:cs typeface="맑은 고딕"/>
              </a:rPr>
              <a:t>였습니다.</a:t>
            </a:r>
          </a:p>
          <a:p>
            <a:pPr algn="l">
              <a:lnSpc>
                <a:spcPct val="135000"/>
              </a:lnSpc>
              <a:spcAft>
                <a:spcPts val="400"/>
              </a:spcAft>
            </a:pPr>
            <a:r>
              <a:rPr sz="1450" b="0">
                <a:solidFill>
                  <a:srgbClr val="3E4C59"/>
                </a:solidFill>
                <a:latin typeface="맑은 고딕"/>
                <a:ea typeface="맑은 고딕"/>
                <a:cs typeface="맑은 고딕"/>
              </a:rPr>
              <a:t>초등학생은 이 조사의 대상이 아닙니다. 다만 확인하는 습관은 초등 시기에 자리 잡습니다.</a:t>
            </a:r>
          </a:p>
        </p:txBody>
      </p:sp>
      <p:sp>
        <p:nvSpPr>
          <p:cNvPr id="31" name="Rectangle 30"/>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한국청소년정책연구원, 『청소년의 생성형 AI 이용실태 및 리터러시 증진방안 연구』(연구보고 24-기본02) · 중·고등학생 대상 조사</a:t>
            </a:r>
          </a:p>
        </p:txBody>
      </p:sp>
      <p:sp>
        <p:nvSpPr>
          <p:cNvPr id="33" name="TextBox 32"/>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30 / 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활동 · 오류 찾기</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사실 확인 탐정이 되어봅시다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아래는 AI가 내놓은 답변이라고 가정한 예시입니다. 수상한 곳 네 군데를 찾아보세요.</a:t>
            </a:r>
          </a:p>
        </p:txBody>
      </p:sp>
      <p:sp>
        <p:nvSpPr>
          <p:cNvPr id="6" name="Rounded Rectangle 5"/>
          <p:cNvSpPr/>
          <p:nvPr/>
        </p:nvSpPr>
        <p:spPr>
          <a:xfrm>
            <a:off x="777240" y="2194560"/>
            <a:ext cx="6858000" cy="25146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1051560" y="2377440"/>
            <a:ext cx="2651760" cy="310896"/>
          </a:xfrm>
          <a:prstGeom prst="roundRect">
            <a:avLst>
              <a:gd name="adj" fmla="val 3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2432304"/>
            <a:ext cx="2651760" cy="274320"/>
          </a:xfrm>
          <a:prstGeom prst="rect">
            <a:avLst/>
          </a:prstGeom>
          <a:noFill/>
        </p:spPr>
        <p:txBody>
          <a:bodyPr wrap="square" anchor="t" lIns="0" rIns="0" tIns="0" bIns="0">
            <a:spAutoFit/>
          </a:bodyPr>
          <a:lstStyle/>
          <a:p>
            <a:pPr algn="ctr">
              <a:lnSpc>
                <a:spcPct val="115000"/>
              </a:lnSpc>
            </a:pPr>
            <a:r>
              <a:rPr sz="1150" b="1">
                <a:solidFill>
                  <a:srgbClr val="B91C1C"/>
                </a:solidFill>
                <a:latin typeface="맑은 고딕"/>
                <a:ea typeface="맑은 고딕"/>
                <a:cs typeface="맑은 고딕"/>
              </a:rPr>
              <a:t>강사가 만든 가상 예시</a:t>
            </a:r>
          </a:p>
        </p:txBody>
      </p:sp>
      <p:sp>
        <p:nvSpPr>
          <p:cNvPr id="9" name="TextBox 8"/>
          <p:cNvSpPr txBox="1"/>
          <p:nvPr/>
        </p:nvSpPr>
        <p:spPr>
          <a:xfrm>
            <a:off x="1143000" y="2852928"/>
            <a:ext cx="6126480" cy="1737360"/>
          </a:xfrm>
          <a:prstGeom prst="rect">
            <a:avLst/>
          </a:prstGeom>
          <a:noFill/>
        </p:spPr>
        <p:txBody>
          <a:bodyPr wrap="square" anchor="t" lIns="0" rIns="0" tIns="0" bIns="0">
            <a:spAutoFit/>
          </a:bodyPr>
          <a:lstStyle/>
          <a:p>
            <a:pPr algn="l">
              <a:lnSpc>
                <a:spcPct val="150000"/>
              </a:lnSpc>
              <a:spcAft>
                <a:spcPts val="600"/>
              </a:spcAft>
            </a:pPr>
            <a:r>
              <a:rPr sz="1500" b="0">
                <a:solidFill>
                  <a:srgbClr val="1F2933"/>
                </a:solidFill>
                <a:latin typeface="맑은 고딕"/>
                <a:ea typeface="맑은 고딕"/>
                <a:cs typeface="맑은 고딕"/>
              </a:rPr>
              <a:t>우리나라 초등학생의 스마트폰 보유율은 정확히 87.3%입니다.</a:t>
            </a:r>
          </a:p>
          <a:p>
            <a:pPr algn="l">
              <a:lnSpc>
                <a:spcPct val="150000"/>
              </a:lnSpc>
              <a:spcAft>
                <a:spcPts val="600"/>
              </a:spcAft>
            </a:pPr>
            <a:r>
              <a:rPr sz="1500" b="0">
                <a:solidFill>
                  <a:srgbClr val="1F2933"/>
                </a:solidFill>
                <a:latin typeface="맑은 고딕"/>
                <a:ea typeface="맑은 고딕"/>
                <a:cs typeface="맑은 고딕"/>
              </a:rPr>
              <a:t>이는 모든 전문가가 동의하는 수치이며, 앞으로도 계속 늘어날 것이 확실합니다.</a:t>
            </a:r>
          </a:p>
          <a:p>
            <a:pPr algn="l">
              <a:lnSpc>
                <a:spcPct val="150000"/>
              </a:lnSpc>
              <a:spcAft>
                <a:spcPts val="600"/>
              </a:spcAft>
            </a:pPr>
            <a:r>
              <a:rPr sz="1500" b="0">
                <a:solidFill>
                  <a:srgbClr val="1F2933"/>
                </a:solidFill>
                <a:latin typeface="맑은 고딕"/>
                <a:ea typeface="맑은 고딕"/>
                <a:cs typeface="맑은 고딕"/>
              </a:rPr>
              <a:t>(출처: 한국인터넷진흥원 「2024 청소년 스마트폰 백서」)</a:t>
            </a:r>
          </a:p>
        </p:txBody>
      </p:sp>
      <p:sp>
        <p:nvSpPr>
          <p:cNvPr id="10" name="TextBox 9"/>
          <p:cNvSpPr txBox="1"/>
          <p:nvPr/>
        </p:nvSpPr>
        <p:spPr>
          <a:xfrm>
            <a:off x="8001000" y="2194560"/>
            <a:ext cx="3413455" cy="274320"/>
          </a:xfrm>
          <a:prstGeom prst="rect">
            <a:avLst/>
          </a:prstGeom>
          <a:noFill/>
        </p:spPr>
        <p:txBody>
          <a:bodyPr wrap="square" anchor="t" lIns="0" rIns="0" tIns="0" bIns="0">
            <a:spAutoFit/>
          </a:bodyPr>
          <a:lstStyle/>
          <a:p>
            <a:pPr algn="l">
              <a:lnSpc>
                <a:spcPct val="115000"/>
              </a:lnSpc>
            </a:pPr>
            <a:r>
              <a:rPr sz="1300" b="1">
                <a:solidFill>
                  <a:srgbClr val="0E7C86"/>
                </a:solidFill>
                <a:latin typeface="맑은 고딕"/>
                <a:ea typeface="맑은 고딕"/>
                <a:cs typeface="맑은 고딕"/>
              </a:rPr>
              <a:t>찾아야 할 네 가지</a:t>
            </a:r>
          </a:p>
        </p:txBody>
      </p:sp>
      <p:sp>
        <p:nvSpPr>
          <p:cNvPr id="11" name="Oval 10"/>
          <p:cNvSpPr/>
          <p:nvPr/>
        </p:nvSpPr>
        <p:spPr>
          <a:xfrm>
            <a:off x="8001000" y="2578608"/>
            <a:ext cx="292608" cy="29260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59689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1</a:t>
            </a:r>
          </a:p>
        </p:txBody>
      </p:sp>
      <p:sp>
        <p:nvSpPr>
          <p:cNvPr id="13" name="TextBox 12"/>
          <p:cNvSpPr txBox="1"/>
          <p:nvPr/>
        </p:nvSpPr>
        <p:spPr>
          <a:xfrm>
            <a:off x="8421624" y="2596896"/>
            <a:ext cx="2992831" cy="457200"/>
          </a:xfrm>
          <a:prstGeom prst="rect">
            <a:avLst/>
          </a:prstGeom>
          <a:noFill/>
        </p:spPr>
        <p:txBody>
          <a:bodyPr wrap="square" anchor="t" lIns="0" rIns="0" tIns="0" bIns="0">
            <a:spAutoFit/>
          </a:bodyPr>
          <a:lstStyle/>
          <a:p>
            <a:pPr algn="l">
              <a:lnSpc>
                <a:spcPct val="125000"/>
              </a:lnSpc>
            </a:pPr>
            <a:r>
              <a:rPr sz="1300" b="0">
                <a:solidFill>
                  <a:srgbClr val="3E4C59"/>
                </a:solidFill>
                <a:latin typeface="맑은 고딕"/>
                <a:ea typeface="맑은 고딕"/>
                <a:cs typeface="맑은 고딕"/>
              </a:rPr>
              <a:t>‘정확히 87.3%’ — 지나치게 구체적인 수치</a:t>
            </a:r>
          </a:p>
        </p:txBody>
      </p:sp>
      <p:sp>
        <p:nvSpPr>
          <p:cNvPr id="14" name="Oval 13"/>
          <p:cNvSpPr/>
          <p:nvPr/>
        </p:nvSpPr>
        <p:spPr>
          <a:xfrm>
            <a:off x="8001000" y="3127248"/>
            <a:ext cx="292608" cy="29260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14553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2</a:t>
            </a:r>
          </a:p>
        </p:txBody>
      </p:sp>
      <p:sp>
        <p:nvSpPr>
          <p:cNvPr id="16" name="TextBox 15"/>
          <p:cNvSpPr txBox="1"/>
          <p:nvPr/>
        </p:nvSpPr>
        <p:spPr>
          <a:xfrm>
            <a:off x="8421624" y="3145536"/>
            <a:ext cx="2992831" cy="457200"/>
          </a:xfrm>
          <a:prstGeom prst="rect">
            <a:avLst/>
          </a:prstGeom>
          <a:noFill/>
        </p:spPr>
        <p:txBody>
          <a:bodyPr wrap="square" anchor="t" lIns="0" rIns="0" tIns="0" bIns="0">
            <a:spAutoFit/>
          </a:bodyPr>
          <a:lstStyle/>
          <a:p>
            <a:pPr algn="l">
              <a:lnSpc>
                <a:spcPct val="125000"/>
              </a:lnSpc>
            </a:pPr>
            <a:r>
              <a:rPr sz="1300" b="0">
                <a:solidFill>
                  <a:srgbClr val="3E4C59"/>
                </a:solidFill>
                <a:latin typeface="맑은 고딕"/>
                <a:ea typeface="맑은 고딕"/>
                <a:cs typeface="맑은 고딕"/>
              </a:rPr>
              <a:t>‘모든 전문가가 동의’ — 단정 표현</a:t>
            </a:r>
          </a:p>
        </p:txBody>
      </p:sp>
      <p:sp>
        <p:nvSpPr>
          <p:cNvPr id="17" name="Oval 16"/>
          <p:cNvSpPr/>
          <p:nvPr/>
        </p:nvSpPr>
        <p:spPr>
          <a:xfrm>
            <a:off x="8001000" y="3675888"/>
            <a:ext cx="292608" cy="29260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369417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3</a:t>
            </a:r>
          </a:p>
        </p:txBody>
      </p:sp>
      <p:sp>
        <p:nvSpPr>
          <p:cNvPr id="19" name="TextBox 18"/>
          <p:cNvSpPr txBox="1"/>
          <p:nvPr/>
        </p:nvSpPr>
        <p:spPr>
          <a:xfrm>
            <a:off x="8421624" y="3694176"/>
            <a:ext cx="2992831" cy="457200"/>
          </a:xfrm>
          <a:prstGeom prst="rect">
            <a:avLst/>
          </a:prstGeom>
          <a:noFill/>
        </p:spPr>
        <p:txBody>
          <a:bodyPr wrap="square" anchor="t" lIns="0" rIns="0" tIns="0" bIns="0">
            <a:spAutoFit/>
          </a:bodyPr>
          <a:lstStyle/>
          <a:p>
            <a:pPr algn="l">
              <a:lnSpc>
                <a:spcPct val="125000"/>
              </a:lnSpc>
            </a:pPr>
            <a:r>
              <a:rPr sz="1300" b="0">
                <a:solidFill>
                  <a:srgbClr val="3E4C59"/>
                </a:solidFill>
                <a:latin typeface="맑은 고딕"/>
                <a:ea typeface="맑은 고딕"/>
                <a:cs typeface="맑은 고딕"/>
              </a:rPr>
              <a:t>‘계속 늘어날 것이 확실’ — 예측을 사실처럼</a:t>
            </a:r>
          </a:p>
        </p:txBody>
      </p:sp>
      <p:sp>
        <p:nvSpPr>
          <p:cNvPr id="20" name="Oval 19"/>
          <p:cNvSpPr/>
          <p:nvPr/>
        </p:nvSpPr>
        <p:spPr>
          <a:xfrm>
            <a:off x="8001000" y="4224528"/>
            <a:ext cx="292608" cy="29260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424281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4</a:t>
            </a:r>
          </a:p>
        </p:txBody>
      </p:sp>
      <p:sp>
        <p:nvSpPr>
          <p:cNvPr id="22" name="TextBox 21"/>
          <p:cNvSpPr txBox="1"/>
          <p:nvPr/>
        </p:nvSpPr>
        <p:spPr>
          <a:xfrm>
            <a:off x="8421624" y="4242816"/>
            <a:ext cx="2992831" cy="457200"/>
          </a:xfrm>
          <a:prstGeom prst="rect">
            <a:avLst/>
          </a:prstGeom>
          <a:noFill/>
        </p:spPr>
        <p:txBody>
          <a:bodyPr wrap="square" anchor="t" lIns="0" rIns="0" tIns="0" bIns="0">
            <a:spAutoFit/>
          </a:bodyPr>
          <a:lstStyle/>
          <a:p>
            <a:pPr algn="l">
              <a:lnSpc>
                <a:spcPct val="125000"/>
              </a:lnSpc>
            </a:pPr>
            <a:r>
              <a:rPr sz="1300" b="0">
                <a:solidFill>
                  <a:srgbClr val="3E4C59"/>
                </a:solidFill>
                <a:latin typeface="맑은 고딕"/>
                <a:ea typeface="맑은 고딕"/>
                <a:cs typeface="맑은 고딕"/>
              </a:rPr>
              <a:t>보고서 이름 — 실제로 있는지 확인 필요</a:t>
            </a:r>
          </a:p>
        </p:txBody>
      </p:sp>
      <p:sp>
        <p:nvSpPr>
          <p:cNvPr id="23" name="Rounded Rectangle 22"/>
          <p:cNvSpPr/>
          <p:nvPr/>
        </p:nvSpPr>
        <p:spPr>
          <a:xfrm>
            <a:off x="777240" y="4892040"/>
            <a:ext cx="10637215" cy="105156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5084064"/>
            <a:ext cx="9905695" cy="640080"/>
          </a:xfrm>
          <a:prstGeom prst="rect">
            <a:avLst/>
          </a:prstGeom>
          <a:noFill/>
        </p:spPr>
        <p:txBody>
          <a:bodyPr wrap="square" anchor="t" lIns="0" rIns="0" tIns="0" bIns="0">
            <a:spAutoFit/>
          </a:bodyPr>
          <a:lstStyle/>
          <a:p>
            <a:pPr algn="l">
              <a:lnSpc>
                <a:spcPct val="135000"/>
              </a:lnSpc>
              <a:spcAft>
                <a:spcPts val="400"/>
              </a:spcAft>
            </a:pPr>
            <a:r>
              <a:rPr sz="1450" b="0">
                <a:solidFill>
                  <a:srgbClr val="3E4C59"/>
                </a:solidFill>
                <a:latin typeface="맑은 고딕"/>
                <a:ea typeface="맑은 고딕"/>
                <a:cs typeface="맑은 고딕"/>
              </a:rPr>
              <a:t>집에서 쓰는 한 문장: </a:t>
            </a:r>
            <a:r>
              <a:rPr sz="1450" b="1">
                <a:solidFill>
                  <a:srgbClr val="0E7C86"/>
                </a:solidFill>
                <a:latin typeface="맑은 고딕"/>
                <a:ea typeface="맑은 고딕"/>
                <a:cs typeface="맑은 고딕"/>
              </a:rPr>
              <a:t>“이거 어디서 나온 이야기야? 같이 찾아보자.”</a:t>
            </a:r>
          </a:p>
          <a:p>
            <a:pPr algn="l">
              <a:lnSpc>
                <a:spcPct val="135000"/>
              </a:lnSpc>
              <a:spcAft>
                <a:spcPts val="400"/>
              </a:spcAft>
            </a:pPr>
            <a:r>
              <a:rPr sz="1450" b="0">
                <a:solidFill>
                  <a:srgbClr val="3E4C59"/>
                </a:solidFill>
                <a:latin typeface="맑은 고딕"/>
                <a:ea typeface="맑은 고딕"/>
                <a:cs typeface="맑은 고딕"/>
              </a:rPr>
              <a:t>추궁하는 말투가 되지 않게, 같이 해보자는 쪽으로 건네 주세요.</a:t>
            </a:r>
          </a:p>
        </p:txBody>
      </p:sp>
      <p:sp>
        <p:nvSpPr>
          <p:cNvPr id="25" name="Rectangle 24"/>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a:solidFill>
                  <a:srgbClr val="7B8894"/>
                </a:solidFill>
                <a:latin typeface="맑은 고딕"/>
                <a:ea typeface="맑은 고딕"/>
                <a:cs typeface="맑은 고딕"/>
              </a:rPr>
              <a:t>이 답변은 활동을 위해 강사가 만든 가상 예시입니다. 실제 조사 결과가 아닙니다.</a:t>
            </a:r>
          </a:p>
        </p:txBody>
      </p:sp>
      <p:sp>
        <p:nvSpPr>
          <p:cNvPr id="27" name="TextBox 26"/>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31 / 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개인정보 보호</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질문하기 전에 가릴 것</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한 번 입력한 내용은 되돌리기 어렵습니다.</a:t>
            </a:r>
          </a:p>
        </p:txBody>
      </p:sp>
      <p:sp>
        <p:nvSpPr>
          <p:cNvPr id="6" name="Rounded Rectangle 5"/>
          <p:cNvSpPr/>
          <p:nvPr/>
        </p:nvSpPr>
        <p:spPr>
          <a:xfrm>
            <a:off x="777240" y="217627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51560" y="239572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90472" y="237744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이름</a:t>
            </a:r>
          </a:p>
        </p:txBody>
      </p:sp>
      <p:sp>
        <p:nvSpPr>
          <p:cNvPr id="9" name="Rounded Rectangle 8"/>
          <p:cNvSpPr/>
          <p:nvPr/>
        </p:nvSpPr>
        <p:spPr>
          <a:xfrm>
            <a:off x="4414418" y="217627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688738" y="239572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7650" y="237744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학교·학년·반</a:t>
            </a:r>
          </a:p>
        </p:txBody>
      </p:sp>
      <p:sp>
        <p:nvSpPr>
          <p:cNvPr id="12" name="Rounded Rectangle 11"/>
          <p:cNvSpPr/>
          <p:nvPr/>
        </p:nvSpPr>
        <p:spPr>
          <a:xfrm>
            <a:off x="8051596" y="217627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8325916" y="239572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4828" y="237744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연락처</a:t>
            </a:r>
          </a:p>
        </p:txBody>
      </p:sp>
      <p:sp>
        <p:nvSpPr>
          <p:cNvPr id="15" name="Rounded Rectangle 14"/>
          <p:cNvSpPr/>
          <p:nvPr/>
        </p:nvSpPr>
        <p:spPr>
          <a:xfrm>
            <a:off x="777240" y="304495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051560" y="326440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90472" y="324612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집 주소·위치</a:t>
            </a:r>
          </a:p>
        </p:txBody>
      </p:sp>
      <p:sp>
        <p:nvSpPr>
          <p:cNvPr id="18" name="Rounded Rectangle 17"/>
          <p:cNvSpPr/>
          <p:nvPr/>
        </p:nvSpPr>
        <p:spPr>
          <a:xfrm>
            <a:off x="4414418" y="304495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688738" y="326440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7650" y="324612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얼굴 사진</a:t>
            </a:r>
          </a:p>
        </p:txBody>
      </p:sp>
      <p:sp>
        <p:nvSpPr>
          <p:cNvPr id="21" name="Rounded Rectangle 20"/>
          <p:cNvSpPr/>
          <p:nvPr/>
        </p:nvSpPr>
        <p:spPr>
          <a:xfrm>
            <a:off x="8051596" y="3044952"/>
            <a:ext cx="3362858" cy="713232"/>
          </a:xfrm>
          <a:prstGeom prst="roundRect">
            <a:avLst>
              <a:gd name="adj" fmla="val 12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325916" y="3264408"/>
            <a:ext cx="274320" cy="274320"/>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64828" y="3246120"/>
            <a:ext cx="2448458" cy="32004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친구·가족 정보</a:t>
            </a:r>
          </a:p>
        </p:txBody>
      </p:sp>
      <p:sp>
        <p:nvSpPr>
          <p:cNvPr id="24" name="Rounded Rectangle 23"/>
          <p:cNvSpPr/>
          <p:nvPr/>
        </p:nvSpPr>
        <p:spPr>
          <a:xfrm>
            <a:off x="777240" y="4023360"/>
            <a:ext cx="10637215" cy="9601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43000" y="4206240"/>
            <a:ext cx="4572000" cy="274320"/>
          </a:xfrm>
          <a:prstGeom prst="rect">
            <a:avLst/>
          </a:prstGeom>
          <a:noFill/>
        </p:spPr>
        <p:txBody>
          <a:bodyPr wrap="square" anchor="t" lIns="0" rIns="0" tIns="0" bIns="0">
            <a:spAutoFit/>
          </a:bodyPr>
          <a:lstStyle/>
          <a:p>
            <a:pPr algn="l">
              <a:lnSpc>
                <a:spcPct val="115000"/>
              </a:lnSpc>
            </a:pPr>
            <a:r>
              <a:rPr sz="1300" b="1">
                <a:solidFill>
                  <a:srgbClr val="0E7C86"/>
                </a:solidFill>
                <a:latin typeface="맑은 고딕"/>
                <a:ea typeface="맑은 고딕"/>
                <a:cs typeface="맑은 고딕"/>
              </a:rPr>
              <a:t>이렇게 바꿔서 물어봅니다</a:t>
            </a:r>
          </a:p>
        </p:txBody>
      </p:sp>
      <p:sp>
        <p:nvSpPr>
          <p:cNvPr id="26" name="TextBox 25"/>
          <p:cNvSpPr txBox="1"/>
          <p:nvPr/>
        </p:nvSpPr>
        <p:spPr>
          <a:xfrm>
            <a:off x="1143000" y="4553712"/>
            <a:ext cx="9905695" cy="365760"/>
          </a:xfrm>
          <a:prstGeom prst="rect">
            <a:avLst/>
          </a:prstGeom>
          <a:noFill/>
        </p:spPr>
        <p:txBody>
          <a:bodyPr wrap="square" anchor="t" lIns="0" rIns="0" tIns="0" bIns="0">
            <a:spAutoFit/>
          </a:bodyPr>
          <a:lstStyle/>
          <a:p>
            <a:pPr algn="l">
              <a:lnSpc>
                <a:spcPct val="115000"/>
              </a:lnSpc>
            </a:pPr>
            <a:r>
              <a:rPr sz="1550" b="0">
                <a:solidFill>
                  <a:srgbClr val="7B8894"/>
                </a:solidFill>
                <a:latin typeface="맑은 고딕"/>
                <a:ea typeface="맑은 고딕"/>
                <a:cs typeface="맑은 고딕"/>
              </a:rPr>
              <a:t>“김○○이 서울○○초 4학년인데…” </a:t>
            </a:r>
            <a:r>
              <a:rPr sz="1550" b="1">
                <a:solidFill>
                  <a:srgbClr val="1D4ED8"/>
                </a:solidFill>
                <a:latin typeface="맑은 고딕"/>
                <a:ea typeface="맑은 고딕"/>
                <a:cs typeface="맑은 고딕"/>
              </a:rPr>
              <a:t>→  </a:t>
            </a:r>
            <a:r>
              <a:rPr sz="1550" b="1">
                <a:solidFill>
                  <a:srgbClr val="1F2933"/>
                </a:solidFill>
                <a:latin typeface="맑은 고딕"/>
                <a:ea typeface="맑은 고딕"/>
                <a:cs typeface="맑은 고딕"/>
              </a:rPr>
              <a:t>“초등학교 4학년 학생인데…”</a:t>
            </a:r>
          </a:p>
        </p:txBody>
      </p:sp>
      <p:sp>
        <p:nvSpPr>
          <p:cNvPr id="27" name="Rounded Rectangle 26"/>
          <p:cNvSpPr/>
          <p:nvPr/>
        </p:nvSpPr>
        <p:spPr>
          <a:xfrm>
            <a:off x="777240" y="5120640"/>
            <a:ext cx="10637215" cy="109728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143000" y="5303520"/>
            <a:ext cx="9905695" cy="82296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학교 평가 지침에도 개인정보 보호가 따로 들어가 있습니다.</a:t>
            </a:r>
          </a:p>
          <a:p>
            <a:pPr algn="l">
              <a:lnSpc>
                <a:spcPct val="135000"/>
              </a:lnSpc>
              <a:spcAft>
                <a:spcPts val="400"/>
              </a:spcAft>
            </a:pPr>
            <a:r>
              <a:rPr sz="1450" b="0">
                <a:solidFill>
                  <a:srgbClr val="3E4C59"/>
                </a:solidFill>
                <a:latin typeface="맑은 고딕"/>
                <a:ea typeface="맑은 고딕"/>
                <a:cs typeface="맑은 고딕"/>
              </a:rPr>
              <a:t>과제에 AI를 쓸 때 무엇을 입력했는지까지 보도록 되어 있습니다. 집에서도 같은 기준이면 아이가 헷갈리지 않습니다.</a:t>
            </a:r>
          </a:p>
        </p:txBody>
      </p:sp>
      <p:sp>
        <p:nvSpPr>
          <p:cNvPr id="29" name="Rectangle 28"/>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교육부·17개 시도교육청, 「수행평가 시 인공지능(AI) 활용 관리 방안」</a:t>
            </a:r>
          </a:p>
        </p:txBody>
      </p:sp>
      <p:sp>
        <p:nvSpPr>
          <p:cNvPr id="31" name="TextBox 30"/>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32 / 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AI가 푸는 문제</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의사가 부족한 곳에서, AI가 눈을 대신 봅니다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태국의 당뇨망막병증 검진 사례입니다. 제때 발견하면 실명을 막을 수 있는 병입니다.</a:t>
            </a:r>
          </a:p>
        </p:txBody>
      </p:sp>
      <p:sp>
        <p:nvSpPr>
          <p:cNvPr id="6" name="Rounded Rectangle 5"/>
          <p:cNvSpPr/>
          <p:nvPr/>
        </p:nvSpPr>
        <p:spPr>
          <a:xfrm>
            <a:off x="777240" y="2194560"/>
            <a:ext cx="4678527" cy="14173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423160"/>
            <a:ext cx="4038447" cy="548640"/>
          </a:xfrm>
          <a:prstGeom prst="rect">
            <a:avLst/>
          </a:prstGeom>
          <a:noFill/>
        </p:spPr>
        <p:txBody>
          <a:bodyPr wrap="square" anchor="t" lIns="0" rIns="0" tIns="0" bIns="0">
            <a:spAutoFit/>
          </a:bodyPr>
          <a:lstStyle/>
          <a:p>
            <a:pPr algn="l">
              <a:lnSpc>
                <a:spcPct val="115000"/>
              </a:lnSpc>
            </a:pPr>
            <a:r>
              <a:rPr sz="3000" b="1">
                <a:solidFill>
                  <a:srgbClr val="1F2933"/>
                </a:solidFill>
                <a:latin typeface="맑은 고딕"/>
                <a:ea typeface="맑은 고딕"/>
                <a:cs typeface="맑은 고딕"/>
              </a:rPr>
              <a:t>약 500만 명</a:t>
            </a:r>
          </a:p>
        </p:txBody>
      </p:sp>
      <p:sp>
        <p:nvSpPr>
          <p:cNvPr id="8" name="TextBox 7"/>
          <p:cNvSpPr txBox="1"/>
          <p:nvPr/>
        </p:nvSpPr>
        <p:spPr>
          <a:xfrm>
            <a:off x="1097280" y="3063240"/>
            <a:ext cx="4038447" cy="320040"/>
          </a:xfrm>
          <a:prstGeom prst="rect">
            <a:avLst/>
          </a:prstGeom>
          <a:noFill/>
        </p:spPr>
        <p:txBody>
          <a:bodyPr wrap="square" anchor="t" lIns="0" rIns="0" tIns="0" bIns="0">
            <a:spAutoFit/>
          </a:bodyPr>
          <a:lstStyle/>
          <a:p>
            <a:pPr algn="l">
              <a:lnSpc>
                <a:spcPct val="115000"/>
              </a:lnSpc>
            </a:pPr>
            <a:r>
              <a:rPr sz="1400" b="0">
                <a:solidFill>
                  <a:srgbClr val="3E4C59"/>
                </a:solidFill>
                <a:latin typeface="맑은 고딕"/>
                <a:ea typeface="맑은 고딕"/>
                <a:cs typeface="맑은 고딕"/>
              </a:rPr>
              <a:t>검진이 필요한 당뇨병 환자</a:t>
            </a:r>
          </a:p>
        </p:txBody>
      </p:sp>
      <p:sp>
        <p:nvSpPr>
          <p:cNvPr id="9" name="TextBox 8"/>
          <p:cNvSpPr txBox="1"/>
          <p:nvPr/>
        </p:nvSpPr>
        <p:spPr>
          <a:xfrm>
            <a:off x="5684367" y="2670048"/>
            <a:ext cx="822960" cy="365760"/>
          </a:xfrm>
          <a:prstGeom prst="rect">
            <a:avLst/>
          </a:prstGeom>
          <a:noFill/>
        </p:spPr>
        <p:txBody>
          <a:bodyPr wrap="square" anchor="t" lIns="0" rIns="0" tIns="0" bIns="0">
            <a:spAutoFit/>
          </a:bodyPr>
          <a:lstStyle/>
          <a:p>
            <a:pPr algn="ctr">
              <a:lnSpc>
                <a:spcPct val="115000"/>
              </a:lnSpc>
            </a:pPr>
            <a:r>
              <a:rPr sz="1900" b="1">
                <a:solidFill>
                  <a:srgbClr val="7B8894"/>
                </a:solidFill>
                <a:latin typeface="맑은 고딕"/>
                <a:ea typeface="맑은 고딕"/>
                <a:cs typeface="맑은 고딕"/>
              </a:rPr>
              <a:t>vs</a:t>
            </a:r>
          </a:p>
        </p:txBody>
      </p:sp>
      <p:sp>
        <p:nvSpPr>
          <p:cNvPr id="10" name="Rounded Rectangle 9"/>
          <p:cNvSpPr/>
          <p:nvPr/>
        </p:nvSpPr>
        <p:spPr>
          <a:xfrm>
            <a:off x="6735927" y="2194560"/>
            <a:ext cx="4678527" cy="1417320"/>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055967" y="2423160"/>
            <a:ext cx="4038447" cy="548640"/>
          </a:xfrm>
          <a:prstGeom prst="rect">
            <a:avLst/>
          </a:prstGeom>
          <a:noFill/>
        </p:spPr>
        <p:txBody>
          <a:bodyPr wrap="square" anchor="t" lIns="0" rIns="0" tIns="0" bIns="0">
            <a:spAutoFit/>
          </a:bodyPr>
          <a:lstStyle/>
          <a:p>
            <a:pPr algn="l">
              <a:lnSpc>
                <a:spcPct val="115000"/>
              </a:lnSpc>
            </a:pPr>
            <a:r>
              <a:rPr sz="3000" b="1">
                <a:solidFill>
                  <a:srgbClr val="B91C1C"/>
                </a:solidFill>
                <a:latin typeface="맑은 고딕"/>
                <a:ea typeface="맑은 고딕"/>
                <a:cs typeface="맑은 고딕"/>
              </a:rPr>
              <a:t>약 1,400명</a:t>
            </a:r>
          </a:p>
        </p:txBody>
      </p:sp>
      <p:sp>
        <p:nvSpPr>
          <p:cNvPr id="12" name="TextBox 11"/>
          <p:cNvSpPr txBox="1"/>
          <p:nvPr/>
        </p:nvSpPr>
        <p:spPr>
          <a:xfrm>
            <a:off x="7055967" y="3063240"/>
            <a:ext cx="4038447" cy="320040"/>
          </a:xfrm>
          <a:prstGeom prst="rect">
            <a:avLst/>
          </a:prstGeom>
          <a:noFill/>
        </p:spPr>
        <p:txBody>
          <a:bodyPr wrap="square" anchor="t" lIns="0" rIns="0" tIns="0" bIns="0">
            <a:spAutoFit/>
          </a:bodyPr>
          <a:lstStyle/>
          <a:p>
            <a:pPr algn="l">
              <a:lnSpc>
                <a:spcPct val="115000"/>
              </a:lnSpc>
            </a:pPr>
            <a:r>
              <a:rPr sz="1400" b="0">
                <a:solidFill>
                  <a:srgbClr val="3E4C59"/>
                </a:solidFill>
                <a:latin typeface="맑은 고딕"/>
                <a:ea typeface="맑은 고딕"/>
                <a:cs typeface="맑은 고딕"/>
              </a:rPr>
              <a:t>태국 전체의 안과 전문의</a:t>
            </a:r>
          </a:p>
        </p:txBody>
      </p:sp>
      <p:sp>
        <p:nvSpPr>
          <p:cNvPr id="13" name="Rounded Rectangle 12"/>
          <p:cNvSpPr/>
          <p:nvPr/>
        </p:nvSpPr>
        <p:spPr>
          <a:xfrm>
            <a:off x="777240" y="3840480"/>
            <a:ext cx="3291840" cy="13258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1051560" y="4041648"/>
            <a:ext cx="347472" cy="3474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087368"/>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1</a:t>
            </a:r>
          </a:p>
        </p:txBody>
      </p:sp>
      <p:sp>
        <p:nvSpPr>
          <p:cNvPr id="16" name="TextBox 15"/>
          <p:cNvSpPr txBox="1"/>
          <p:nvPr/>
        </p:nvSpPr>
        <p:spPr>
          <a:xfrm>
            <a:off x="1527048" y="4059935"/>
            <a:ext cx="2286000" cy="27432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눈 사진을 찍습니다</a:t>
            </a:r>
          </a:p>
        </p:txBody>
      </p:sp>
      <p:sp>
        <p:nvSpPr>
          <p:cNvPr id="17" name="TextBox 16"/>
          <p:cNvSpPr txBox="1"/>
          <p:nvPr/>
        </p:nvSpPr>
        <p:spPr>
          <a:xfrm>
            <a:off x="1051560" y="4462272"/>
            <a:ext cx="2743200"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동네 병원에서</a:t>
            </a:r>
          </a:p>
          <a:p>
            <a:pPr algn="l">
              <a:lnSpc>
                <a:spcPct val="130000"/>
              </a:lnSpc>
            </a:pPr>
            <a:r>
              <a:rPr sz="1250" b="0">
                <a:solidFill>
                  <a:srgbClr val="3E4C59"/>
                </a:solidFill>
                <a:latin typeface="맑은 고딕"/>
                <a:ea typeface="맑은 고딕"/>
                <a:cs typeface="맑은 고딕"/>
              </a:rPr>
              <a:t>안저 사진 한 장</a:t>
            </a:r>
          </a:p>
        </p:txBody>
      </p:sp>
      <p:sp>
        <p:nvSpPr>
          <p:cNvPr id="18" name="Rounded Rectangle 17"/>
          <p:cNvSpPr/>
          <p:nvPr/>
        </p:nvSpPr>
        <p:spPr>
          <a:xfrm>
            <a:off x="4453128" y="3840480"/>
            <a:ext cx="3291840" cy="13258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727448" y="4041648"/>
            <a:ext cx="347472" cy="3474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27448" y="4087368"/>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2</a:t>
            </a:r>
          </a:p>
        </p:txBody>
      </p:sp>
      <p:sp>
        <p:nvSpPr>
          <p:cNvPr id="21" name="TextBox 20"/>
          <p:cNvSpPr txBox="1"/>
          <p:nvPr/>
        </p:nvSpPr>
        <p:spPr>
          <a:xfrm>
            <a:off x="5202936" y="4059935"/>
            <a:ext cx="2286000" cy="27432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AI가 분석합니다</a:t>
            </a:r>
          </a:p>
        </p:txBody>
      </p:sp>
      <p:sp>
        <p:nvSpPr>
          <p:cNvPr id="22" name="TextBox 21"/>
          <p:cNvSpPr txBox="1"/>
          <p:nvPr/>
        </p:nvSpPr>
        <p:spPr>
          <a:xfrm>
            <a:off x="4727448" y="4462272"/>
            <a:ext cx="2743200"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90% 이상의 정확도로</a:t>
            </a:r>
          </a:p>
          <a:p>
            <a:pPr algn="l">
              <a:lnSpc>
                <a:spcPct val="130000"/>
              </a:lnSpc>
            </a:pPr>
            <a:r>
              <a:rPr sz="1250" b="0">
                <a:solidFill>
                  <a:srgbClr val="3E4C59"/>
                </a:solidFill>
                <a:latin typeface="맑은 고딕"/>
                <a:ea typeface="맑은 고딕"/>
                <a:cs typeface="맑은 고딕"/>
              </a:rPr>
              <a:t>위험을 가려냅니다</a:t>
            </a:r>
          </a:p>
        </p:txBody>
      </p:sp>
      <p:sp>
        <p:nvSpPr>
          <p:cNvPr id="23" name="Rounded Rectangle 22"/>
          <p:cNvSpPr/>
          <p:nvPr/>
        </p:nvSpPr>
        <p:spPr>
          <a:xfrm>
            <a:off x="8129016" y="3840480"/>
            <a:ext cx="3291840" cy="13258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403336" y="4041648"/>
            <a:ext cx="347472" cy="347472"/>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03336" y="4087368"/>
            <a:ext cx="347472"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3</a:t>
            </a:r>
          </a:p>
        </p:txBody>
      </p:sp>
      <p:sp>
        <p:nvSpPr>
          <p:cNvPr id="26" name="TextBox 25"/>
          <p:cNvSpPr txBox="1"/>
          <p:nvPr/>
        </p:nvSpPr>
        <p:spPr>
          <a:xfrm>
            <a:off x="8878824" y="4059935"/>
            <a:ext cx="2286000" cy="27432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바로 안내받습니다</a:t>
            </a:r>
          </a:p>
        </p:txBody>
      </p:sp>
      <p:sp>
        <p:nvSpPr>
          <p:cNvPr id="27" name="TextBox 26"/>
          <p:cNvSpPr txBox="1"/>
          <p:nvPr/>
        </p:nvSpPr>
        <p:spPr>
          <a:xfrm>
            <a:off x="8403336" y="4462272"/>
            <a:ext cx="2743200"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몇 주를 기다리지 않고</a:t>
            </a:r>
          </a:p>
          <a:p>
            <a:pPr algn="l">
              <a:lnSpc>
                <a:spcPct val="130000"/>
              </a:lnSpc>
            </a:pPr>
            <a:r>
              <a:rPr sz="1250" b="0">
                <a:solidFill>
                  <a:srgbClr val="3E4C59"/>
                </a:solidFill>
                <a:latin typeface="맑은 고딕"/>
                <a:ea typeface="맑은 고딕"/>
                <a:cs typeface="맑은 고딕"/>
              </a:rPr>
              <a:t>치료로 이어집니다</a:t>
            </a:r>
          </a:p>
        </p:txBody>
      </p:sp>
      <p:sp>
        <p:nvSpPr>
          <p:cNvPr id="28" name="Rounded Rectangle 27"/>
          <p:cNvSpPr/>
          <p:nvPr/>
        </p:nvSpPr>
        <p:spPr>
          <a:xfrm>
            <a:off x="777240" y="5394960"/>
            <a:ext cx="10637215" cy="86868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143000" y="5577840"/>
            <a:ext cx="9905695" cy="548640"/>
          </a:xfrm>
          <a:prstGeom prst="rect">
            <a:avLst/>
          </a:prstGeom>
          <a:noFill/>
        </p:spPr>
        <p:txBody>
          <a:bodyPr wrap="square" anchor="t" lIns="0" rIns="0" tIns="0" bIns="0">
            <a:spAutoFit/>
          </a:bodyPr>
          <a:lstStyle/>
          <a:p>
            <a:pPr algn="l">
              <a:lnSpc>
                <a:spcPct val="115000"/>
              </a:lnSpc>
            </a:pPr>
            <a:r>
              <a:rPr sz="1500" b="0">
                <a:solidFill>
                  <a:srgbClr val="3E4C59"/>
                </a:solidFill>
                <a:latin typeface="맑은 고딕"/>
                <a:ea typeface="맑은 고딕"/>
                <a:cs typeface="맑은 고딕"/>
              </a:rPr>
              <a:t>기술이 앞선 나라만의 이야기가 아닙니다. </a:t>
            </a:r>
            <a:r>
              <a:rPr sz="1500" b="1">
                <a:solidFill>
                  <a:srgbClr val="0E7C86"/>
                </a:solidFill>
                <a:latin typeface="맑은 고딕"/>
                <a:ea typeface="맑은 고딕"/>
                <a:cs typeface="맑은 고딕"/>
              </a:rPr>
              <a:t>의사를 만나기 어려운 사람에게 먼저 닿았습니다.</a:t>
            </a:r>
          </a:p>
        </p:txBody>
      </p:sp>
      <p:sp>
        <p:nvSpPr>
          <p:cNvPr id="30" name="Rectangle 2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구글·태국 라자위티(Rajavithi)병원 당뇨망막병증 AI 검진 프로젝트</a:t>
            </a:r>
          </a:p>
        </p:txBody>
      </p:sp>
      <p:sp>
        <p:nvSpPr>
          <p:cNvPr id="32" name="TextBox 31"/>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33 /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AI가 푸는 문제</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‘AI for Good’ — 누구를 위해 쓸 것인가</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2017년 국제전기통신연합(ITU)이 시작한 유엔의 플랫폼입니다. 150개국 넘게 참여합니다.</a:t>
            </a:r>
          </a:p>
        </p:txBody>
      </p:sp>
      <p:sp>
        <p:nvSpPr>
          <p:cNvPr id="6" name="Rounded Rectangle 5"/>
          <p:cNvSpPr/>
          <p:nvPr/>
        </p:nvSpPr>
        <p:spPr>
          <a:xfrm>
            <a:off x="777240" y="2194560"/>
            <a:ext cx="2453563" cy="18288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33271" y="2450592"/>
            <a:ext cx="38404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651760"/>
            <a:ext cx="1941499" cy="36576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홍수 예측</a:t>
            </a:r>
          </a:p>
        </p:txBody>
      </p:sp>
      <p:sp>
        <p:nvSpPr>
          <p:cNvPr id="9" name="TextBox 8"/>
          <p:cNvSpPr txBox="1"/>
          <p:nvPr/>
        </p:nvSpPr>
        <p:spPr>
          <a:xfrm>
            <a:off x="1033271" y="3108960"/>
            <a:ext cx="1941499" cy="64008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강물이 넘칠 시점을 미리 알려</a:t>
            </a:r>
          </a:p>
          <a:p>
            <a:pPr algn="l">
              <a:lnSpc>
                <a:spcPct val="130000"/>
              </a:lnSpc>
            </a:pPr>
            <a:r>
              <a:rPr sz="1250" b="0">
                <a:solidFill>
                  <a:srgbClr val="3E4C59"/>
                </a:solidFill>
                <a:latin typeface="맑은 고딕"/>
                <a:ea typeface="맑은 고딕"/>
                <a:cs typeface="맑은 고딕"/>
              </a:rPr>
              <a:t>대피할 시간을 법니다.</a:t>
            </a:r>
          </a:p>
        </p:txBody>
      </p:sp>
      <p:sp>
        <p:nvSpPr>
          <p:cNvPr id="10" name="Rounded Rectangle 9"/>
          <p:cNvSpPr/>
          <p:nvPr/>
        </p:nvSpPr>
        <p:spPr>
          <a:xfrm>
            <a:off x="3505123" y="2194560"/>
            <a:ext cx="2453563" cy="18288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761155" y="2450592"/>
            <a:ext cx="38404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61155" y="2651760"/>
            <a:ext cx="1941499" cy="36576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재난 조기 감지</a:t>
            </a:r>
          </a:p>
        </p:txBody>
      </p:sp>
      <p:sp>
        <p:nvSpPr>
          <p:cNvPr id="13" name="TextBox 12"/>
          <p:cNvSpPr txBox="1"/>
          <p:nvPr/>
        </p:nvSpPr>
        <p:spPr>
          <a:xfrm>
            <a:off x="3761155" y="3108960"/>
            <a:ext cx="1941499" cy="64008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위성 사진의 이상을 몇 분 만에</a:t>
            </a:r>
          </a:p>
          <a:p>
            <a:pPr algn="l">
              <a:lnSpc>
                <a:spcPct val="130000"/>
              </a:lnSpc>
            </a:pPr>
            <a:r>
              <a:rPr sz="1250" b="0">
                <a:solidFill>
                  <a:srgbClr val="3E4C59"/>
                </a:solidFill>
                <a:latin typeface="맑은 고딕"/>
                <a:ea typeface="맑은 고딕"/>
                <a:cs typeface="맑은 고딕"/>
              </a:rPr>
              <a:t>찾아 경보를 보냅니다.</a:t>
            </a:r>
          </a:p>
        </p:txBody>
      </p:sp>
      <p:sp>
        <p:nvSpPr>
          <p:cNvPr id="14" name="Rounded Rectangle 13"/>
          <p:cNvSpPr/>
          <p:nvPr/>
        </p:nvSpPr>
        <p:spPr>
          <a:xfrm>
            <a:off x="6233007" y="2194560"/>
            <a:ext cx="2453563" cy="18288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89039" y="2450592"/>
            <a:ext cx="38404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9039" y="2651760"/>
            <a:ext cx="1941499" cy="36576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단백질 구조 공개</a:t>
            </a:r>
          </a:p>
        </p:txBody>
      </p:sp>
      <p:sp>
        <p:nvSpPr>
          <p:cNvPr id="17" name="TextBox 16"/>
          <p:cNvSpPr txBox="1"/>
          <p:nvPr/>
        </p:nvSpPr>
        <p:spPr>
          <a:xfrm>
            <a:off x="6489039" y="3108960"/>
            <a:ext cx="1941499" cy="64008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알파폴드가 밝힌 구조를</a:t>
            </a:r>
          </a:p>
          <a:p>
            <a:pPr algn="l">
              <a:lnSpc>
                <a:spcPct val="130000"/>
              </a:lnSpc>
            </a:pPr>
            <a:r>
              <a:rPr sz="1250" b="0">
                <a:solidFill>
                  <a:srgbClr val="3E4C59"/>
                </a:solidFill>
                <a:latin typeface="맑은 고딕"/>
                <a:ea typeface="맑은 고딕"/>
                <a:cs typeface="맑은 고딕"/>
              </a:rPr>
              <a:t>전 세계 연구자에게 열었습니다.</a:t>
            </a:r>
          </a:p>
        </p:txBody>
      </p:sp>
      <p:sp>
        <p:nvSpPr>
          <p:cNvPr id="18" name="Rounded Rectangle 17"/>
          <p:cNvSpPr/>
          <p:nvPr/>
        </p:nvSpPr>
        <p:spPr>
          <a:xfrm>
            <a:off x="8960891" y="2194560"/>
            <a:ext cx="2453563" cy="18288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216923" y="2450592"/>
            <a:ext cx="384048"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16923" y="2651760"/>
            <a:ext cx="1941499" cy="365760"/>
          </a:xfrm>
          <a:prstGeom prst="rect">
            <a:avLst/>
          </a:prstGeom>
          <a:noFill/>
        </p:spPr>
        <p:txBody>
          <a:bodyPr wrap="square" anchor="t" lIns="0" rIns="0" tIns="0" bIns="0">
            <a:spAutoFit/>
          </a:bodyPr>
          <a:lstStyle/>
          <a:p>
            <a:pPr algn="l">
              <a:lnSpc>
                <a:spcPct val="115000"/>
              </a:lnSpc>
            </a:pPr>
            <a:r>
              <a:rPr sz="1600" b="1">
                <a:solidFill>
                  <a:srgbClr val="1F2933"/>
                </a:solidFill>
                <a:latin typeface="맑은 고딕"/>
                <a:ea typeface="맑은 고딕"/>
                <a:cs typeface="맑은 고딕"/>
              </a:rPr>
              <a:t>질병 검진</a:t>
            </a:r>
          </a:p>
        </p:txBody>
      </p:sp>
      <p:sp>
        <p:nvSpPr>
          <p:cNvPr id="21" name="TextBox 20"/>
          <p:cNvSpPr txBox="1"/>
          <p:nvPr/>
        </p:nvSpPr>
        <p:spPr>
          <a:xfrm>
            <a:off x="9216923" y="3108960"/>
            <a:ext cx="1941499" cy="64008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전문의가 부족한 지역에서</a:t>
            </a:r>
          </a:p>
          <a:p>
            <a:pPr algn="l">
              <a:lnSpc>
                <a:spcPct val="130000"/>
              </a:lnSpc>
            </a:pPr>
            <a:r>
              <a:rPr sz="1250" b="0">
                <a:solidFill>
                  <a:srgbClr val="3E4C59"/>
                </a:solidFill>
                <a:latin typeface="맑은 고딕"/>
                <a:ea typeface="맑은 고딕"/>
                <a:cs typeface="맑은 고딕"/>
              </a:rPr>
              <a:t>조기 발견을 돕습니다.</a:t>
            </a:r>
          </a:p>
        </p:txBody>
      </p:sp>
      <p:sp>
        <p:nvSpPr>
          <p:cNvPr id="22" name="Rounded Rectangle 21"/>
          <p:cNvSpPr/>
          <p:nvPr/>
        </p:nvSpPr>
        <p:spPr>
          <a:xfrm>
            <a:off x="777240" y="4251960"/>
            <a:ext cx="10637215" cy="9601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143000" y="4443983"/>
            <a:ext cx="9905695" cy="594360"/>
          </a:xfrm>
          <a:prstGeom prst="rect">
            <a:avLst/>
          </a:prstGeom>
          <a:noFill/>
        </p:spPr>
        <p:txBody>
          <a:bodyPr wrap="square" anchor="t" lIns="0" rIns="0" tIns="0" bIns="0">
            <a:spAutoFit/>
          </a:bodyPr>
          <a:lstStyle/>
          <a:p>
            <a:pPr algn="l">
              <a:lnSpc>
                <a:spcPct val="140000"/>
              </a:lnSpc>
            </a:pPr>
            <a:r>
              <a:rPr sz="1400" b="0">
                <a:solidFill>
                  <a:srgbClr val="3E4C59"/>
                </a:solidFill>
                <a:latin typeface="맑은 고딕"/>
                <a:ea typeface="맑은 고딕"/>
                <a:cs typeface="맑은 고딕"/>
              </a:rPr>
              <a:t>빈곤·기아·보건·교육·환경처럼 돈이 되지 않아 미뤄지던 문제에 AI를 먼저 쓰자는 흐름입니다.</a:t>
            </a:r>
          </a:p>
          <a:p>
            <a:pPr algn="l">
              <a:lnSpc>
                <a:spcPct val="140000"/>
              </a:lnSpc>
            </a:pPr>
            <a:r>
              <a:rPr sz="1400" b="0">
                <a:solidFill>
                  <a:srgbClr val="3E4C59"/>
                </a:solidFill>
                <a:latin typeface="맑은 고딕"/>
                <a:ea typeface="맑은 고딕"/>
                <a:cs typeface="맑은 고딕"/>
              </a:rPr>
              <a:t>기술을 얼마나 잘 만드느냐보다 ‘누구를 위해, 어떻게 쓰는가’를 묻습니다.</a:t>
            </a:r>
          </a:p>
        </p:txBody>
      </p:sp>
      <p:sp>
        <p:nvSpPr>
          <p:cNvPr id="24" name="Rounded Rectangle 23"/>
          <p:cNvSpPr/>
          <p:nvPr/>
        </p:nvSpPr>
        <p:spPr>
          <a:xfrm>
            <a:off x="777240" y="5394960"/>
            <a:ext cx="10637215" cy="868680"/>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77240" y="5596127"/>
            <a:ext cx="10637215" cy="457200"/>
          </a:xfrm>
          <a:prstGeom prst="rect">
            <a:avLst/>
          </a:prstGeom>
          <a:noFill/>
        </p:spPr>
        <p:txBody>
          <a:bodyPr wrap="square" anchor="t" lIns="0" rIns="0" tIns="0" bIns="0">
            <a:spAutoFit/>
          </a:bodyPr>
          <a:lstStyle/>
          <a:p>
            <a:pPr algn="ctr">
              <a:lnSpc>
                <a:spcPct val="115000"/>
              </a:lnSpc>
            </a:pPr>
            <a:r>
              <a:rPr sz="1700" b="1">
                <a:solidFill>
                  <a:srgbClr val="FFFFFF"/>
                </a:solidFill>
                <a:latin typeface="맑은 고딕"/>
                <a:ea typeface="맑은 고딕"/>
                <a:cs typeface="맑은 고딕"/>
              </a:rPr>
              <a:t>집에서 아이에게 물어볼 질문도 같습니다. “이걸로 누구를 도울 수 있을까?”</a:t>
            </a:r>
          </a:p>
        </p:txBody>
      </p:sp>
      <p:sp>
        <p:nvSpPr>
          <p:cNvPr id="26" name="Rectangle 25"/>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ITU(국제전기통신연합) AI for Good</a:t>
            </a:r>
          </a:p>
        </p:txBody>
      </p:sp>
      <p:sp>
        <p:nvSpPr>
          <p:cNvPr id="28" name="TextBox 2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34 / 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미래의 직업</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2024년 노벨 물리학상과 화학상, 모두 AI였습니다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과학의 최전선이 이미 바뀌었다는 신호입니다.</a:t>
            </a:r>
          </a:p>
        </p:txBody>
      </p:sp>
      <p:sp>
        <p:nvSpPr>
          <p:cNvPr id="6" name="Rounded Rectangle 5"/>
          <p:cNvSpPr/>
          <p:nvPr/>
        </p:nvSpPr>
        <p:spPr>
          <a:xfrm>
            <a:off x="777240" y="2194560"/>
            <a:ext cx="5135727" cy="233172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97280" y="2468880"/>
            <a:ext cx="41148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70048"/>
            <a:ext cx="4495647" cy="365760"/>
          </a:xfrm>
          <a:prstGeom prst="rect">
            <a:avLst/>
          </a:prstGeom>
          <a:noFill/>
        </p:spPr>
        <p:txBody>
          <a:bodyPr wrap="square" anchor="t" lIns="0" rIns="0" tIns="0" bIns="0">
            <a:spAutoFit/>
          </a:bodyPr>
          <a:lstStyle/>
          <a:p>
            <a:pPr algn="l">
              <a:lnSpc>
                <a:spcPct val="115000"/>
              </a:lnSpc>
            </a:pPr>
            <a:r>
              <a:rPr sz="1900" b="1">
                <a:solidFill>
                  <a:srgbClr val="1D4ED8"/>
                </a:solidFill>
                <a:latin typeface="맑은 고딕"/>
                <a:ea typeface="맑은 고딕"/>
                <a:cs typeface="맑은 고딕"/>
              </a:rPr>
              <a:t>노벨 물리학상</a:t>
            </a:r>
          </a:p>
        </p:txBody>
      </p:sp>
      <p:sp>
        <p:nvSpPr>
          <p:cNvPr id="9" name="TextBox 8"/>
          <p:cNvSpPr txBox="1"/>
          <p:nvPr/>
        </p:nvSpPr>
        <p:spPr>
          <a:xfrm>
            <a:off x="1097280" y="3127248"/>
            <a:ext cx="4495647" cy="365760"/>
          </a:xfrm>
          <a:prstGeom prst="rect">
            <a:avLst/>
          </a:prstGeom>
          <a:noFill/>
        </p:spPr>
        <p:txBody>
          <a:bodyPr wrap="square" anchor="t" lIns="0" rIns="0" tIns="0" bIns="0">
            <a:spAutoFit/>
          </a:bodyPr>
          <a:lstStyle/>
          <a:p>
            <a:pPr algn="l">
              <a:lnSpc>
                <a:spcPct val="115000"/>
              </a:lnSpc>
            </a:pPr>
            <a:r>
              <a:rPr sz="1400" b="1">
                <a:solidFill>
                  <a:srgbClr val="1F2933"/>
                </a:solidFill>
                <a:latin typeface="맑은 고딕"/>
                <a:ea typeface="맑은 고딕"/>
                <a:cs typeface="맑은 고딕"/>
              </a:rPr>
              <a:t>존 홉필드 · 제프리 힌턴</a:t>
            </a:r>
          </a:p>
        </p:txBody>
      </p:sp>
      <p:sp>
        <p:nvSpPr>
          <p:cNvPr id="10" name="TextBox 9"/>
          <p:cNvSpPr txBox="1"/>
          <p:nvPr/>
        </p:nvSpPr>
        <p:spPr>
          <a:xfrm>
            <a:off x="1097280" y="3584448"/>
            <a:ext cx="4495647" cy="82296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인공신경망의 기초를 세운 공로.</a:t>
            </a:r>
          </a:p>
          <a:p>
            <a:pPr algn="l">
              <a:lnSpc>
                <a:spcPct val="135000"/>
              </a:lnSpc>
            </a:pPr>
            <a:r>
              <a:rPr sz="1350" b="0">
                <a:solidFill>
                  <a:srgbClr val="3E4C59"/>
                </a:solidFill>
                <a:latin typeface="맑은 고딕"/>
                <a:ea typeface="맑은 고딕"/>
                <a:cs typeface="맑은 고딕"/>
              </a:rPr>
              <a:t>지금의 AI가 작동하는 원리를</a:t>
            </a:r>
          </a:p>
          <a:p>
            <a:pPr algn="l">
              <a:lnSpc>
                <a:spcPct val="135000"/>
              </a:lnSpc>
            </a:pPr>
            <a:r>
              <a:rPr sz="1350" b="0">
                <a:solidFill>
                  <a:srgbClr val="3E4C59"/>
                </a:solidFill>
                <a:latin typeface="맑은 고딕"/>
                <a:ea typeface="맑은 고딕"/>
                <a:cs typeface="맑은 고딕"/>
              </a:rPr>
              <a:t>1980년대에 만들어 두었습니다.</a:t>
            </a:r>
          </a:p>
        </p:txBody>
      </p:sp>
      <p:sp>
        <p:nvSpPr>
          <p:cNvPr id="11" name="Rounded Rectangle 10"/>
          <p:cNvSpPr/>
          <p:nvPr/>
        </p:nvSpPr>
        <p:spPr>
          <a:xfrm>
            <a:off x="6278727" y="2194560"/>
            <a:ext cx="5135727" cy="233172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98767" y="2468880"/>
            <a:ext cx="4114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2670048"/>
            <a:ext cx="4495647" cy="365760"/>
          </a:xfrm>
          <a:prstGeom prst="rect">
            <a:avLst/>
          </a:prstGeom>
          <a:noFill/>
        </p:spPr>
        <p:txBody>
          <a:bodyPr wrap="square" anchor="t" lIns="0" rIns="0" tIns="0" bIns="0">
            <a:spAutoFit/>
          </a:bodyPr>
          <a:lstStyle/>
          <a:p>
            <a:pPr algn="l">
              <a:lnSpc>
                <a:spcPct val="115000"/>
              </a:lnSpc>
            </a:pPr>
            <a:r>
              <a:rPr sz="1900" b="1">
                <a:solidFill>
                  <a:srgbClr val="0E7C86"/>
                </a:solidFill>
                <a:latin typeface="맑은 고딕"/>
                <a:ea typeface="맑은 고딕"/>
                <a:cs typeface="맑은 고딕"/>
              </a:rPr>
              <a:t>노벨 화학상</a:t>
            </a:r>
          </a:p>
        </p:txBody>
      </p:sp>
      <p:sp>
        <p:nvSpPr>
          <p:cNvPr id="14" name="TextBox 13"/>
          <p:cNvSpPr txBox="1"/>
          <p:nvPr/>
        </p:nvSpPr>
        <p:spPr>
          <a:xfrm>
            <a:off x="6598767" y="3127248"/>
            <a:ext cx="4495647" cy="365760"/>
          </a:xfrm>
          <a:prstGeom prst="rect">
            <a:avLst/>
          </a:prstGeom>
          <a:noFill/>
        </p:spPr>
        <p:txBody>
          <a:bodyPr wrap="square" anchor="t" lIns="0" rIns="0" tIns="0" bIns="0">
            <a:spAutoFit/>
          </a:bodyPr>
          <a:lstStyle/>
          <a:p>
            <a:pPr algn="l">
              <a:lnSpc>
                <a:spcPct val="115000"/>
              </a:lnSpc>
            </a:pPr>
            <a:r>
              <a:rPr sz="1400" b="1">
                <a:solidFill>
                  <a:srgbClr val="1F2933"/>
                </a:solidFill>
                <a:latin typeface="맑은 고딕"/>
                <a:ea typeface="맑은 고딕"/>
                <a:cs typeface="맑은 고딕"/>
              </a:rPr>
              <a:t>데이비드 베이커 · 데미스 허사비스 · 존 점퍼</a:t>
            </a:r>
          </a:p>
        </p:txBody>
      </p:sp>
      <p:sp>
        <p:nvSpPr>
          <p:cNvPr id="15" name="TextBox 14"/>
          <p:cNvSpPr txBox="1"/>
          <p:nvPr/>
        </p:nvSpPr>
        <p:spPr>
          <a:xfrm>
            <a:off x="6598767" y="3584448"/>
            <a:ext cx="4495647" cy="822960"/>
          </a:xfrm>
          <a:prstGeom prst="rect">
            <a:avLst/>
          </a:prstGeom>
          <a:noFill/>
        </p:spPr>
        <p:txBody>
          <a:bodyPr wrap="square" anchor="t" lIns="0" rIns="0" tIns="0" bIns="0">
            <a:spAutoFit/>
          </a:bodyPr>
          <a:lstStyle/>
          <a:p>
            <a:pPr algn="l">
              <a:lnSpc>
                <a:spcPct val="135000"/>
              </a:lnSpc>
            </a:pPr>
            <a:r>
              <a:rPr sz="1350" b="0">
                <a:solidFill>
                  <a:srgbClr val="3E4C59"/>
                </a:solidFill>
                <a:latin typeface="맑은 고딕"/>
                <a:ea typeface="맑은 고딕"/>
                <a:cs typeface="맑은 고딕"/>
              </a:rPr>
              <a:t>AI로 단백질 구조를 예측하고</a:t>
            </a:r>
          </a:p>
          <a:p>
            <a:pPr algn="l">
              <a:lnSpc>
                <a:spcPct val="135000"/>
              </a:lnSpc>
            </a:pPr>
            <a:r>
              <a:rPr sz="1350" b="0">
                <a:solidFill>
                  <a:srgbClr val="3E4C59"/>
                </a:solidFill>
                <a:latin typeface="맑은 고딕"/>
                <a:ea typeface="맑은 고딕"/>
                <a:cs typeface="맑은 고딕"/>
              </a:rPr>
              <a:t>설계한 공로. 50년 묵은 난제를</a:t>
            </a:r>
          </a:p>
          <a:p>
            <a:pPr algn="l">
              <a:lnSpc>
                <a:spcPct val="135000"/>
              </a:lnSpc>
            </a:pPr>
            <a:r>
              <a:rPr sz="1350" b="0">
                <a:solidFill>
                  <a:srgbClr val="3E4C59"/>
                </a:solidFill>
                <a:latin typeface="맑은 고딕"/>
                <a:ea typeface="맑은 고딕"/>
                <a:cs typeface="맑은 고딕"/>
              </a:rPr>
              <a:t>‘알파폴드’가 풀었습니다.</a:t>
            </a:r>
          </a:p>
        </p:txBody>
      </p:sp>
      <p:sp>
        <p:nvSpPr>
          <p:cNvPr id="16" name="Rounded Rectangle 15"/>
          <p:cNvSpPr/>
          <p:nvPr/>
        </p:nvSpPr>
        <p:spPr>
          <a:xfrm>
            <a:off x="777240" y="4754880"/>
            <a:ext cx="10637215" cy="1051560"/>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143000" y="4956048"/>
            <a:ext cx="9905695" cy="685800"/>
          </a:xfrm>
          <a:prstGeom prst="rect">
            <a:avLst/>
          </a:prstGeom>
          <a:noFill/>
        </p:spPr>
        <p:txBody>
          <a:bodyPr wrap="square" anchor="t" lIns="0" rIns="0" tIns="0" bIns="0">
            <a:spAutoFit/>
          </a:bodyPr>
          <a:lstStyle/>
          <a:p>
            <a:pPr algn="l">
              <a:lnSpc>
                <a:spcPct val="140000"/>
              </a:lnSpc>
            </a:pPr>
            <a:r>
              <a:rPr sz="1500" b="1">
                <a:solidFill>
                  <a:srgbClr val="FFFFFF"/>
                </a:solidFill>
                <a:latin typeface="맑은 고딕"/>
                <a:ea typeface="맑은 고딕"/>
                <a:cs typeface="맑은 고딕"/>
              </a:rPr>
              <a:t>다섯 분 모두 ‘컴퓨터를 잘 다뤄서’ 받은 상이 아닙니다.</a:t>
            </a:r>
          </a:p>
          <a:p>
            <a:pPr algn="l">
              <a:lnSpc>
                <a:spcPct val="140000"/>
              </a:lnSpc>
            </a:pPr>
            <a:r>
              <a:rPr sz="1500" b="1">
                <a:solidFill>
                  <a:srgbClr val="FFFFFF"/>
                </a:solidFill>
                <a:latin typeface="맑은 고딕"/>
                <a:ea typeface="맑은 고딕"/>
                <a:cs typeface="맑은 고딕"/>
              </a:rPr>
              <a:t>물리학자는 물리학 문제를, 생물학자는 단백질 문제를 AI로 풀어서 받았습니다.</a:t>
            </a:r>
          </a:p>
        </p:txBody>
      </p:sp>
      <p:sp>
        <p:nvSpPr>
          <p:cNvPr id="18" name="Rectangle 17"/>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노벨재단, 2024년 노벨 물리학상·화학상 수상자 발표</a:t>
            </a:r>
          </a:p>
        </p:txBody>
      </p:sp>
      <p:sp>
        <p:nvSpPr>
          <p:cNvPr id="20" name="TextBox 19"/>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35 /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미래의 직업</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그럼 어떤 직업이 안전할까요?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한국은행이 국내 취업자를 분석한 결과는 예상과 반대였습니다.</a:t>
            </a:r>
          </a:p>
        </p:txBody>
      </p:sp>
      <p:sp>
        <p:nvSpPr>
          <p:cNvPr id="6" name="Rounded Rectangle 5"/>
          <p:cNvSpPr/>
          <p:nvPr/>
        </p:nvSpPr>
        <p:spPr>
          <a:xfrm>
            <a:off x="777240" y="2194560"/>
            <a:ext cx="3200400" cy="22402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2487168"/>
            <a:ext cx="2560320" cy="548640"/>
          </a:xfrm>
          <a:prstGeom prst="rect">
            <a:avLst/>
          </a:prstGeom>
          <a:noFill/>
        </p:spPr>
        <p:txBody>
          <a:bodyPr wrap="square" anchor="t" lIns="0" rIns="0" tIns="0" bIns="0">
            <a:spAutoFit/>
          </a:bodyPr>
          <a:lstStyle/>
          <a:p>
            <a:pPr algn="l">
              <a:lnSpc>
                <a:spcPct val="115000"/>
              </a:lnSpc>
            </a:pPr>
            <a:r>
              <a:rPr sz="3800" b="1">
                <a:solidFill>
                  <a:srgbClr val="1D4ED8"/>
                </a:solidFill>
                <a:latin typeface="맑은 고딕"/>
                <a:ea typeface="맑은 고딕"/>
                <a:cs typeface="맑은 고딕"/>
              </a:rPr>
              <a:t>341만 명</a:t>
            </a:r>
          </a:p>
        </p:txBody>
      </p:sp>
      <p:sp>
        <p:nvSpPr>
          <p:cNvPr id="8" name="TextBox 7"/>
          <p:cNvSpPr txBox="1"/>
          <p:nvPr/>
        </p:nvSpPr>
        <p:spPr>
          <a:xfrm>
            <a:off x="1097280" y="3218688"/>
            <a:ext cx="2560320" cy="548640"/>
          </a:xfrm>
          <a:prstGeom prst="rect">
            <a:avLst/>
          </a:prstGeom>
          <a:noFill/>
        </p:spPr>
        <p:txBody>
          <a:bodyPr wrap="square" anchor="t" lIns="0" rIns="0" tIns="0" bIns="0">
            <a:spAutoFit/>
          </a:bodyPr>
          <a:lstStyle/>
          <a:p>
            <a:pPr algn="l">
              <a:lnSpc>
                <a:spcPct val="130000"/>
              </a:lnSpc>
            </a:pPr>
            <a:r>
              <a:rPr sz="1400" b="0">
                <a:solidFill>
                  <a:srgbClr val="3E4C59"/>
                </a:solidFill>
                <a:latin typeface="맑은 고딕"/>
                <a:ea typeface="맑은 고딕"/>
                <a:cs typeface="맑은 고딕"/>
              </a:rPr>
              <a:t>AI로 대체될 가능성이</a:t>
            </a:r>
          </a:p>
          <a:p>
            <a:pPr algn="l">
              <a:lnSpc>
                <a:spcPct val="130000"/>
              </a:lnSpc>
            </a:pPr>
            <a:r>
              <a:rPr sz="1400" b="0">
                <a:solidFill>
                  <a:srgbClr val="3E4C59"/>
                </a:solidFill>
                <a:latin typeface="맑은 고딕"/>
                <a:ea typeface="맑은 고딕"/>
                <a:cs typeface="맑은 고딕"/>
              </a:rPr>
              <a:t>높은 국내 일자리</a:t>
            </a:r>
          </a:p>
        </p:txBody>
      </p:sp>
      <p:sp>
        <p:nvSpPr>
          <p:cNvPr id="9" name="Rectangle 8"/>
          <p:cNvSpPr/>
          <p:nvPr/>
        </p:nvSpPr>
        <p:spPr>
          <a:xfrm>
            <a:off x="1097280" y="3858768"/>
            <a:ext cx="2560320"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005072"/>
            <a:ext cx="2560320" cy="274320"/>
          </a:xfrm>
          <a:prstGeom prst="rect">
            <a:avLst/>
          </a:prstGeom>
          <a:noFill/>
        </p:spPr>
        <p:txBody>
          <a:bodyPr wrap="square" anchor="t" lIns="0" rIns="0" tIns="0" bIns="0">
            <a:spAutoFit/>
          </a:bodyPr>
          <a:lstStyle/>
          <a:p>
            <a:pPr algn="l">
              <a:lnSpc>
                <a:spcPct val="115000"/>
              </a:lnSpc>
            </a:pPr>
            <a:r>
              <a:rPr sz="1400" b="1">
                <a:solidFill>
                  <a:srgbClr val="1F2933"/>
                </a:solidFill>
                <a:latin typeface="맑은 고딕"/>
                <a:ea typeface="맑은 고딕"/>
                <a:cs typeface="맑은 고딕"/>
              </a:rPr>
              <a:t>전체 취업자의 12%</a:t>
            </a:r>
          </a:p>
        </p:txBody>
      </p:sp>
      <p:sp>
        <p:nvSpPr>
          <p:cNvPr id="11" name="TextBox 10"/>
          <p:cNvSpPr txBox="1"/>
          <p:nvPr/>
        </p:nvSpPr>
        <p:spPr>
          <a:xfrm>
            <a:off x="4343400" y="2194560"/>
            <a:ext cx="6949440" cy="274320"/>
          </a:xfrm>
          <a:prstGeom prst="rect">
            <a:avLst/>
          </a:prstGeom>
          <a:noFill/>
        </p:spPr>
        <p:txBody>
          <a:bodyPr wrap="square" anchor="t" lIns="0" rIns="0" tIns="0" bIns="0">
            <a:spAutoFit/>
          </a:bodyPr>
          <a:lstStyle/>
          <a:p>
            <a:pPr algn="l">
              <a:lnSpc>
                <a:spcPct val="115000"/>
              </a:lnSpc>
            </a:pPr>
            <a:r>
              <a:rPr sz="1300" b="1">
                <a:solidFill>
                  <a:srgbClr val="0E7C86"/>
                </a:solidFill>
                <a:latin typeface="맑은 고딕"/>
                <a:ea typeface="맑은 고딕"/>
                <a:cs typeface="맑은 고딕"/>
              </a:rPr>
              <a:t>AI 노출 지수가 높은 직업 — 전체 직업 중 순위</a:t>
            </a:r>
          </a:p>
        </p:txBody>
      </p:sp>
      <p:sp>
        <p:nvSpPr>
          <p:cNvPr id="12" name="TextBox 11"/>
          <p:cNvSpPr txBox="1"/>
          <p:nvPr/>
        </p:nvSpPr>
        <p:spPr>
          <a:xfrm>
            <a:off x="4343400" y="2651760"/>
            <a:ext cx="269748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일반 의사 · 한의사</a:t>
            </a:r>
          </a:p>
        </p:txBody>
      </p:sp>
      <p:sp>
        <p:nvSpPr>
          <p:cNvPr id="13" name="Rectangle 12"/>
          <p:cNvSpPr/>
          <p:nvPr/>
        </p:nvSpPr>
        <p:spPr>
          <a:xfrm>
            <a:off x="6446520" y="2761488"/>
            <a:ext cx="3977639" cy="3200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13144" y="2702052"/>
            <a:ext cx="146304" cy="14630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2600" y="2660904"/>
            <a:ext cx="128016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상위 1%</a:t>
            </a:r>
          </a:p>
        </p:txBody>
      </p:sp>
      <p:sp>
        <p:nvSpPr>
          <p:cNvPr id="16" name="TextBox 15"/>
          <p:cNvSpPr txBox="1"/>
          <p:nvPr/>
        </p:nvSpPr>
        <p:spPr>
          <a:xfrm>
            <a:off x="4343400" y="3017520"/>
            <a:ext cx="269748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전문 의사</a:t>
            </a:r>
          </a:p>
        </p:txBody>
      </p:sp>
      <p:sp>
        <p:nvSpPr>
          <p:cNvPr id="17" name="Rectangle 16"/>
          <p:cNvSpPr/>
          <p:nvPr/>
        </p:nvSpPr>
        <p:spPr>
          <a:xfrm>
            <a:off x="6446520" y="3127248"/>
            <a:ext cx="3977639" cy="3200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51802" y="3067812"/>
            <a:ext cx="146304" cy="14630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71258" y="3026664"/>
            <a:ext cx="128016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상위 7%</a:t>
            </a:r>
          </a:p>
        </p:txBody>
      </p:sp>
      <p:sp>
        <p:nvSpPr>
          <p:cNvPr id="20" name="TextBox 19"/>
          <p:cNvSpPr txBox="1"/>
          <p:nvPr/>
        </p:nvSpPr>
        <p:spPr>
          <a:xfrm>
            <a:off x="4343400" y="3383279"/>
            <a:ext cx="269748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회계사</a:t>
            </a:r>
          </a:p>
        </p:txBody>
      </p:sp>
      <p:sp>
        <p:nvSpPr>
          <p:cNvPr id="21" name="Rectangle 20"/>
          <p:cNvSpPr/>
          <p:nvPr/>
        </p:nvSpPr>
        <p:spPr>
          <a:xfrm>
            <a:off x="6446520" y="3493008"/>
            <a:ext cx="3977639" cy="3200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9119" y="3433572"/>
            <a:ext cx="146304" cy="14630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48575" y="3392424"/>
            <a:ext cx="128016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상위 19%</a:t>
            </a:r>
          </a:p>
        </p:txBody>
      </p:sp>
      <p:sp>
        <p:nvSpPr>
          <p:cNvPr id="24" name="TextBox 23"/>
          <p:cNvSpPr txBox="1"/>
          <p:nvPr/>
        </p:nvSpPr>
        <p:spPr>
          <a:xfrm>
            <a:off x="4343400" y="3749040"/>
            <a:ext cx="269748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자산운용가</a:t>
            </a:r>
          </a:p>
        </p:txBody>
      </p:sp>
      <p:sp>
        <p:nvSpPr>
          <p:cNvPr id="25" name="Rectangle 24"/>
          <p:cNvSpPr/>
          <p:nvPr/>
        </p:nvSpPr>
        <p:spPr>
          <a:xfrm>
            <a:off x="6446520" y="3858768"/>
            <a:ext cx="3977639" cy="3200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129119" y="3799332"/>
            <a:ext cx="146304" cy="14630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8575" y="3758184"/>
            <a:ext cx="128016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상위 19%</a:t>
            </a:r>
          </a:p>
        </p:txBody>
      </p:sp>
      <p:sp>
        <p:nvSpPr>
          <p:cNvPr id="28" name="TextBox 27"/>
          <p:cNvSpPr txBox="1"/>
          <p:nvPr/>
        </p:nvSpPr>
        <p:spPr>
          <a:xfrm>
            <a:off x="4343400" y="4114800"/>
            <a:ext cx="2697480" cy="274320"/>
          </a:xfrm>
          <a:prstGeom prst="rect">
            <a:avLst/>
          </a:prstGeom>
          <a:noFill/>
        </p:spPr>
        <p:txBody>
          <a:bodyPr wrap="square" anchor="t" lIns="0" rIns="0" tIns="0" bIns="0">
            <a:spAutoFit/>
          </a:bodyPr>
          <a:lstStyle/>
          <a:p>
            <a:pPr algn="l">
              <a:lnSpc>
                <a:spcPct val="115000"/>
              </a:lnSpc>
            </a:pPr>
            <a:r>
              <a:rPr sz="1250" b="0">
                <a:solidFill>
                  <a:srgbClr val="1F2933"/>
                </a:solidFill>
                <a:latin typeface="맑은 고딕"/>
                <a:ea typeface="맑은 고딕"/>
                <a:cs typeface="맑은 고딕"/>
              </a:rPr>
              <a:t>변호사</a:t>
            </a:r>
          </a:p>
        </p:txBody>
      </p:sp>
      <p:sp>
        <p:nvSpPr>
          <p:cNvPr id="29" name="Rectangle 28"/>
          <p:cNvSpPr/>
          <p:nvPr/>
        </p:nvSpPr>
        <p:spPr>
          <a:xfrm>
            <a:off x="6446520" y="4224527"/>
            <a:ext cx="3977639" cy="32004"/>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208672" y="4165091"/>
            <a:ext cx="146304" cy="146304"/>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28128" y="4123944"/>
            <a:ext cx="1280160" cy="274320"/>
          </a:xfrm>
          <a:prstGeom prst="rect">
            <a:avLst/>
          </a:prstGeom>
          <a:noFill/>
        </p:spPr>
        <p:txBody>
          <a:bodyPr wrap="square" anchor="t" lIns="0" rIns="0" tIns="0" bIns="0">
            <a:spAutoFit/>
          </a:bodyPr>
          <a:lstStyle/>
          <a:p>
            <a:pPr algn="l">
              <a:lnSpc>
                <a:spcPct val="115000"/>
              </a:lnSpc>
            </a:pPr>
            <a:r>
              <a:rPr sz="1200" b="1">
                <a:solidFill>
                  <a:srgbClr val="1D4ED8"/>
                </a:solidFill>
                <a:latin typeface="맑은 고딕"/>
                <a:ea typeface="맑은 고딕"/>
                <a:cs typeface="맑은 고딕"/>
              </a:rPr>
              <a:t>상위 21%</a:t>
            </a:r>
          </a:p>
        </p:txBody>
      </p:sp>
      <p:sp>
        <p:nvSpPr>
          <p:cNvPr id="32" name="Rectangle 31"/>
          <p:cNvSpPr/>
          <p:nvPr/>
        </p:nvSpPr>
        <p:spPr>
          <a:xfrm>
            <a:off x="6446520" y="4535424"/>
            <a:ext cx="3977639"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4608576"/>
            <a:ext cx="548640" cy="228600"/>
          </a:xfrm>
          <a:prstGeom prst="rect">
            <a:avLst/>
          </a:prstGeom>
          <a:noFill/>
        </p:spPr>
        <p:txBody>
          <a:bodyPr wrap="square" anchor="t" lIns="0" rIns="0" tIns="0" bIns="0">
            <a:spAutoFit/>
          </a:bodyPr>
          <a:lstStyle/>
          <a:p>
            <a:pPr algn="ctr">
              <a:lnSpc>
                <a:spcPct val="115000"/>
              </a:lnSpc>
            </a:pPr>
            <a:r>
              <a:rPr sz="1000" b="0">
                <a:solidFill>
                  <a:srgbClr val="7B8894"/>
                </a:solidFill>
                <a:latin typeface="맑은 고딕"/>
                <a:ea typeface="맑은 고딕"/>
                <a:cs typeface="맑은 고딕"/>
              </a:rPr>
              <a:t>0%</a:t>
            </a:r>
          </a:p>
        </p:txBody>
      </p:sp>
      <p:sp>
        <p:nvSpPr>
          <p:cNvPr id="34" name="TextBox 33"/>
          <p:cNvSpPr txBox="1"/>
          <p:nvPr/>
        </p:nvSpPr>
        <p:spPr>
          <a:xfrm>
            <a:off x="8161019" y="4608576"/>
            <a:ext cx="548640" cy="228600"/>
          </a:xfrm>
          <a:prstGeom prst="rect">
            <a:avLst/>
          </a:prstGeom>
          <a:noFill/>
        </p:spPr>
        <p:txBody>
          <a:bodyPr wrap="square" anchor="t" lIns="0" rIns="0" tIns="0" bIns="0">
            <a:spAutoFit/>
          </a:bodyPr>
          <a:lstStyle/>
          <a:p>
            <a:pPr algn="ctr">
              <a:lnSpc>
                <a:spcPct val="115000"/>
              </a:lnSpc>
            </a:pPr>
            <a:r>
              <a:rPr sz="1000" b="0">
                <a:solidFill>
                  <a:srgbClr val="7B8894"/>
                </a:solidFill>
                <a:latin typeface="맑은 고딕"/>
                <a:ea typeface="맑은 고딕"/>
                <a:cs typeface="맑은 고딕"/>
              </a:rPr>
              <a:t>50%</a:t>
            </a:r>
          </a:p>
        </p:txBody>
      </p:sp>
      <p:sp>
        <p:nvSpPr>
          <p:cNvPr id="35" name="TextBox 34"/>
          <p:cNvSpPr txBox="1"/>
          <p:nvPr/>
        </p:nvSpPr>
        <p:spPr>
          <a:xfrm>
            <a:off x="10149839" y="4608576"/>
            <a:ext cx="548640" cy="228600"/>
          </a:xfrm>
          <a:prstGeom prst="rect">
            <a:avLst/>
          </a:prstGeom>
          <a:noFill/>
        </p:spPr>
        <p:txBody>
          <a:bodyPr wrap="square" anchor="t" lIns="0" rIns="0" tIns="0" bIns="0">
            <a:spAutoFit/>
          </a:bodyPr>
          <a:lstStyle/>
          <a:p>
            <a:pPr algn="ctr">
              <a:lnSpc>
                <a:spcPct val="115000"/>
              </a:lnSpc>
            </a:pPr>
            <a:r>
              <a:rPr sz="1000" b="0">
                <a:solidFill>
                  <a:srgbClr val="7B8894"/>
                </a:solidFill>
                <a:latin typeface="맑은 고딕"/>
                <a:ea typeface="맑은 고딕"/>
                <a:cs typeface="맑은 고딕"/>
              </a:rPr>
              <a:t>100%</a:t>
            </a:r>
          </a:p>
        </p:txBody>
      </p:sp>
      <p:sp>
        <p:nvSpPr>
          <p:cNvPr id="36" name="TextBox 35"/>
          <p:cNvSpPr txBox="1"/>
          <p:nvPr/>
        </p:nvSpPr>
        <p:spPr>
          <a:xfrm>
            <a:off x="6446520" y="4846320"/>
            <a:ext cx="2011680" cy="228600"/>
          </a:xfrm>
          <a:prstGeom prst="rect">
            <a:avLst/>
          </a:prstGeom>
          <a:noFill/>
        </p:spPr>
        <p:txBody>
          <a:bodyPr wrap="square" anchor="t" lIns="0" rIns="0" tIns="0" bIns="0">
            <a:spAutoFit/>
          </a:bodyPr>
          <a:lstStyle/>
          <a:p>
            <a:pPr algn="l">
              <a:lnSpc>
                <a:spcPct val="115000"/>
              </a:lnSpc>
            </a:pPr>
            <a:r>
              <a:rPr sz="1050" b="0">
                <a:solidFill>
                  <a:srgbClr val="7B8894"/>
                </a:solidFill>
                <a:latin typeface="맑은 고딕"/>
                <a:ea typeface="맑은 고딕"/>
                <a:cs typeface="맑은 고딕"/>
              </a:rPr>
              <a:t>← 노출 높음</a:t>
            </a:r>
          </a:p>
        </p:txBody>
      </p:sp>
      <p:sp>
        <p:nvSpPr>
          <p:cNvPr id="37" name="TextBox 36"/>
          <p:cNvSpPr txBox="1"/>
          <p:nvPr/>
        </p:nvSpPr>
        <p:spPr>
          <a:xfrm>
            <a:off x="8412480" y="4846320"/>
            <a:ext cx="2011680" cy="228600"/>
          </a:xfrm>
          <a:prstGeom prst="rect">
            <a:avLst/>
          </a:prstGeom>
          <a:noFill/>
        </p:spPr>
        <p:txBody>
          <a:bodyPr wrap="square" anchor="t" lIns="0" rIns="0" tIns="0" bIns="0">
            <a:spAutoFit/>
          </a:bodyPr>
          <a:lstStyle/>
          <a:p>
            <a:pPr algn="r">
              <a:lnSpc>
                <a:spcPct val="115000"/>
              </a:lnSpc>
            </a:pPr>
            <a:r>
              <a:rPr sz="1050" b="0">
                <a:solidFill>
                  <a:srgbClr val="7B8894"/>
                </a:solidFill>
                <a:latin typeface="맑은 고딕"/>
                <a:ea typeface="맑은 고딕"/>
                <a:cs typeface="맑은 고딕"/>
              </a:rPr>
              <a:t>노출 낮음 →</a:t>
            </a:r>
          </a:p>
        </p:txBody>
      </p:sp>
      <p:sp>
        <p:nvSpPr>
          <p:cNvPr id="38" name="Rounded Rectangle 37"/>
          <p:cNvSpPr/>
          <p:nvPr/>
        </p:nvSpPr>
        <p:spPr>
          <a:xfrm>
            <a:off x="777240" y="5166360"/>
            <a:ext cx="10637215" cy="96012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143000" y="5358383"/>
            <a:ext cx="9905695" cy="64008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안전하다고 여겨지던 전문직일수록 오히려 위쪽에 있습니다.</a:t>
            </a:r>
          </a:p>
          <a:p>
            <a:pPr algn="l">
              <a:lnSpc>
                <a:spcPct val="135000"/>
              </a:lnSpc>
              <a:spcAft>
                <a:spcPts val="400"/>
              </a:spcAft>
            </a:pPr>
            <a:r>
              <a:rPr sz="1450" b="0">
                <a:solidFill>
                  <a:srgbClr val="3E4C59"/>
                </a:solidFill>
                <a:latin typeface="맑은 고딕"/>
                <a:ea typeface="맑은 고딕"/>
                <a:cs typeface="맑은 고딕"/>
              </a:rPr>
              <a:t>기존 기술과 달리 AI는 고소득·고학력 일자리에 더 많이 닿는 것으로 분석되었습니다.</a:t>
            </a:r>
          </a:p>
        </p:txBody>
      </p:sp>
      <p:sp>
        <p:nvSpPr>
          <p:cNvPr id="40" name="Rectangle 3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한국은행 BOK 이슈노트 제2023-30호 「AI와 노동시장 변화」</a:t>
            </a:r>
          </a:p>
        </p:txBody>
      </p:sp>
      <p:sp>
        <p:nvSpPr>
          <p:cNvPr id="42" name="TextBox 41"/>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36 /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자료 읽는 법</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이 문장, 어디선가 들어보셨을 겁니다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미래 직업 이야기에 거의 빠지지 않고 나오는 수치입니다.</a:t>
            </a:r>
          </a:p>
        </p:txBody>
      </p:sp>
      <p:sp>
        <p:nvSpPr>
          <p:cNvPr id="6" name="Rounded Rectangle 5"/>
          <p:cNvSpPr/>
          <p:nvPr/>
        </p:nvSpPr>
        <p:spPr>
          <a:xfrm>
            <a:off x="777240" y="2176272"/>
            <a:ext cx="10637215" cy="96012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143000" y="2377440"/>
            <a:ext cx="45720" cy="566928"/>
          </a:xfrm>
          <a:prstGeom prst="rect">
            <a:avLst/>
          </a:prstGeom>
          <a:solidFill>
            <a:srgbClr val="7B8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17319" y="2395728"/>
            <a:ext cx="9448495" cy="548640"/>
          </a:xfrm>
          <a:prstGeom prst="rect">
            <a:avLst/>
          </a:prstGeom>
          <a:noFill/>
        </p:spPr>
        <p:txBody>
          <a:bodyPr wrap="square" anchor="t" lIns="0" rIns="0" tIns="0" bIns="0">
            <a:spAutoFit/>
          </a:bodyPr>
          <a:lstStyle/>
          <a:p>
            <a:pPr algn="l">
              <a:lnSpc>
                <a:spcPct val="115000"/>
              </a:lnSpc>
            </a:pPr>
            <a:r>
              <a:rPr sz="1800" b="0">
                <a:solidFill>
                  <a:srgbClr val="1F2933"/>
                </a:solidFill>
                <a:latin typeface="맑은 고딕"/>
                <a:ea typeface="맑은 고딕"/>
                <a:cs typeface="맑은 고딕"/>
              </a:rPr>
              <a:t>“지금 초등학교에 입학하는 아이의 65%는, 지금은 없는 직업을 갖게 됩니다.”</a:t>
            </a:r>
          </a:p>
        </p:txBody>
      </p:sp>
      <p:sp>
        <p:nvSpPr>
          <p:cNvPr id="9" name="Rounded Rectangle 8"/>
          <p:cNvSpPr/>
          <p:nvPr/>
        </p:nvSpPr>
        <p:spPr>
          <a:xfrm>
            <a:off x="777240" y="3364992"/>
            <a:ext cx="3291840" cy="157276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069848" y="3584448"/>
            <a:ext cx="365760" cy="365760"/>
          </a:xfrm>
          <a:prstGeom prst="ellipse">
            <a:avLst/>
          </a:prstGeom>
          <a:solidFill>
            <a:srgbClr val="7B8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3639312"/>
            <a:ext cx="3657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1</a:t>
            </a:r>
          </a:p>
        </p:txBody>
      </p:sp>
      <p:sp>
        <p:nvSpPr>
          <p:cNvPr id="12" name="TextBox 11"/>
          <p:cNvSpPr txBox="1"/>
          <p:nvPr/>
        </p:nvSpPr>
        <p:spPr>
          <a:xfrm>
            <a:off x="1069848" y="4059935"/>
            <a:ext cx="2706624"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2016년 보고서에 실렸습니다</a:t>
            </a:r>
          </a:p>
        </p:txBody>
      </p:sp>
      <p:sp>
        <p:nvSpPr>
          <p:cNvPr id="13" name="TextBox 12"/>
          <p:cNvSpPr txBox="1"/>
          <p:nvPr/>
        </p:nvSpPr>
        <p:spPr>
          <a:xfrm>
            <a:off x="1069848" y="4443983"/>
            <a:ext cx="2706624"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세계경제포럼의 『직업의 미래』</a:t>
            </a:r>
          </a:p>
          <a:p>
            <a:pPr algn="l">
              <a:lnSpc>
                <a:spcPct val="130000"/>
              </a:lnSpc>
            </a:pPr>
            <a:r>
              <a:rPr sz="1250" b="0">
                <a:solidFill>
                  <a:srgbClr val="3E4C59"/>
                </a:solidFill>
                <a:latin typeface="맑은 고딕"/>
                <a:ea typeface="맑은 고딕"/>
                <a:cs typeface="맑은 고딕"/>
              </a:rPr>
              <a:t>보고서에 등장했습니다.</a:t>
            </a:r>
          </a:p>
        </p:txBody>
      </p:sp>
      <p:sp>
        <p:nvSpPr>
          <p:cNvPr id="14" name="Rounded Rectangle 13"/>
          <p:cNvSpPr/>
          <p:nvPr/>
        </p:nvSpPr>
        <p:spPr>
          <a:xfrm>
            <a:off x="4453128" y="3364992"/>
            <a:ext cx="3291840" cy="157276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745736" y="3584448"/>
            <a:ext cx="365760" cy="365760"/>
          </a:xfrm>
          <a:prstGeom prst="ellipse">
            <a:avLst/>
          </a:prstGeom>
          <a:solidFill>
            <a:srgbClr val="7B8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45736" y="3639312"/>
            <a:ext cx="3657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2</a:t>
            </a:r>
          </a:p>
        </p:txBody>
      </p:sp>
      <p:sp>
        <p:nvSpPr>
          <p:cNvPr id="17" name="TextBox 16"/>
          <p:cNvSpPr txBox="1"/>
          <p:nvPr/>
        </p:nvSpPr>
        <p:spPr>
          <a:xfrm>
            <a:off x="4745736" y="4059935"/>
            <a:ext cx="2706624"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직접 조사한 것이 아닙니다</a:t>
            </a:r>
          </a:p>
        </p:txBody>
      </p:sp>
      <p:sp>
        <p:nvSpPr>
          <p:cNvPr id="18" name="TextBox 17"/>
          <p:cNvSpPr txBox="1"/>
          <p:nvPr/>
        </p:nvSpPr>
        <p:spPr>
          <a:xfrm>
            <a:off x="4745736" y="4443983"/>
            <a:ext cx="2706624"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‘널리 인용되는 추정치’라고</a:t>
            </a:r>
          </a:p>
          <a:p>
            <a:pPr algn="l">
              <a:lnSpc>
                <a:spcPct val="130000"/>
              </a:lnSpc>
            </a:pPr>
            <a:r>
              <a:rPr sz="1250" b="0">
                <a:solidFill>
                  <a:srgbClr val="3E4C59"/>
                </a:solidFill>
                <a:latin typeface="맑은 고딕"/>
                <a:ea typeface="맑은 고딕"/>
                <a:cs typeface="맑은 고딕"/>
              </a:rPr>
              <a:t>소개되었을 뿐입니다.</a:t>
            </a:r>
          </a:p>
        </p:txBody>
      </p:sp>
      <p:sp>
        <p:nvSpPr>
          <p:cNvPr id="19" name="Rounded Rectangle 18"/>
          <p:cNvSpPr/>
          <p:nvPr/>
        </p:nvSpPr>
        <p:spPr>
          <a:xfrm>
            <a:off x="8129016" y="3364992"/>
            <a:ext cx="3291840" cy="1572768"/>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421624" y="3584448"/>
            <a:ext cx="365760" cy="365760"/>
          </a:xfrm>
          <a:prstGeom prst="ellipse">
            <a:avLst/>
          </a:prstGeom>
          <a:solidFill>
            <a:srgbClr val="7B8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3639312"/>
            <a:ext cx="3657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맑은 고딕"/>
                <a:ea typeface="맑은 고딕"/>
                <a:cs typeface="맑은 고딕"/>
              </a:rPr>
              <a:t>3</a:t>
            </a:r>
          </a:p>
        </p:txBody>
      </p:sp>
      <p:sp>
        <p:nvSpPr>
          <p:cNvPr id="22" name="TextBox 21"/>
          <p:cNvSpPr txBox="1"/>
          <p:nvPr/>
        </p:nvSpPr>
        <p:spPr>
          <a:xfrm>
            <a:off x="8421624" y="4059935"/>
            <a:ext cx="2706624" cy="36576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원 연구를 찾지 못했습니다</a:t>
            </a:r>
          </a:p>
        </p:txBody>
      </p:sp>
      <p:sp>
        <p:nvSpPr>
          <p:cNvPr id="23" name="TextBox 22"/>
          <p:cNvSpPr txBox="1"/>
          <p:nvPr/>
        </p:nvSpPr>
        <p:spPr>
          <a:xfrm>
            <a:off x="8421624" y="4443983"/>
            <a:ext cx="2706624" cy="548640"/>
          </a:xfrm>
          <a:prstGeom prst="rect">
            <a:avLst/>
          </a:prstGeom>
          <a:noFill/>
        </p:spPr>
        <p:txBody>
          <a:bodyPr wrap="square" anchor="t" lIns="0" rIns="0" tIns="0" bIns="0">
            <a:spAutoFit/>
          </a:bodyPr>
          <a:lstStyle/>
          <a:p>
            <a:pPr algn="l">
              <a:lnSpc>
                <a:spcPct val="130000"/>
              </a:lnSpc>
            </a:pPr>
            <a:r>
              <a:rPr sz="1250" b="0">
                <a:solidFill>
                  <a:srgbClr val="3E4C59"/>
                </a:solidFill>
                <a:latin typeface="맑은 고딕"/>
                <a:ea typeface="맑은 고딕"/>
                <a:cs typeface="맑은 고딕"/>
              </a:rPr>
              <a:t>교육 연구자들이 출처를</a:t>
            </a:r>
          </a:p>
          <a:p>
            <a:pPr algn="l">
              <a:lnSpc>
                <a:spcPct val="130000"/>
              </a:lnSpc>
            </a:pPr>
            <a:r>
              <a:rPr sz="1250" b="0">
                <a:solidFill>
                  <a:srgbClr val="3E4C59"/>
                </a:solidFill>
                <a:latin typeface="맑은 고딕"/>
                <a:ea typeface="맑은 고딕"/>
                <a:cs typeface="맑은 고딕"/>
              </a:rPr>
              <a:t>추적했지만 확인하지 못했습니다.</a:t>
            </a:r>
          </a:p>
        </p:txBody>
      </p:sp>
      <p:sp>
        <p:nvSpPr>
          <p:cNvPr id="24" name="Rounded Rectangle 23"/>
          <p:cNvSpPr/>
          <p:nvPr/>
        </p:nvSpPr>
        <p:spPr>
          <a:xfrm>
            <a:off x="777240" y="5193792"/>
            <a:ext cx="10637215" cy="96012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43000" y="5385816"/>
            <a:ext cx="9905695" cy="640080"/>
          </a:xfrm>
          <a:prstGeom prst="rect">
            <a:avLst/>
          </a:prstGeom>
          <a:noFill/>
        </p:spPr>
        <p:txBody>
          <a:bodyPr wrap="square" anchor="t" lIns="0" rIns="0" tIns="0" bIns="0">
            <a:spAutoFit/>
          </a:bodyPr>
          <a:lstStyle/>
          <a:p>
            <a:pPr algn="l">
              <a:lnSpc>
                <a:spcPct val="135000"/>
              </a:lnSpc>
              <a:spcAft>
                <a:spcPts val="400"/>
              </a:spcAft>
            </a:pPr>
            <a:r>
              <a:rPr sz="1450" b="1">
                <a:solidFill>
                  <a:srgbClr val="0E7C86"/>
                </a:solidFill>
                <a:latin typeface="맑은 고딕"/>
                <a:ea typeface="맑은 고딕"/>
                <a:cs typeface="맑은 고딕"/>
              </a:rPr>
              <a:t>그래서 오늘 이 연수에서는 이 수치를 쓰지 않았습니다.</a:t>
            </a:r>
          </a:p>
          <a:p>
            <a:pPr algn="l">
              <a:lnSpc>
                <a:spcPct val="135000"/>
              </a:lnSpc>
              <a:spcAft>
                <a:spcPts val="400"/>
              </a:spcAft>
            </a:pPr>
            <a:r>
              <a:rPr sz="1450" b="0">
                <a:solidFill>
                  <a:srgbClr val="3E4C59"/>
                </a:solidFill>
                <a:latin typeface="맑은 고딕"/>
                <a:ea typeface="맑은 고딕"/>
                <a:cs typeface="맑은 고딕"/>
              </a:rPr>
              <a:t>그럴듯하고 자주 인용될수록 출처를 봐야 합니다. 앞서 본 세 가지 질문이 이럴 때 쓰입니다.</a:t>
            </a:r>
          </a:p>
        </p:txBody>
      </p:sp>
      <p:sp>
        <p:nvSpPr>
          <p:cNvPr id="26" name="Rectangle 25"/>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2016년 세계경제포럼 보고서에 인용된 추정치 · 근거 추적 관련 논의</a:t>
            </a:r>
          </a:p>
        </p:txBody>
      </p:sp>
      <p:sp>
        <p:nvSpPr>
          <p:cNvPr id="28" name="TextBox 27"/>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37 / 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미래의 직업</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아이가 무엇이 될지는 아무도 모릅니다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세계경제포럼이 2030년까지로 내다본 변화입니다.</a:t>
            </a:r>
          </a:p>
        </p:txBody>
      </p:sp>
      <p:sp>
        <p:nvSpPr>
          <p:cNvPr id="6" name="Rounded Rectangle 5"/>
          <p:cNvSpPr/>
          <p:nvPr/>
        </p:nvSpPr>
        <p:spPr>
          <a:xfrm>
            <a:off x="777240" y="2194560"/>
            <a:ext cx="2453563" cy="205740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0120" y="2578608"/>
            <a:ext cx="2087803" cy="548640"/>
          </a:xfrm>
          <a:prstGeom prst="rect">
            <a:avLst/>
          </a:prstGeom>
          <a:noFill/>
        </p:spPr>
        <p:txBody>
          <a:bodyPr wrap="square" anchor="t" lIns="0" rIns="0" tIns="0" bIns="0">
            <a:spAutoFit/>
          </a:bodyPr>
          <a:lstStyle/>
          <a:p>
            <a:pPr algn="ctr">
              <a:lnSpc>
                <a:spcPct val="115000"/>
              </a:lnSpc>
            </a:pPr>
            <a:r>
              <a:rPr sz="2700" b="1">
                <a:solidFill>
                  <a:srgbClr val="1D4ED8"/>
                </a:solidFill>
                <a:latin typeface="맑은 고딕"/>
                <a:ea typeface="맑은 고딕"/>
                <a:cs typeface="맑은 고딕"/>
              </a:rPr>
              <a:t>1억 7천만 개</a:t>
            </a:r>
          </a:p>
        </p:txBody>
      </p:sp>
      <p:sp>
        <p:nvSpPr>
          <p:cNvPr id="8" name="TextBox 7"/>
          <p:cNvSpPr txBox="1"/>
          <p:nvPr/>
        </p:nvSpPr>
        <p:spPr>
          <a:xfrm>
            <a:off x="960120" y="3310128"/>
            <a:ext cx="2087803" cy="640080"/>
          </a:xfrm>
          <a:prstGeom prst="rect">
            <a:avLst/>
          </a:prstGeom>
          <a:noFill/>
        </p:spPr>
        <p:txBody>
          <a:bodyPr wrap="square" anchor="t" lIns="0" rIns="0" tIns="0" bIns="0">
            <a:spAutoFit/>
          </a:bodyPr>
          <a:lstStyle/>
          <a:p>
            <a:pPr algn="ctr">
              <a:lnSpc>
                <a:spcPct val="130000"/>
              </a:lnSpc>
            </a:pPr>
            <a:r>
              <a:rPr sz="1350" b="0">
                <a:solidFill>
                  <a:srgbClr val="3E4C59"/>
                </a:solidFill>
                <a:latin typeface="맑은 고딕"/>
                <a:ea typeface="맑은 고딕"/>
                <a:cs typeface="맑은 고딕"/>
              </a:rPr>
              <a:t>새로 생기는 일자리</a:t>
            </a:r>
          </a:p>
        </p:txBody>
      </p:sp>
      <p:sp>
        <p:nvSpPr>
          <p:cNvPr id="9" name="Rounded Rectangle 8"/>
          <p:cNvSpPr/>
          <p:nvPr/>
        </p:nvSpPr>
        <p:spPr>
          <a:xfrm>
            <a:off x="3505123" y="2194560"/>
            <a:ext cx="2453563" cy="20574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88003" y="2578608"/>
            <a:ext cx="2087803" cy="548640"/>
          </a:xfrm>
          <a:prstGeom prst="rect">
            <a:avLst/>
          </a:prstGeom>
          <a:noFill/>
        </p:spPr>
        <p:txBody>
          <a:bodyPr wrap="square" anchor="t" lIns="0" rIns="0" tIns="0" bIns="0">
            <a:spAutoFit/>
          </a:bodyPr>
          <a:lstStyle/>
          <a:p>
            <a:pPr algn="ctr">
              <a:lnSpc>
                <a:spcPct val="115000"/>
              </a:lnSpc>
            </a:pPr>
            <a:r>
              <a:rPr sz="2700" b="1">
                <a:solidFill>
                  <a:srgbClr val="1F2933"/>
                </a:solidFill>
                <a:latin typeface="맑은 고딕"/>
                <a:ea typeface="맑은 고딕"/>
                <a:cs typeface="맑은 고딕"/>
              </a:rPr>
              <a:t>9,200만 개</a:t>
            </a:r>
          </a:p>
        </p:txBody>
      </p:sp>
      <p:sp>
        <p:nvSpPr>
          <p:cNvPr id="11" name="TextBox 10"/>
          <p:cNvSpPr txBox="1"/>
          <p:nvPr/>
        </p:nvSpPr>
        <p:spPr>
          <a:xfrm>
            <a:off x="3688003" y="3310128"/>
            <a:ext cx="2087803" cy="640080"/>
          </a:xfrm>
          <a:prstGeom prst="rect">
            <a:avLst/>
          </a:prstGeom>
          <a:noFill/>
        </p:spPr>
        <p:txBody>
          <a:bodyPr wrap="square" anchor="t" lIns="0" rIns="0" tIns="0" bIns="0">
            <a:spAutoFit/>
          </a:bodyPr>
          <a:lstStyle/>
          <a:p>
            <a:pPr algn="ctr">
              <a:lnSpc>
                <a:spcPct val="130000"/>
              </a:lnSpc>
            </a:pPr>
            <a:r>
              <a:rPr sz="1350" b="0">
                <a:solidFill>
                  <a:srgbClr val="3E4C59"/>
                </a:solidFill>
                <a:latin typeface="맑은 고딕"/>
                <a:ea typeface="맑은 고딕"/>
                <a:cs typeface="맑은 고딕"/>
              </a:rPr>
              <a:t>사라지는 일자리</a:t>
            </a:r>
          </a:p>
        </p:txBody>
      </p:sp>
      <p:sp>
        <p:nvSpPr>
          <p:cNvPr id="12" name="Rounded Rectangle 11"/>
          <p:cNvSpPr/>
          <p:nvPr/>
        </p:nvSpPr>
        <p:spPr>
          <a:xfrm>
            <a:off x="6233007" y="2194560"/>
            <a:ext cx="2453563" cy="20574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15887" y="2578608"/>
            <a:ext cx="2087803" cy="548640"/>
          </a:xfrm>
          <a:prstGeom prst="rect">
            <a:avLst/>
          </a:prstGeom>
          <a:noFill/>
        </p:spPr>
        <p:txBody>
          <a:bodyPr wrap="square" anchor="t" lIns="0" rIns="0" tIns="0" bIns="0">
            <a:spAutoFit/>
          </a:bodyPr>
          <a:lstStyle/>
          <a:p>
            <a:pPr algn="ctr">
              <a:lnSpc>
                <a:spcPct val="115000"/>
              </a:lnSpc>
            </a:pPr>
            <a:r>
              <a:rPr sz="2700" b="1">
                <a:solidFill>
                  <a:srgbClr val="0E7C86"/>
                </a:solidFill>
                <a:latin typeface="맑은 고딕"/>
                <a:ea typeface="맑은 고딕"/>
                <a:cs typeface="맑은 고딕"/>
              </a:rPr>
              <a:t>22%</a:t>
            </a:r>
          </a:p>
        </p:txBody>
      </p:sp>
      <p:sp>
        <p:nvSpPr>
          <p:cNvPr id="14" name="TextBox 13"/>
          <p:cNvSpPr txBox="1"/>
          <p:nvPr/>
        </p:nvSpPr>
        <p:spPr>
          <a:xfrm>
            <a:off x="6415887" y="3310128"/>
            <a:ext cx="2087803" cy="640080"/>
          </a:xfrm>
          <a:prstGeom prst="rect">
            <a:avLst/>
          </a:prstGeom>
          <a:noFill/>
        </p:spPr>
        <p:txBody>
          <a:bodyPr wrap="square" anchor="t" lIns="0" rIns="0" tIns="0" bIns="0">
            <a:spAutoFit/>
          </a:bodyPr>
          <a:lstStyle/>
          <a:p>
            <a:pPr algn="ctr">
              <a:lnSpc>
                <a:spcPct val="130000"/>
              </a:lnSpc>
            </a:pPr>
            <a:r>
              <a:rPr sz="1350" b="0">
                <a:solidFill>
                  <a:srgbClr val="3E4C59"/>
                </a:solidFill>
                <a:latin typeface="맑은 고딕"/>
                <a:ea typeface="맑은 고딕"/>
                <a:cs typeface="맑은 고딕"/>
              </a:rPr>
              <a:t>일자리 지형이</a:t>
            </a:r>
          </a:p>
          <a:p>
            <a:pPr algn="ctr">
              <a:lnSpc>
                <a:spcPct val="130000"/>
              </a:lnSpc>
            </a:pPr>
            <a:r>
              <a:rPr sz="1350" b="0">
                <a:solidFill>
                  <a:srgbClr val="3E4C59"/>
                </a:solidFill>
                <a:latin typeface="맑은 고딕"/>
                <a:ea typeface="맑은 고딕"/>
                <a:cs typeface="맑은 고딕"/>
              </a:rPr>
              <a:t>바뀌는 비율</a:t>
            </a:r>
          </a:p>
        </p:txBody>
      </p:sp>
      <p:sp>
        <p:nvSpPr>
          <p:cNvPr id="15" name="Rounded Rectangle 14"/>
          <p:cNvSpPr/>
          <p:nvPr/>
        </p:nvSpPr>
        <p:spPr>
          <a:xfrm>
            <a:off x="8960891" y="2194560"/>
            <a:ext cx="2453563" cy="205740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143771" y="2578608"/>
            <a:ext cx="2087803" cy="548640"/>
          </a:xfrm>
          <a:prstGeom prst="rect">
            <a:avLst/>
          </a:prstGeom>
          <a:noFill/>
        </p:spPr>
        <p:txBody>
          <a:bodyPr wrap="square" anchor="t" lIns="0" rIns="0" tIns="0" bIns="0">
            <a:spAutoFit/>
          </a:bodyPr>
          <a:lstStyle/>
          <a:p>
            <a:pPr algn="ctr">
              <a:lnSpc>
                <a:spcPct val="115000"/>
              </a:lnSpc>
            </a:pPr>
            <a:r>
              <a:rPr sz="2700" b="1">
                <a:solidFill>
                  <a:srgbClr val="0E7C86"/>
                </a:solidFill>
                <a:latin typeface="맑은 고딕"/>
                <a:ea typeface="맑은 고딕"/>
                <a:cs typeface="맑은 고딕"/>
              </a:rPr>
              <a:t>40%</a:t>
            </a:r>
          </a:p>
        </p:txBody>
      </p:sp>
      <p:sp>
        <p:nvSpPr>
          <p:cNvPr id="17" name="TextBox 16"/>
          <p:cNvSpPr txBox="1"/>
          <p:nvPr/>
        </p:nvSpPr>
        <p:spPr>
          <a:xfrm>
            <a:off x="9143771" y="3310128"/>
            <a:ext cx="2087803" cy="640080"/>
          </a:xfrm>
          <a:prstGeom prst="rect">
            <a:avLst/>
          </a:prstGeom>
          <a:noFill/>
        </p:spPr>
        <p:txBody>
          <a:bodyPr wrap="square" anchor="t" lIns="0" rIns="0" tIns="0" bIns="0">
            <a:spAutoFit/>
          </a:bodyPr>
          <a:lstStyle/>
          <a:p>
            <a:pPr algn="ctr">
              <a:lnSpc>
                <a:spcPct val="130000"/>
              </a:lnSpc>
            </a:pPr>
            <a:r>
              <a:rPr sz="1350" b="0">
                <a:solidFill>
                  <a:srgbClr val="3E4C59"/>
                </a:solidFill>
                <a:latin typeface="맑은 고딕"/>
                <a:ea typeface="맑은 고딕"/>
                <a:cs typeface="맑은 고딕"/>
              </a:rPr>
              <a:t>직무에 필요한 기술 중</a:t>
            </a:r>
          </a:p>
          <a:p>
            <a:pPr algn="ctr">
              <a:lnSpc>
                <a:spcPct val="130000"/>
              </a:lnSpc>
            </a:pPr>
            <a:r>
              <a:rPr sz="1350" b="0">
                <a:solidFill>
                  <a:srgbClr val="3E4C59"/>
                </a:solidFill>
                <a:latin typeface="맑은 고딕"/>
                <a:ea typeface="맑은 고딕"/>
                <a:cs typeface="맑은 고딕"/>
              </a:rPr>
              <a:t>바뀌는 비율</a:t>
            </a:r>
          </a:p>
        </p:txBody>
      </p:sp>
      <p:sp>
        <p:nvSpPr>
          <p:cNvPr id="18" name="Rounded Rectangle 17"/>
          <p:cNvSpPr/>
          <p:nvPr/>
        </p:nvSpPr>
        <p:spPr>
          <a:xfrm>
            <a:off x="777240" y="4526280"/>
            <a:ext cx="10637215" cy="1463040"/>
          </a:xfrm>
          <a:prstGeom prst="roundRect">
            <a:avLst>
              <a:gd name="adj" fmla="val 10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234440" y="4754880"/>
            <a:ext cx="9722815" cy="457200"/>
          </a:xfrm>
          <a:prstGeom prst="rect">
            <a:avLst/>
          </a:prstGeom>
          <a:noFill/>
        </p:spPr>
        <p:txBody>
          <a:bodyPr wrap="square" anchor="t" lIns="0" rIns="0" tIns="0" bIns="0">
            <a:spAutoFit/>
          </a:bodyPr>
          <a:lstStyle/>
          <a:p>
            <a:pPr algn="l">
              <a:lnSpc>
                <a:spcPct val="115000"/>
              </a:lnSpc>
            </a:pPr>
            <a:r>
              <a:rPr sz="1700" b="1">
                <a:solidFill>
                  <a:srgbClr val="FFFFFF"/>
                </a:solidFill>
                <a:latin typeface="맑은 고딕"/>
                <a:ea typeface="맑은 고딕"/>
                <a:cs typeface="맑은 고딕"/>
              </a:rPr>
              <a:t>직업을 정해 주는 대신, 바뀌는 환경에 적응할 힘을 길러 주는 편이 안전합니다.</a:t>
            </a:r>
          </a:p>
        </p:txBody>
      </p:sp>
      <p:sp>
        <p:nvSpPr>
          <p:cNvPr id="20" name="TextBox 19"/>
          <p:cNvSpPr txBox="1"/>
          <p:nvPr/>
        </p:nvSpPr>
        <p:spPr>
          <a:xfrm>
            <a:off x="1234440" y="5321808"/>
            <a:ext cx="9722815" cy="502920"/>
          </a:xfrm>
          <a:prstGeom prst="rect">
            <a:avLst/>
          </a:prstGeom>
          <a:noFill/>
        </p:spPr>
        <p:txBody>
          <a:bodyPr wrap="square" anchor="t" lIns="0" rIns="0" tIns="0" bIns="0">
            <a:spAutoFit/>
          </a:bodyPr>
          <a:lstStyle/>
          <a:p>
            <a:pPr algn="l">
              <a:lnSpc>
                <a:spcPct val="140000"/>
              </a:lnSpc>
            </a:pPr>
            <a:r>
              <a:rPr sz="1350" b="0">
                <a:solidFill>
                  <a:srgbClr val="FFFFFF"/>
                </a:solidFill>
                <a:latin typeface="맑은 고딕"/>
                <a:ea typeface="맑은 고딕"/>
                <a:cs typeface="맑은 고딕"/>
              </a:rPr>
              <a:t>오늘 배운 것이 10년 뒤에도 쓰일지는 모릅니다. 그러나 ‘모르는 것을 스스로 알아내는 방법’은</a:t>
            </a:r>
          </a:p>
          <a:p>
            <a:pPr algn="l">
              <a:lnSpc>
                <a:spcPct val="140000"/>
              </a:lnSpc>
            </a:pPr>
            <a:r>
              <a:rPr sz="1350" b="0">
                <a:solidFill>
                  <a:srgbClr val="FFFFFF"/>
                </a:solidFill>
                <a:latin typeface="맑은 고딕"/>
                <a:ea typeface="맑은 고딕"/>
                <a:cs typeface="맑은 고딕"/>
              </a:rPr>
              <a:t>직업이 바뀌어도 그대로 쓰입니다. 다음 장에 무엇부터 가르칠지 정리했습니다.</a:t>
            </a:r>
          </a:p>
        </p:txBody>
      </p:sp>
      <p:sp>
        <p:nvSpPr>
          <p:cNvPr id="21" name="Rectangle 20"/>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출처: World Economic Forum, The Future of Jobs Report 2025</a:t>
            </a:r>
          </a:p>
        </p:txBody>
      </p:sp>
      <p:sp>
        <p:nvSpPr>
          <p:cNvPr id="23" name="TextBox 22"/>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38 /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준비시킬 것</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도구는 아래층부터 쌓아야 합니다</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AI는 맨 위에 올라가는 층입니다. 아래가 비어 있으면 올릴 자리가 없습니다.</a:t>
            </a:r>
          </a:p>
        </p:txBody>
      </p:sp>
      <p:sp>
        <p:nvSpPr>
          <p:cNvPr id="6" name="Rounded Rectangle 5"/>
          <p:cNvSpPr/>
          <p:nvPr/>
        </p:nvSpPr>
        <p:spPr>
          <a:xfrm>
            <a:off x="2788920" y="2103120"/>
            <a:ext cx="3017520" cy="54864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88920" y="2231136"/>
            <a:ext cx="3017520" cy="320040"/>
          </a:xfrm>
          <a:prstGeom prst="rect">
            <a:avLst/>
          </a:prstGeom>
          <a:noFill/>
        </p:spPr>
        <p:txBody>
          <a:bodyPr wrap="square" anchor="t" lIns="0" rIns="0" tIns="0" bIns="0">
            <a:spAutoFit/>
          </a:bodyPr>
          <a:lstStyle/>
          <a:p>
            <a:pPr algn="ctr">
              <a:lnSpc>
                <a:spcPct val="115000"/>
              </a:lnSpc>
            </a:pPr>
            <a:r>
              <a:rPr sz="1700" b="1">
                <a:solidFill>
                  <a:srgbClr val="FFFFFF"/>
                </a:solidFill>
                <a:latin typeface="맑은 고딕"/>
                <a:ea typeface="맑은 고딕"/>
                <a:cs typeface="맑은 고딕"/>
              </a:rPr>
              <a:t>AI</a:t>
            </a:r>
          </a:p>
        </p:txBody>
      </p:sp>
      <p:sp>
        <p:nvSpPr>
          <p:cNvPr id="8" name="Rounded Rectangle 7"/>
          <p:cNvSpPr/>
          <p:nvPr/>
        </p:nvSpPr>
        <p:spPr>
          <a:xfrm>
            <a:off x="2057400" y="2724912"/>
            <a:ext cx="4480560" cy="804672"/>
          </a:xfrm>
          <a:prstGeom prst="roundRect">
            <a:avLst>
              <a:gd name="adj" fmla="val 6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331720" y="2852928"/>
            <a:ext cx="3931920" cy="274320"/>
          </a:xfrm>
          <a:prstGeom prst="rect">
            <a:avLst/>
          </a:prstGeom>
          <a:noFill/>
        </p:spPr>
        <p:txBody>
          <a:bodyPr wrap="square" anchor="t" lIns="0" rIns="0" tIns="0" bIns="0">
            <a:spAutoFit/>
          </a:bodyPr>
          <a:lstStyle/>
          <a:p>
            <a:pPr algn="l">
              <a:lnSpc>
                <a:spcPct val="115000"/>
              </a:lnSpc>
            </a:pPr>
            <a:r>
              <a:rPr sz="1500" b="1">
                <a:solidFill>
                  <a:srgbClr val="1F2933"/>
                </a:solidFill>
                <a:latin typeface="맑은 고딕"/>
                <a:ea typeface="맑은 고딕"/>
                <a:cs typeface="맑은 고딕"/>
              </a:rPr>
              <a:t>3층  표현</a:t>
            </a:r>
          </a:p>
        </p:txBody>
      </p:sp>
      <p:sp>
        <p:nvSpPr>
          <p:cNvPr id="10" name="TextBox 9"/>
          <p:cNvSpPr txBox="1"/>
          <p:nvPr/>
        </p:nvSpPr>
        <p:spPr>
          <a:xfrm>
            <a:off x="2331720" y="3163824"/>
            <a:ext cx="3931920" cy="274320"/>
          </a:xfrm>
          <a:prstGeom prst="rect">
            <a:avLst/>
          </a:prstGeom>
          <a:noFill/>
        </p:spPr>
        <p:txBody>
          <a:bodyPr wrap="square" anchor="t" lIns="0" rIns="0" tIns="0" bIns="0">
            <a:spAutoFit/>
          </a:bodyPr>
          <a:lstStyle/>
          <a:p>
            <a:pPr algn="l">
              <a:lnSpc>
                <a:spcPct val="115000"/>
              </a:lnSpc>
            </a:pPr>
            <a:r>
              <a:rPr sz="1150" b="0">
                <a:solidFill>
                  <a:srgbClr val="1F2933"/>
                </a:solidFill>
                <a:latin typeface="맑은 고딕"/>
                <a:ea typeface="맑은 고딕"/>
                <a:cs typeface="맑은 고딕"/>
              </a:rPr>
              <a:t>초 5~6학년 · 슬라이드, 짧은 영상 편집, 발표</a:t>
            </a:r>
          </a:p>
        </p:txBody>
      </p:sp>
      <p:sp>
        <p:nvSpPr>
          <p:cNvPr id="11" name="Rounded Rectangle 10"/>
          <p:cNvSpPr/>
          <p:nvPr/>
        </p:nvSpPr>
        <p:spPr>
          <a:xfrm>
            <a:off x="1463040" y="3584448"/>
            <a:ext cx="5669280" cy="804672"/>
          </a:xfrm>
          <a:prstGeom prst="roundRect">
            <a:avLst>
              <a:gd name="adj" fmla="val 6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737360" y="3712463"/>
            <a:ext cx="5120640" cy="274320"/>
          </a:xfrm>
          <a:prstGeom prst="rect">
            <a:avLst/>
          </a:prstGeom>
          <a:noFill/>
        </p:spPr>
        <p:txBody>
          <a:bodyPr wrap="square" anchor="t" lIns="0" rIns="0" tIns="0" bIns="0">
            <a:spAutoFit/>
          </a:bodyPr>
          <a:lstStyle/>
          <a:p>
            <a:pPr algn="l">
              <a:lnSpc>
                <a:spcPct val="115000"/>
              </a:lnSpc>
            </a:pPr>
            <a:r>
              <a:rPr sz="1500" b="1">
                <a:solidFill>
                  <a:srgbClr val="FFFFFF"/>
                </a:solidFill>
                <a:latin typeface="맑은 고딕"/>
                <a:ea typeface="맑은 고딕"/>
                <a:cs typeface="맑은 고딕"/>
              </a:rPr>
              <a:t>2층  정리</a:t>
            </a:r>
          </a:p>
        </p:txBody>
      </p:sp>
      <p:sp>
        <p:nvSpPr>
          <p:cNvPr id="13" name="TextBox 12"/>
          <p:cNvSpPr txBox="1"/>
          <p:nvPr/>
        </p:nvSpPr>
        <p:spPr>
          <a:xfrm>
            <a:off x="1737360" y="4023360"/>
            <a:ext cx="5120640" cy="274320"/>
          </a:xfrm>
          <a:prstGeom prst="rect">
            <a:avLst/>
          </a:prstGeom>
          <a:noFill/>
        </p:spPr>
        <p:txBody>
          <a:bodyPr wrap="square" anchor="t" lIns="0" rIns="0" tIns="0" bIns="0">
            <a:spAutoFit/>
          </a:bodyPr>
          <a:lstStyle/>
          <a:p>
            <a:pPr algn="l">
              <a:lnSpc>
                <a:spcPct val="115000"/>
              </a:lnSpc>
            </a:pPr>
            <a:r>
              <a:rPr sz="1150" b="0">
                <a:solidFill>
                  <a:srgbClr val="FFFFFF"/>
                </a:solidFill>
                <a:latin typeface="맑은 고딕"/>
                <a:ea typeface="맑은 고딕"/>
                <a:cs typeface="맑은 고딕"/>
              </a:rPr>
              <a:t>초 5학년~ · 표 만들기 기초(합계·차트), 마인드맵</a:t>
            </a:r>
          </a:p>
        </p:txBody>
      </p:sp>
      <p:sp>
        <p:nvSpPr>
          <p:cNvPr id="14" name="Rounded Rectangle 13"/>
          <p:cNvSpPr/>
          <p:nvPr/>
        </p:nvSpPr>
        <p:spPr>
          <a:xfrm>
            <a:off x="868680" y="4443983"/>
            <a:ext cx="6858000" cy="804672"/>
          </a:xfrm>
          <a:prstGeom prst="roundRect">
            <a:avLst>
              <a:gd name="adj" fmla="val 6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43000" y="4571999"/>
            <a:ext cx="6309360" cy="274320"/>
          </a:xfrm>
          <a:prstGeom prst="rect">
            <a:avLst/>
          </a:prstGeom>
          <a:noFill/>
        </p:spPr>
        <p:txBody>
          <a:bodyPr wrap="square" anchor="t" lIns="0" rIns="0" tIns="0" bIns="0">
            <a:spAutoFit/>
          </a:bodyPr>
          <a:lstStyle/>
          <a:p>
            <a:pPr algn="l">
              <a:lnSpc>
                <a:spcPct val="115000"/>
              </a:lnSpc>
            </a:pPr>
            <a:r>
              <a:rPr sz="1500" b="1">
                <a:solidFill>
                  <a:srgbClr val="FFFFFF"/>
                </a:solidFill>
                <a:latin typeface="맑은 고딕"/>
                <a:ea typeface="맑은 고딕"/>
                <a:cs typeface="맑은 고딕"/>
              </a:rPr>
              <a:t>1층  기록</a:t>
            </a:r>
          </a:p>
        </p:txBody>
      </p:sp>
      <p:sp>
        <p:nvSpPr>
          <p:cNvPr id="16" name="TextBox 15"/>
          <p:cNvSpPr txBox="1"/>
          <p:nvPr/>
        </p:nvSpPr>
        <p:spPr>
          <a:xfrm>
            <a:off x="1143000" y="4882896"/>
            <a:ext cx="6309360" cy="274320"/>
          </a:xfrm>
          <a:prstGeom prst="rect">
            <a:avLst/>
          </a:prstGeom>
          <a:noFill/>
        </p:spPr>
        <p:txBody>
          <a:bodyPr wrap="square" anchor="t" lIns="0" rIns="0" tIns="0" bIns="0">
            <a:spAutoFit/>
          </a:bodyPr>
          <a:lstStyle/>
          <a:p>
            <a:pPr algn="l">
              <a:lnSpc>
                <a:spcPct val="115000"/>
              </a:lnSpc>
            </a:pPr>
            <a:r>
              <a:rPr sz="1150" b="0">
                <a:solidFill>
                  <a:srgbClr val="FFFFFF"/>
                </a:solidFill>
                <a:latin typeface="맑은 고딕"/>
                <a:ea typeface="맑은 고딕"/>
                <a:cs typeface="맑은 고딕"/>
              </a:rPr>
              <a:t>초 3학년~ · 한글 자판, 메모 앱, 사진과 파일 정리</a:t>
            </a:r>
          </a:p>
        </p:txBody>
      </p:sp>
      <p:sp>
        <p:nvSpPr>
          <p:cNvPr id="17" name="Rounded Rectangle 16"/>
          <p:cNvSpPr/>
          <p:nvPr/>
        </p:nvSpPr>
        <p:spPr>
          <a:xfrm>
            <a:off x="8001000" y="2103120"/>
            <a:ext cx="3413455" cy="320040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93608" y="2331720"/>
            <a:ext cx="2828239"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가장 과소평가된 기술</a:t>
            </a:r>
          </a:p>
        </p:txBody>
      </p:sp>
      <p:sp>
        <p:nvSpPr>
          <p:cNvPr id="19" name="TextBox 18"/>
          <p:cNvSpPr txBox="1"/>
          <p:nvPr/>
        </p:nvSpPr>
        <p:spPr>
          <a:xfrm>
            <a:off x="8293608" y="2670048"/>
            <a:ext cx="2828239" cy="365760"/>
          </a:xfrm>
          <a:prstGeom prst="rect">
            <a:avLst/>
          </a:prstGeom>
          <a:noFill/>
        </p:spPr>
        <p:txBody>
          <a:bodyPr wrap="square" anchor="t" lIns="0" rIns="0" tIns="0" bIns="0">
            <a:spAutoFit/>
          </a:bodyPr>
          <a:lstStyle/>
          <a:p>
            <a:pPr algn="l">
              <a:lnSpc>
                <a:spcPct val="115000"/>
              </a:lnSpc>
            </a:pPr>
            <a:r>
              <a:rPr sz="1700" b="1">
                <a:solidFill>
                  <a:srgbClr val="1F2933"/>
                </a:solidFill>
                <a:latin typeface="맑은 고딕"/>
                <a:ea typeface="맑은 고딕"/>
                <a:cs typeface="맑은 고딕"/>
              </a:rPr>
              <a:t>타자와 검색어 만들기</a:t>
            </a:r>
          </a:p>
        </p:txBody>
      </p:sp>
      <p:sp>
        <p:nvSpPr>
          <p:cNvPr id="20" name="TextBox 19"/>
          <p:cNvSpPr txBox="1"/>
          <p:nvPr/>
        </p:nvSpPr>
        <p:spPr>
          <a:xfrm>
            <a:off x="8293608" y="3127248"/>
            <a:ext cx="2828239" cy="82296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궁금한 것을 짧은 문장으로</a:t>
            </a:r>
          </a:p>
          <a:p>
            <a:pPr algn="l">
              <a:lnSpc>
                <a:spcPct val="135000"/>
              </a:lnSpc>
            </a:pPr>
            <a:r>
              <a:rPr sz="1300" b="0">
                <a:solidFill>
                  <a:srgbClr val="3E4C59"/>
                </a:solidFill>
                <a:latin typeface="맑은 고딕"/>
                <a:ea typeface="맑은 고딕"/>
                <a:cs typeface="맑은 고딕"/>
              </a:rPr>
              <a:t>옮기는 힘이 곧 프롬프트</a:t>
            </a:r>
          </a:p>
          <a:p>
            <a:pPr algn="l">
              <a:lnSpc>
                <a:spcPct val="135000"/>
              </a:lnSpc>
            </a:pPr>
            <a:r>
              <a:rPr sz="1300" b="0">
                <a:solidFill>
                  <a:srgbClr val="3E4C59"/>
                </a:solidFill>
                <a:latin typeface="맑은 고딕"/>
                <a:ea typeface="맑은 고딕"/>
                <a:cs typeface="맑은 고딕"/>
              </a:rPr>
              <a:t>실력이 됩니다.</a:t>
            </a:r>
          </a:p>
        </p:txBody>
      </p:sp>
      <p:sp>
        <p:nvSpPr>
          <p:cNvPr id="21" name="Rectangle 20"/>
          <p:cNvSpPr/>
          <p:nvPr/>
        </p:nvSpPr>
        <p:spPr>
          <a:xfrm>
            <a:off x="8293608" y="4069080"/>
            <a:ext cx="2828239"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4251960"/>
            <a:ext cx="2828239" cy="274320"/>
          </a:xfrm>
          <a:prstGeom prst="rect">
            <a:avLst/>
          </a:prstGeom>
          <a:noFill/>
        </p:spPr>
        <p:txBody>
          <a:bodyPr wrap="square" anchor="t" lIns="0" rIns="0" tIns="0" bIns="0">
            <a:spAutoFit/>
          </a:bodyPr>
          <a:lstStyle/>
          <a:p>
            <a:pPr algn="l">
              <a:lnSpc>
                <a:spcPct val="115000"/>
              </a:lnSpc>
            </a:pPr>
            <a:r>
              <a:rPr sz="1200" b="1">
                <a:solidFill>
                  <a:srgbClr val="0E7C86"/>
                </a:solidFill>
                <a:latin typeface="맑은 고딕"/>
                <a:ea typeface="맑은 고딕"/>
                <a:cs typeface="맑은 고딕"/>
              </a:rPr>
              <a:t>모든 층에 걸치는 두 가지</a:t>
            </a:r>
          </a:p>
        </p:txBody>
      </p:sp>
      <p:sp>
        <p:nvSpPr>
          <p:cNvPr id="23" name="TextBox 22"/>
          <p:cNvSpPr txBox="1"/>
          <p:nvPr/>
        </p:nvSpPr>
        <p:spPr>
          <a:xfrm>
            <a:off x="8293608" y="4553712"/>
            <a:ext cx="2828239" cy="548640"/>
          </a:xfrm>
          <a:prstGeom prst="rect">
            <a:avLst/>
          </a:prstGeom>
          <a:noFill/>
        </p:spPr>
        <p:txBody>
          <a:bodyPr wrap="square" anchor="t" lIns="0" rIns="0" tIns="0" bIns="0">
            <a:spAutoFit/>
          </a:bodyPr>
          <a:lstStyle/>
          <a:p>
            <a:pPr algn="l">
              <a:lnSpc>
                <a:spcPct val="135000"/>
              </a:lnSpc>
            </a:pPr>
            <a:r>
              <a:rPr sz="1350" b="0">
                <a:solidFill>
                  <a:srgbClr val="1F2933"/>
                </a:solidFill>
                <a:latin typeface="맑은 고딕"/>
                <a:ea typeface="맑은 고딕"/>
                <a:cs typeface="맑은 고딕"/>
              </a:rPr>
              <a:t>· 출처 표시하기</a:t>
            </a:r>
          </a:p>
          <a:p>
            <a:pPr algn="l">
              <a:lnSpc>
                <a:spcPct val="135000"/>
              </a:lnSpc>
            </a:pPr>
            <a:r>
              <a:rPr sz="1350" b="0">
                <a:solidFill>
                  <a:srgbClr val="1F2933"/>
                </a:solidFill>
                <a:latin typeface="맑은 고딕"/>
                <a:ea typeface="맑은 고딕"/>
                <a:cs typeface="맑은 고딕"/>
              </a:rPr>
              <a:t>· 개인정보 관리하기</a:t>
            </a:r>
          </a:p>
        </p:txBody>
      </p:sp>
      <p:sp>
        <p:nvSpPr>
          <p:cNvPr id="24" name="Rounded Rectangle 23"/>
          <p:cNvSpPr/>
          <p:nvPr/>
        </p:nvSpPr>
        <p:spPr>
          <a:xfrm>
            <a:off x="777240" y="5468112"/>
            <a:ext cx="10637215" cy="749808"/>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43000" y="5650992"/>
            <a:ext cx="9905695" cy="411480"/>
          </a:xfrm>
          <a:prstGeom prst="rect">
            <a:avLst/>
          </a:prstGeom>
          <a:noFill/>
        </p:spPr>
        <p:txBody>
          <a:bodyPr wrap="square" anchor="t" lIns="0" rIns="0" tIns="0" bIns="0">
            <a:spAutoFit/>
          </a:bodyPr>
          <a:lstStyle/>
          <a:p>
            <a:pPr algn="l">
              <a:lnSpc>
                <a:spcPct val="115000"/>
              </a:lnSpc>
            </a:pPr>
            <a:r>
              <a:rPr sz="1550" b="1">
                <a:solidFill>
                  <a:srgbClr val="0E7C86"/>
                </a:solidFill>
                <a:latin typeface="맑은 고딕"/>
                <a:ea typeface="맑은 고딕"/>
                <a:cs typeface="맑은 고딕"/>
              </a:rPr>
              <a:t>1층이 부실한 채로 AI만 얹으면, 아이는 결과만 받고 과정을 잃습니다.</a:t>
            </a:r>
          </a:p>
        </p:txBody>
      </p:sp>
      <p:sp>
        <p:nvSpPr>
          <p:cNvPr id="26" name="Rectangle 25"/>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39 / 43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문제가 생겼을 때</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아이가 보여준 이상한 답변, 어떻게 반응할까요?</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무섭거나 불쾌한 내용을 만났을 때의 순서입니다.</a:t>
            </a:r>
          </a:p>
        </p:txBody>
      </p:sp>
      <p:sp>
        <p:nvSpPr>
          <p:cNvPr id="6" name="Rounded Rectangle 5"/>
          <p:cNvSpPr/>
          <p:nvPr/>
        </p:nvSpPr>
        <p:spPr>
          <a:xfrm>
            <a:off x="777240" y="2176272"/>
            <a:ext cx="3291840" cy="20116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69848" y="2395728"/>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1</a:t>
            </a:r>
          </a:p>
        </p:txBody>
      </p:sp>
      <p:sp>
        <p:nvSpPr>
          <p:cNvPr id="9" name="TextBox 8"/>
          <p:cNvSpPr txBox="1"/>
          <p:nvPr/>
        </p:nvSpPr>
        <p:spPr>
          <a:xfrm>
            <a:off x="1069848" y="2907792"/>
            <a:ext cx="2706624"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닫기</a:t>
            </a:r>
          </a:p>
        </p:txBody>
      </p:sp>
      <p:sp>
        <p:nvSpPr>
          <p:cNvPr id="10" name="TextBox 9"/>
          <p:cNvSpPr txBox="1"/>
          <p:nvPr/>
        </p:nvSpPr>
        <p:spPr>
          <a:xfrm>
            <a:off x="1069848" y="3364992"/>
            <a:ext cx="2706624" cy="6858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그 화면을 바로 닫습니다.</a:t>
            </a:r>
          </a:p>
          <a:p>
            <a:pPr algn="l">
              <a:lnSpc>
                <a:spcPct val="135000"/>
              </a:lnSpc>
            </a:pPr>
            <a:r>
              <a:rPr sz="1300" b="0">
                <a:solidFill>
                  <a:srgbClr val="3E4C59"/>
                </a:solidFill>
                <a:latin typeface="맑은 고딕"/>
                <a:ea typeface="맑은 고딕"/>
                <a:cs typeface="맑은 고딕"/>
              </a:rPr>
              <a:t>계속 보거나 되묻지 않습니다.</a:t>
            </a:r>
          </a:p>
        </p:txBody>
      </p:sp>
      <p:sp>
        <p:nvSpPr>
          <p:cNvPr id="11" name="Right Arrow 10"/>
          <p:cNvSpPr/>
          <p:nvPr/>
        </p:nvSpPr>
        <p:spPr>
          <a:xfrm>
            <a:off x="4114800"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3128" y="2176272"/>
            <a:ext cx="3291840" cy="2011680"/>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4745736" y="2395728"/>
            <a:ext cx="384048" cy="384048"/>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45736"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2</a:t>
            </a:r>
          </a:p>
        </p:txBody>
      </p:sp>
      <p:sp>
        <p:nvSpPr>
          <p:cNvPr id="15" name="TextBox 14"/>
          <p:cNvSpPr txBox="1"/>
          <p:nvPr/>
        </p:nvSpPr>
        <p:spPr>
          <a:xfrm>
            <a:off x="4745736" y="2907792"/>
            <a:ext cx="2706624"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알리기</a:t>
            </a:r>
          </a:p>
        </p:txBody>
      </p:sp>
      <p:sp>
        <p:nvSpPr>
          <p:cNvPr id="16" name="TextBox 15"/>
          <p:cNvSpPr txBox="1"/>
          <p:nvPr/>
        </p:nvSpPr>
        <p:spPr>
          <a:xfrm>
            <a:off x="4745736" y="3364992"/>
            <a:ext cx="2706624" cy="6858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보호자에게 말합니다.</a:t>
            </a:r>
          </a:p>
          <a:p>
            <a:pPr algn="l">
              <a:lnSpc>
                <a:spcPct val="135000"/>
              </a:lnSpc>
            </a:pPr>
            <a:r>
              <a:rPr sz="1300" b="0">
                <a:solidFill>
                  <a:srgbClr val="3E4C59"/>
                </a:solidFill>
                <a:latin typeface="맑은 고딕"/>
                <a:ea typeface="맑은 고딕"/>
                <a:cs typeface="맑은 고딕"/>
              </a:rPr>
              <a:t>“말해 줘서 고맙다”가 첫마디입니다.</a:t>
            </a:r>
          </a:p>
        </p:txBody>
      </p:sp>
      <p:sp>
        <p:nvSpPr>
          <p:cNvPr id="17" name="Right Arrow 16"/>
          <p:cNvSpPr/>
          <p:nvPr/>
        </p:nvSpPr>
        <p:spPr>
          <a:xfrm>
            <a:off x="7790688" y="3035808"/>
            <a:ext cx="292608" cy="237744"/>
          </a:xfrm>
          <a:prstGeom prst="rightArrow">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29016" y="2176272"/>
            <a:ext cx="3291840" cy="2011680"/>
          </a:xfrm>
          <a:prstGeom prst="roundRect">
            <a:avLst>
              <a:gd name="adj" fmla="val 1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421624" y="2395728"/>
            <a:ext cx="384048" cy="38404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21624" y="2459736"/>
            <a:ext cx="384048" cy="274320"/>
          </a:xfrm>
          <a:prstGeom prst="rect">
            <a:avLst/>
          </a:prstGeom>
          <a:noFill/>
        </p:spPr>
        <p:txBody>
          <a:bodyPr wrap="square" anchor="t" lIns="0" rIns="0" tIns="0" bIns="0">
            <a:spAutoFit/>
          </a:bodyPr>
          <a:lstStyle/>
          <a:p>
            <a:pPr algn="ctr">
              <a:lnSpc>
                <a:spcPct val="115000"/>
              </a:lnSpc>
            </a:pPr>
            <a:r>
              <a:rPr sz="1500" b="1">
                <a:solidFill>
                  <a:srgbClr val="FFFFFF"/>
                </a:solidFill>
                <a:latin typeface="맑은 고딕"/>
                <a:ea typeface="맑은 고딕"/>
                <a:cs typeface="맑은 고딕"/>
              </a:rPr>
              <a:t>3</a:t>
            </a:r>
          </a:p>
        </p:txBody>
      </p:sp>
      <p:sp>
        <p:nvSpPr>
          <p:cNvPr id="21" name="TextBox 20"/>
          <p:cNvSpPr txBox="1"/>
          <p:nvPr/>
        </p:nvSpPr>
        <p:spPr>
          <a:xfrm>
            <a:off x="8421624" y="2907792"/>
            <a:ext cx="2706624" cy="365760"/>
          </a:xfrm>
          <a:prstGeom prst="rect">
            <a:avLst/>
          </a:prstGeom>
          <a:noFill/>
        </p:spPr>
        <p:txBody>
          <a:bodyPr wrap="square" anchor="t" lIns="0" rIns="0" tIns="0" bIns="0">
            <a:spAutoFit/>
          </a:bodyPr>
          <a:lstStyle/>
          <a:p>
            <a:pPr algn="l">
              <a:lnSpc>
                <a:spcPct val="115000"/>
              </a:lnSpc>
            </a:pPr>
            <a:r>
              <a:rPr sz="1800" b="1">
                <a:solidFill>
                  <a:srgbClr val="1F2933"/>
                </a:solidFill>
                <a:latin typeface="맑은 고딕"/>
                <a:ea typeface="맑은 고딕"/>
                <a:cs typeface="맑은 고딕"/>
              </a:rPr>
              <a:t>함께 확인하기</a:t>
            </a:r>
          </a:p>
        </p:txBody>
      </p:sp>
      <p:sp>
        <p:nvSpPr>
          <p:cNvPr id="22" name="TextBox 21"/>
          <p:cNvSpPr txBox="1"/>
          <p:nvPr/>
        </p:nvSpPr>
        <p:spPr>
          <a:xfrm>
            <a:off x="8421624" y="3364992"/>
            <a:ext cx="2706624" cy="68580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무슨 일이 있었는지 같이 보고</a:t>
            </a:r>
          </a:p>
          <a:p>
            <a:pPr algn="l">
              <a:lnSpc>
                <a:spcPct val="135000"/>
              </a:lnSpc>
            </a:pPr>
            <a:r>
              <a:rPr sz="1300" b="0">
                <a:solidFill>
                  <a:srgbClr val="3E4C59"/>
                </a:solidFill>
                <a:latin typeface="맑은 고딕"/>
                <a:ea typeface="맑은 고딕"/>
                <a:cs typeface="맑은 고딕"/>
              </a:rPr>
              <a:t>필요하면 신고·차단·설정을 바꿉니다.</a:t>
            </a:r>
          </a:p>
        </p:txBody>
      </p:sp>
      <p:sp>
        <p:nvSpPr>
          <p:cNvPr id="23" name="Rounded Rectangle 22"/>
          <p:cNvSpPr/>
          <p:nvPr/>
        </p:nvSpPr>
        <p:spPr>
          <a:xfrm>
            <a:off x="777240" y="4462272"/>
            <a:ext cx="10637215" cy="132588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4663440"/>
            <a:ext cx="9905695" cy="868680"/>
          </a:xfrm>
          <a:prstGeom prst="rect">
            <a:avLst/>
          </a:prstGeom>
          <a:noFill/>
        </p:spPr>
        <p:txBody>
          <a:bodyPr wrap="square" anchor="t" lIns="0" rIns="0" tIns="0" bIns="0">
            <a:spAutoFit/>
          </a:bodyPr>
          <a:lstStyle/>
          <a:p>
            <a:pPr algn="l">
              <a:lnSpc>
                <a:spcPct val="135000"/>
              </a:lnSpc>
              <a:spcAft>
                <a:spcPts val="500"/>
              </a:spcAft>
            </a:pPr>
            <a:r>
              <a:rPr sz="1450" b="1">
                <a:solidFill>
                  <a:srgbClr val="B91C1C"/>
                </a:solidFill>
                <a:latin typeface="맑은 고딕"/>
                <a:ea typeface="맑은 고딕"/>
                <a:cs typeface="맑은 고딕"/>
              </a:rPr>
              <a:t>혼내면 다음부터 말하지 않습니다.</a:t>
            </a:r>
          </a:p>
          <a:p>
            <a:pPr algn="l">
              <a:lnSpc>
                <a:spcPct val="135000"/>
              </a:lnSpc>
              <a:spcAft>
                <a:spcPts val="500"/>
              </a:spcAft>
            </a:pPr>
            <a:r>
              <a:rPr sz="1450" b="0">
                <a:solidFill>
                  <a:srgbClr val="3E4C59"/>
                </a:solidFill>
                <a:latin typeface="맑은 고딕"/>
                <a:ea typeface="맑은 고딕"/>
                <a:cs typeface="맑은 고딕"/>
              </a:rPr>
              <a:t>아이가 화면을 들고 왔다면, 그건 부모를 믿고 있다는 뜻입니다.</a:t>
            </a:r>
          </a:p>
          <a:p>
            <a:pPr algn="l">
              <a:lnSpc>
                <a:spcPct val="135000"/>
              </a:lnSpc>
              <a:spcAft>
                <a:spcPts val="500"/>
              </a:spcAft>
            </a:pPr>
            <a:r>
              <a:rPr sz="1450" b="1">
                <a:solidFill>
                  <a:srgbClr val="1F2933"/>
                </a:solidFill>
                <a:latin typeface="맑은 고딕"/>
                <a:ea typeface="맑은 고딕"/>
                <a:cs typeface="맑은 고딕"/>
              </a:rPr>
              <a:t>“잘 닫았네. 보여 줘서 고마워.” 이 한마디가 다음 신고를 만듭니다.</a:t>
            </a:r>
          </a:p>
        </p:txBody>
      </p:sp>
      <p:sp>
        <p:nvSpPr>
          <p:cNvPr id="25" name="Rectangle 24"/>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6492240"/>
            <a:ext cx="9539935" cy="256032"/>
          </a:xfrm>
          <a:prstGeom prst="rect">
            <a:avLst/>
          </a:prstGeom>
          <a:noFill/>
        </p:spPr>
        <p:txBody>
          <a:bodyPr wrap="square" anchor="t" lIns="0" rIns="0" tIns="0" bIns="0">
            <a:spAutoFit/>
          </a:bodyPr>
          <a:lstStyle/>
          <a:p>
            <a:pPr algn="l">
              <a:lnSpc>
                <a:spcPct val="115000"/>
              </a:lnSpc>
            </a:pPr>
            <a:r>
              <a:rPr sz="950" b="0" u="sng">
                <a:solidFill>
                  <a:srgbClr val="1D4ED8"/>
                </a:solidFill>
                <a:latin typeface="맑은 고딕"/>
                <a:hlinkClick r:id="rId2"/>
                <a:ea typeface="맑은 고딕"/>
                <a:cs typeface="맑은 고딕"/>
              </a:rPr>
              <a:t>참고: OpenAI 자녀 보호 기능 안내 (신고·차단·보호자 설정)</a:t>
            </a:r>
          </a:p>
        </p:txBody>
      </p:sp>
      <p:sp>
        <p:nvSpPr>
          <p:cNvPr id="27" name="TextBox 26"/>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40 / 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활동 · 가족 규칙 작성</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우리 집 AI 사용 약속</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빈칸을 채워서 한 장 들고 가세요.</a:t>
            </a:r>
          </a:p>
        </p:txBody>
      </p:sp>
      <p:sp>
        <p:nvSpPr>
          <p:cNvPr id="6" name="Rounded Rectangle 5"/>
          <p:cNvSpPr/>
          <p:nvPr/>
        </p:nvSpPr>
        <p:spPr>
          <a:xfrm>
            <a:off x="777240" y="2148840"/>
            <a:ext cx="6903720" cy="3749039"/>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097280" y="2441448"/>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5973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1</a:t>
            </a:r>
          </a:p>
        </p:txBody>
      </p:sp>
      <p:sp>
        <p:nvSpPr>
          <p:cNvPr id="9" name="TextBox 8"/>
          <p:cNvSpPr txBox="1"/>
          <p:nvPr/>
        </p:nvSpPr>
        <p:spPr>
          <a:xfrm>
            <a:off x="1527048" y="2423160"/>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우리는 AI를 ____________________ 할 때 사용한다.</a:t>
            </a:r>
          </a:p>
        </p:txBody>
      </p:sp>
      <p:sp>
        <p:nvSpPr>
          <p:cNvPr id="10" name="Oval 9"/>
          <p:cNvSpPr/>
          <p:nvPr/>
        </p:nvSpPr>
        <p:spPr>
          <a:xfrm>
            <a:off x="1097280" y="3008376"/>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026664"/>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2</a:t>
            </a:r>
          </a:p>
        </p:txBody>
      </p:sp>
      <p:sp>
        <p:nvSpPr>
          <p:cNvPr id="12" name="TextBox 11"/>
          <p:cNvSpPr txBox="1"/>
          <p:nvPr/>
        </p:nvSpPr>
        <p:spPr>
          <a:xfrm>
            <a:off x="1527048" y="2990088"/>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사용하기 전에는 먼저 ____________________ 한다.</a:t>
            </a:r>
          </a:p>
        </p:txBody>
      </p:sp>
      <p:sp>
        <p:nvSpPr>
          <p:cNvPr id="13" name="Oval 12"/>
          <p:cNvSpPr/>
          <p:nvPr/>
        </p:nvSpPr>
        <p:spPr>
          <a:xfrm>
            <a:off x="1097280" y="3575304"/>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593592"/>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3</a:t>
            </a:r>
          </a:p>
        </p:txBody>
      </p:sp>
      <p:sp>
        <p:nvSpPr>
          <p:cNvPr id="15" name="TextBox 14"/>
          <p:cNvSpPr txBox="1"/>
          <p:nvPr/>
        </p:nvSpPr>
        <p:spPr>
          <a:xfrm>
            <a:off x="1527048" y="3557016"/>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숙제에서는 선생님의 ____________________ 을 확인한다.</a:t>
            </a:r>
          </a:p>
        </p:txBody>
      </p:sp>
      <p:sp>
        <p:nvSpPr>
          <p:cNvPr id="16" name="Oval 15"/>
          <p:cNvSpPr/>
          <p:nvPr/>
        </p:nvSpPr>
        <p:spPr>
          <a:xfrm>
            <a:off x="1097280" y="4142231"/>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160520"/>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4</a:t>
            </a:r>
          </a:p>
        </p:txBody>
      </p:sp>
      <p:sp>
        <p:nvSpPr>
          <p:cNvPr id="18" name="TextBox 17"/>
          <p:cNvSpPr txBox="1"/>
          <p:nvPr/>
        </p:nvSpPr>
        <p:spPr>
          <a:xfrm>
            <a:off x="1527048" y="4123944"/>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____________________ 정보는 입력하지 않는다.</a:t>
            </a:r>
          </a:p>
        </p:txBody>
      </p:sp>
      <p:sp>
        <p:nvSpPr>
          <p:cNvPr id="19" name="Oval 18"/>
          <p:cNvSpPr/>
          <p:nvPr/>
        </p:nvSpPr>
        <p:spPr>
          <a:xfrm>
            <a:off x="1097280" y="4709160"/>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727448"/>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5</a:t>
            </a:r>
          </a:p>
        </p:txBody>
      </p:sp>
      <p:sp>
        <p:nvSpPr>
          <p:cNvPr id="21" name="TextBox 20"/>
          <p:cNvSpPr txBox="1"/>
          <p:nvPr/>
        </p:nvSpPr>
        <p:spPr>
          <a:xfrm>
            <a:off x="1527048" y="4690872"/>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사용한 뒤에는 ____________________ 을 내 말로 설명한다.</a:t>
            </a:r>
          </a:p>
        </p:txBody>
      </p:sp>
      <p:sp>
        <p:nvSpPr>
          <p:cNvPr id="22" name="Oval 21"/>
          <p:cNvSpPr/>
          <p:nvPr/>
        </p:nvSpPr>
        <p:spPr>
          <a:xfrm>
            <a:off x="1097280" y="5276088"/>
            <a:ext cx="292608" cy="29260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294376"/>
            <a:ext cx="292608"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맑은 고딕"/>
                <a:ea typeface="맑은 고딕"/>
                <a:cs typeface="맑은 고딕"/>
              </a:rPr>
              <a:t>6</a:t>
            </a:r>
          </a:p>
        </p:txBody>
      </p:sp>
      <p:sp>
        <p:nvSpPr>
          <p:cNvPr id="24" name="TextBox 23"/>
          <p:cNvSpPr txBox="1"/>
          <p:nvPr/>
        </p:nvSpPr>
        <p:spPr>
          <a:xfrm>
            <a:off x="1527048" y="5257800"/>
            <a:ext cx="6035040" cy="365760"/>
          </a:xfrm>
          <a:prstGeom prst="rect">
            <a:avLst/>
          </a:prstGeom>
          <a:noFill/>
        </p:spPr>
        <p:txBody>
          <a:bodyPr wrap="square" anchor="t" lIns="0" rIns="0" tIns="0" bIns="0">
            <a:spAutoFit/>
          </a:bodyPr>
          <a:lstStyle/>
          <a:p>
            <a:pPr algn="l">
              <a:lnSpc>
                <a:spcPct val="115000"/>
              </a:lnSpc>
            </a:pPr>
            <a:r>
              <a:rPr sz="1500" b="0">
                <a:solidFill>
                  <a:srgbClr val="1F2933"/>
                </a:solidFill>
                <a:latin typeface="맑은 고딕"/>
                <a:ea typeface="맑은 고딕"/>
                <a:cs typeface="맑은 고딕"/>
              </a:rPr>
              <a:t>이상한 답이 나오면 ____________________ 한다.</a:t>
            </a:r>
          </a:p>
        </p:txBody>
      </p:sp>
      <p:sp>
        <p:nvSpPr>
          <p:cNvPr id="25" name="Rounded Rectangle 24"/>
          <p:cNvSpPr/>
          <p:nvPr/>
        </p:nvSpPr>
        <p:spPr>
          <a:xfrm>
            <a:off x="8046720" y="2148840"/>
            <a:ext cx="3367735" cy="3749039"/>
          </a:xfrm>
          <a:prstGeom prst="roundRect">
            <a:avLst>
              <a:gd name="adj" fmla="val 10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39328" y="2395728"/>
            <a:ext cx="2782519" cy="274320"/>
          </a:xfrm>
          <a:prstGeom prst="rect">
            <a:avLst/>
          </a:prstGeom>
          <a:noFill/>
        </p:spPr>
        <p:txBody>
          <a:bodyPr wrap="square" anchor="t" lIns="0" rIns="0" tIns="0" bIns="0">
            <a:spAutoFit/>
          </a:bodyPr>
          <a:lstStyle/>
          <a:p>
            <a:pPr algn="l">
              <a:lnSpc>
                <a:spcPct val="115000"/>
              </a:lnSpc>
            </a:pPr>
            <a:r>
              <a:rPr sz="1300" b="1">
                <a:solidFill>
                  <a:srgbClr val="1D4ED8"/>
                </a:solidFill>
                <a:latin typeface="맑은 고딕"/>
                <a:ea typeface="맑은 고딕"/>
                <a:cs typeface="맑은 고딕"/>
              </a:rPr>
              <a:t>채우기 어려우면 이렇게</a:t>
            </a:r>
          </a:p>
        </p:txBody>
      </p:sp>
      <p:sp>
        <p:nvSpPr>
          <p:cNvPr id="27" name="TextBox 26"/>
          <p:cNvSpPr txBox="1"/>
          <p:nvPr/>
        </p:nvSpPr>
        <p:spPr>
          <a:xfrm>
            <a:off x="8339328" y="2834640"/>
            <a:ext cx="2782519" cy="2743200"/>
          </a:xfrm>
          <a:prstGeom prst="rect">
            <a:avLst/>
          </a:prstGeom>
          <a:noFill/>
        </p:spPr>
        <p:txBody>
          <a:bodyPr wrap="square" anchor="t" lIns="0" rIns="0" tIns="0" bIns="0">
            <a:spAutoFit/>
          </a:bodyPr>
          <a:lstStyle/>
          <a:p>
            <a:pPr algn="l">
              <a:lnSpc>
                <a:spcPct val="135000"/>
              </a:lnSpc>
              <a:spcAft>
                <a:spcPts val="900"/>
              </a:spcAft>
            </a:pPr>
            <a:r>
              <a:rPr sz="1350" b="0">
                <a:solidFill>
                  <a:srgbClr val="3E4C59"/>
                </a:solidFill>
                <a:latin typeface="맑은 고딕"/>
                <a:ea typeface="맑은 고딕"/>
                <a:cs typeface="맑은 고딕"/>
              </a:rPr>
              <a:t>① 모르는 낱말을 알아볼 때</a:t>
            </a:r>
          </a:p>
          <a:p>
            <a:pPr algn="l">
              <a:lnSpc>
                <a:spcPct val="135000"/>
              </a:lnSpc>
              <a:spcAft>
                <a:spcPts val="900"/>
              </a:spcAft>
            </a:pPr>
            <a:r>
              <a:rPr sz="1350" b="0">
                <a:solidFill>
                  <a:srgbClr val="3E4C59"/>
                </a:solidFill>
                <a:latin typeface="맑은 고딕"/>
                <a:ea typeface="맑은 고딕"/>
                <a:cs typeface="맑은 고딕"/>
              </a:rPr>
              <a:t>② 내가 아는 것을 한 가지 말할 때</a:t>
            </a:r>
          </a:p>
          <a:p>
            <a:pPr algn="l">
              <a:lnSpc>
                <a:spcPct val="135000"/>
              </a:lnSpc>
              <a:spcAft>
                <a:spcPts val="900"/>
              </a:spcAft>
            </a:pPr>
            <a:r>
              <a:rPr sz="1350" b="0">
                <a:solidFill>
                  <a:srgbClr val="3E4C59"/>
                </a:solidFill>
                <a:latin typeface="맑은 고딕"/>
                <a:ea typeface="맑은 고딕"/>
                <a:cs typeface="맑은 고딕"/>
              </a:rPr>
              <a:t>③ 과제 지침</a:t>
            </a:r>
          </a:p>
          <a:p>
            <a:pPr algn="l">
              <a:lnSpc>
                <a:spcPct val="135000"/>
              </a:lnSpc>
              <a:spcAft>
                <a:spcPts val="900"/>
              </a:spcAft>
            </a:pPr>
            <a:r>
              <a:rPr sz="1350" b="0">
                <a:solidFill>
                  <a:srgbClr val="3E4C59"/>
                </a:solidFill>
                <a:latin typeface="맑은 고딕"/>
                <a:ea typeface="맑은 고딕"/>
                <a:cs typeface="맑은 고딕"/>
              </a:rPr>
              <a:t>④ 이름·학교·주소·사진</a:t>
            </a:r>
          </a:p>
          <a:p>
            <a:pPr algn="l">
              <a:lnSpc>
                <a:spcPct val="135000"/>
              </a:lnSpc>
              <a:spcAft>
                <a:spcPts val="900"/>
              </a:spcAft>
            </a:pPr>
            <a:r>
              <a:rPr sz="1350" b="0">
                <a:solidFill>
                  <a:srgbClr val="3E4C59"/>
                </a:solidFill>
                <a:latin typeface="맑은 고딕"/>
                <a:ea typeface="맑은 고딕"/>
                <a:cs typeface="맑은 고딕"/>
              </a:rPr>
              <a:t>⑤ 오늘 알게 된 것</a:t>
            </a:r>
          </a:p>
          <a:p>
            <a:pPr algn="l">
              <a:lnSpc>
                <a:spcPct val="135000"/>
              </a:lnSpc>
              <a:spcAft>
                <a:spcPts val="900"/>
              </a:spcAft>
            </a:pPr>
            <a:r>
              <a:rPr sz="1350" b="0">
                <a:solidFill>
                  <a:srgbClr val="3E4C59"/>
                </a:solidFill>
                <a:latin typeface="맑은 고딕"/>
                <a:ea typeface="맑은 고딕"/>
                <a:cs typeface="맑은 고딕"/>
              </a:rPr>
              <a:t>⑥ 화면을 닫고 부모에게 말</a:t>
            </a:r>
          </a:p>
        </p:txBody>
      </p:sp>
      <p:sp>
        <p:nvSpPr>
          <p:cNvPr id="28" name="Rectangle 27"/>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41 /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292608"/>
            <a:ext cx="10637215" cy="256032"/>
          </a:xfrm>
          <a:prstGeom prst="rect">
            <a:avLst/>
          </a:prstGeom>
          <a:noFill/>
        </p:spPr>
        <p:txBody>
          <a:bodyPr wrap="square" anchor="t" lIns="0" rIns="0" tIns="0" bIns="0">
            <a:spAutoFit/>
          </a:bodyPr>
          <a:lstStyle/>
          <a:p>
            <a:pPr algn="l">
              <a:lnSpc>
                <a:spcPct val="115000"/>
              </a:lnSpc>
            </a:pPr>
            <a:r>
              <a:rPr sz="1350" b="1">
                <a:solidFill>
                  <a:srgbClr val="0E7C86"/>
                </a:solidFill>
                <a:latin typeface="맑은 고딕"/>
                <a:ea typeface="맑은 고딕"/>
                <a:cs typeface="맑은 고딕"/>
              </a:rPr>
              <a:t>요약</a:t>
            </a:r>
          </a:p>
        </p:txBody>
      </p:sp>
      <p:sp>
        <p:nvSpPr>
          <p:cNvPr id="3" name="Rectangle 2"/>
          <p:cNvSpPr/>
          <p:nvPr/>
        </p:nvSpPr>
        <p:spPr>
          <a:xfrm>
            <a:off x="777240" y="566928"/>
            <a:ext cx="566928" cy="5029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0637215" cy="685800"/>
          </a:xfrm>
          <a:prstGeom prst="rect">
            <a:avLst/>
          </a:prstGeom>
          <a:noFill/>
        </p:spPr>
        <p:txBody>
          <a:bodyPr wrap="square" anchor="t" lIns="0" rIns="0" tIns="0" bIns="0">
            <a:spAutoFit/>
          </a:bodyPr>
          <a:lstStyle/>
          <a:p>
            <a:pPr algn="l">
              <a:lnSpc>
                <a:spcPct val="105000"/>
              </a:lnSpc>
            </a:pPr>
            <a:r>
              <a:rPr sz="3200" b="1">
                <a:solidFill>
                  <a:srgbClr val="1F2933"/>
                </a:solidFill>
                <a:latin typeface="맑은 고딕"/>
                <a:ea typeface="맑은 고딕"/>
                <a:cs typeface="맑은 고딕"/>
              </a:rPr>
              <a:t>학부모 질문, 한 장으로 정리</a:t>
            </a:r>
          </a:p>
        </p:txBody>
      </p:sp>
      <p:sp>
        <p:nvSpPr>
          <p:cNvPr id="5" name="TextBox 4"/>
          <p:cNvSpPr txBox="1"/>
          <p:nvPr/>
        </p:nvSpPr>
        <p:spPr>
          <a:xfrm>
            <a:off x="777240" y="1463040"/>
            <a:ext cx="10637215" cy="384048"/>
          </a:xfrm>
          <a:prstGeom prst="rect">
            <a:avLst/>
          </a:prstGeom>
          <a:noFill/>
        </p:spPr>
        <p:txBody>
          <a:bodyPr wrap="square" anchor="t" lIns="0" rIns="0" tIns="0" bIns="0">
            <a:spAutoFit/>
          </a:bodyPr>
          <a:lstStyle/>
          <a:p>
            <a:pPr algn="l">
              <a:lnSpc>
                <a:spcPct val="120000"/>
              </a:lnSpc>
            </a:pPr>
            <a:r>
              <a:rPr sz="1600" b="0">
                <a:solidFill>
                  <a:srgbClr val="7B8894"/>
                </a:solidFill>
                <a:latin typeface="맑은 고딕"/>
                <a:ea typeface="맑은 고딕"/>
                <a:cs typeface="맑은 고딕"/>
              </a:rPr>
              <a:t>오늘 나온 질문을 한 장에 모았습니다.</a:t>
            </a:r>
          </a:p>
        </p:txBody>
      </p:sp>
      <p:sp>
        <p:nvSpPr>
          <p:cNvPr id="6" name="Rounded Rectangle 5"/>
          <p:cNvSpPr/>
          <p:nvPr/>
        </p:nvSpPr>
        <p:spPr>
          <a:xfrm>
            <a:off x="777240" y="217627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33271" y="2450591"/>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65176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시작 나이</a:t>
            </a:r>
          </a:p>
        </p:txBody>
      </p:sp>
      <p:sp>
        <p:nvSpPr>
          <p:cNvPr id="9" name="TextBox 8"/>
          <p:cNvSpPr txBox="1"/>
          <p:nvPr/>
        </p:nvSpPr>
        <p:spPr>
          <a:xfrm>
            <a:off x="1033271" y="309067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하나의 나이는 없습니다.</a:t>
            </a:r>
          </a:p>
          <a:p>
            <a:pPr algn="l">
              <a:lnSpc>
                <a:spcPct val="135000"/>
              </a:lnSpc>
            </a:pPr>
            <a:r>
              <a:rPr sz="1300" b="0">
                <a:solidFill>
                  <a:srgbClr val="3E4C59"/>
                </a:solidFill>
                <a:latin typeface="맑은 고딕"/>
                <a:ea typeface="맑은 고딕"/>
                <a:cs typeface="맑은 고딕"/>
              </a:rPr>
              <a:t>서비스 조건 → 학교 지침 → 아이의 준비도 순으로 봅니다.</a:t>
            </a:r>
          </a:p>
        </p:txBody>
      </p:sp>
      <p:sp>
        <p:nvSpPr>
          <p:cNvPr id="10" name="Rounded Rectangle 9"/>
          <p:cNvSpPr/>
          <p:nvPr/>
        </p:nvSpPr>
        <p:spPr>
          <a:xfrm>
            <a:off x="4414418" y="217627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670450" y="2450591"/>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0450" y="265176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부모 휴대폰</a:t>
            </a:r>
          </a:p>
        </p:txBody>
      </p:sp>
      <p:sp>
        <p:nvSpPr>
          <p:cNvPr id="13" name="TextBox 12"/>
          <p:cNvSpPr txBox="1"/>
          <p:nvPr/>
        </p:nvSpPr>
        <p:spPr>
          <a:xfrm>
            <a:off x="4670450" y="309067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처음에는 함께 씁니다.</a:t>
            </a:r>
          </a:p>
          <a:p>
            <a:pPr algn="l">
              <a:lnSpc>
                <a:spcPct val="135000"/>
              </a:lnSpc>
            </a:pPr>
            <a:r>
              <a:rPr sz="1300" b="0">
                <a:solidFill>
                  <a:srgbClr val="3E4C59"/>
                </a:solidFill>
                <a:latin typeface="맑은 고딕"/>
                <a:ea typeface="맑은 고딕"/>
                <a:cs typeface="맑은 고딕"/>
              </a:rPr>
              <a:t>무엇을 알아볼지, 무엇을 넣을지, 언제 끝낼지를 먼저 정합니다.</a:t>
            </a:r>
          </a:p>
        </p:txBody>
      </p:sp>
      <p:sp>
        <p:nvSpPr>
          <p:cNvPr id="14" name="Rounded Rectangle 13"/>
          <p:cNvSpPr/>
          <p:nvPr/>
        </p:nvSpPr>
        <p:spPr>
          <a:xfrm>
            <a:off x="8051596" y="217627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307628" y="2450591"/>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7628" y="265176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책·검색보다 먼저?</a:t>
            </a:r>
          </a:p>
        </p:txBody>
      </p:sp>
      <p:sp>
        <p:nvSpPr>
          <p:cNvPr id="17" name="TextBox 16"/>
          <p:cNvSpPr txBox="1"/>
          <p:nvPr/>
        </p:nvSpPr>
        <p:spPr>
          <a:xfrm>
            <a:off x="8307628" y="309067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AI는 세 번째 자리입니다.</a:t>
            </a:r>
          </a:p>
          <a:p>
            <a:pPr algn="l">
              <a:lnSpc>
                <a:spcPct val="135000"/>
              </a:lnSpc>
            </a:pPr>
            <a:r>
              <a:rPr sz="1300" b="0">
                <a:solidFill>
                  <a:srgbClr val="3E4C59"/>
                </a:solidFill>
                <a:latin typeface="맑은 고딕"/>
                <a:ea typeface="맑은 고딕"/>
                <a:cs typeface="맑은 고딕"/>
              </a:rPr>
              <a:t>내 생각 → 자료 찾기 다음에 놓습니다.</a:t>
            </a:r>
          </a:p>
        </p:txBody>
      </p:sp>
      <p:sp>
        <p:nvSpPr>
          <p:cNvPr id="18" name="Rounded Rectangle 17"/>
          <p:cNvSpPr/>
          <p:nvPr/>
        </p:nvSpPr>
        <p:spPr>
          <a:xfrm>
            <a:off x="777240" y="409651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33271" y="4370832"/>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1" y="457200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숙제</a:t>
            </a:r>
          </a:p>
        </p:txBody>
      </p:sp>
      <p:sp>
        <p:nvSpPr>
          <p:cNvPr id="21" name="TextBox 20"/>
          <p:cNvSpPr txBox="1"/>
          <p:nvPr/>
        </p:nvSpPr>
        <p:spPr>
          <a:xfrm>
            <a:off x="1033271" y="501091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교사의 과제 지침이 먼저입니다.</a:t>
            </a:r>
          </a:p>
          <a:p>
            <a:pPr algn="l">
              <a:lnSpc>
                <a:spcPct val="135000"/>
              </a:lnSpc>
            </a:pPr>
            <a:r>
              <a:rPr sz="1300" b="0">
                <a:solidFill>
                  <a:srgbClr val="3E4C59"/>
                </a:solidFill>
                <a:latin typeface="맑은 고딕"/>
                <a:ea typeface="맑은 고딕"/>
                <a:cs typeface="맑은 고딕"/>
              </a:rPr>
              <a:t>설명·힌트·피드백은 되고, 작성 대행은 안 됩니다.</a:t>
            </a:r>
          </a:p>
        </p:txBody>
      </p:sp>
      <p:sp>
        <p:nvSpPr>
          <p:cNvPr id="22" name="Rounded Rectangle 21"/>
          <p:cNvSpPr/>
          <p:nvPr/>
        </p:nvSpPr>
        <p:spPr>
          <a:xfrm>
            <a:off x="4414418" y="409651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670450" y="4370832"/>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70450" y="457200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자주 찾는 아이</a:t>
            </a:r>
          </a:p>
        </p:txBody>
      </p:sp>
      <p:sp>
        <p:nvSpPr>
          <p:cNvPr id="25" name="TextBox 24"/>
          <p:cNvSpPr txBox="1"/>
          <p:nvPr/>
        </p:nvSpPr>
        <p:spPr>
          <a:xfrm>
            <a:off x="4670450" y="501091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쓰기 전 “네 생각은?”,</a:t>
            </a:r>
          </a:p>
          <a:p>
            <a:pPr algn="l">
              <a:lnSpc>
                <a:spcPct val="135000"/>
              </a:lnSpc>
            </a:pPr>
            <a:r>
              <a:rPr sz="1300" b="0">
                <a:solidFill>
                  <a:srgbClr val="3E4C59"/>
                </a:solidFill>
                <a:latin typeface="맑은 고딕"/>
                <a:ea typeface="맑은 고딕"/>
                <a:cs typeface="맑은 고딕"/>
              </a:rPr>
              <a:t>쓴 뒤 “닫고 설명해 볼까?”를 붙입니다.</a:t>
            </a:r>
          </a:p>
        </p:txBody>
      </p:sp>
      <p:sp>
        <p:nvSpPr>
          <p:cNvPr id="26" name="Rounded Rectangle 25"/>
          <p:cNvSpPr/>
          <p:nvPr/>
        </p:nvSpPr>
        <p:spPr>
          <a:xfrm>
            <a:off x="8051596" y="4096512"/>
            <a:ext cx="3362858" cy="1737360"/>
          </a:xfrm>
          <a:prstGeom prst="roundRect">
            <a:avLst>
              <a:gd name="adj" fmla="val 10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307628" y="4370832"/>
            <a:ext cx="365760" cy="4572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7628" y="4572000"/>
            <a:ext cx="2850794" cy="320040"/>
          </a:xfrm>
          <a:prstGeom prst="rect">
            <a:avLst/>
          </a:prstGeom>
          <a:noFill/>
        </p:spPr>
        <p:txBody>
          <a:bodyPr wrap="square" anchor="t" lIns="0" rIns="0" tIns="0" bIns="0">
            <a:spAutoFit/>
          </a:bodyPr>
          <a:lstStyle/>
          <a:p>
            <a:pPr algn="l">
              <a:lnSpc>
                <a:spcPct val="115000"/>
              </a:lnSpc>
            </a:pPr>
            <a:r>
              <a:rPr sz="1650" b="1">
                <a:solidFill>
                  <a:srgbClr val="1F2933"/>
                </a:solidFill>
                <a:latin typeface="맑은 고딕"/>
                <a:ea typeface="맑은 고딕"/>
                <a:cs typeface="맑은 고딕"/>
              </a:rPr>
              <a:t>사실 확인</a:t>
            </a:r>
          </a:p>
        </p:txBody>
      </p:sp>
      <p:sp>
        <p:nvSpPr>
          <p:cNvPr id="29" name="TextBox 28"/>
          <p:cNvSpPr txBox="1"/>
          <p:nvPr/>
        </p:nvSpPr>
        <p:spPr>
          <a:xfrm>
            <a:off x="8307628" y="5010912"/>
            <a:ext cx="2850794" cy="731520"/>
          </a:xfrm>
          <a:prstGeom prst="rect">
            <a:avLst/>
          </a:prstGeom>
          <a:noFill/>
        </p:spPr>
        <p:txBody>
          <a:bodyPr wrap="square" anchor="t" lIns="0" rIns="0" tIns="0" bIns="0">
            <a:spAutoFit/>
          </a:bodyPr>
          <a:lstStyle/>
          <a:p>
            <a:pPr algn="l">
              <a:lnSpc>
                <a:spcPct val="135000"/>
              </a:lnSpc>
            </a:pPr>
            <a:r>
              <a:rPr sz="1300" b="0">
                <a:solidFill>
                  <a:srgbClr val="3E4C59"/>
                </a:solidFill>
                <a:latin typeface="맑은 고딕"/>
                <a:ea typeface="맑은 고딕"/>
                <a:cs typeface="맑은 고딕"/>
              </a:rPr>
              <a:t>출처를 요청한 뒤 원문을 엽니다.</a:t>
            </a:r>
          </a:p>
          <a:p>
            <a:pPr algn="l">
              <a:lnSpc>
                <a:spcPct val="135000"/>
              </a:lnSpc>
            </a:pPr>
            <a:r>
              <a:rPr sz="1300" b="0">
                <a:solidFill>
                  <a:srgbClr val="3E4C59"/>
                </a:solidFill>
                <a:latin typeface="맑은 고딕"/>
                <a:ea typeface="맑은 고딕"/>
                <a:cs typeface="맑은 고딕"/>
              </a:rPr>
              <a:t>같은 AI에게 되묻는 것은 검증이 아닙니다.</a:t>
            </a:r>
          </a:p>
        </p:txBody>
      </p:sp>
      <p:sp>
        <p:nvSpPr>
          <p:cNvPr id="30" name="Rectangle 29"/>
          <p:cNvSpPr/>
          <p:nvPr/>
        </p:nvSpPr>
        <p:spPr>
          <a:xfrm>
            <a:off x="0" y="6382512"/>
            <a:ext cx="12191695" cy="10972"/>
          </a:xfrm>
          <a:prstGeom prst="rect">
            <a:avLst/>
          </a:prstGeom>
          <a:solidFill>
            <a:srgbClr val="D9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00055" y="6492240"/>
            <a:ext cx="914400" cy="256032"/>
          </a:xfrm>
          <a:prstGeom prst="rect">
            <a:avLst/>
          </a:prstGeom>
          <a:noFill/>
        </p:spPr>
        <p:txBody>
          <a:bodyPr wrap="square" anchor="t" lIns="0" rIns="0" tIns="0" bIns="0">
            <a:spAutoFit/>
          </a:bodyPr>
          <a:lstStyle/>
          <a:p>
            <a:pPr algn="r">
              <a:lnSpc>
                <a:spcPct val="115000"/>
              </a:lnSpc>
            </a:pPr>
            <a:r>
              <a:rPr sz="950" b="0">
                <a:solidFill>
                  <a:srgbClr val="7B8894"/>
                </a:solidFill>
                <a:latin typeface="맑은 고딕"/>
                <a:ea typeface="맑은 고딕"/>
                <a:cs typeface="맑은 고딕"/>
              </a:rPr>
              <a:t>42 / 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274320"/>
          </a:xfrm>
          <a:prstGeom prst="rect">
            <a:avLst/>
          </a:prstGeom>
          <a:noFill/>
        </p:spPr>
        <p:txBody>
          <a:bodyPr wrap="square" anchor="t" lIns="0" rIns="0" tIns="0" bIns="0">
            <a:spAutoFit/>
          </a:bodyPr>
          <a:lstStyle/>
          <a:p>
            <a:pPr algn="ctr">
              <a:lnSpc>
                <a:spcPct val="115000"/>
              </a:lnSpc>
            </a:pPr>
            <a:r>
              <a:rPr sz="1400" b="1">
                <a:solidFill>
                  <a:srgbClr val="0E7C86"/>
                </a:solidFill>
                <a:latin typeface="맑은 고딕"/>
                <a:ea typeface="맑은 고딕"/>
                <a:cs typeface="맑은 고딕"/>
              </a:rPr>
              <a:t>오늘부터</a:t>
            </a:r>
          </a:p>
        </p:txBody>
      </p:sp>
      <p:sp>
        <p:nvSpPr>
          <p:cNvPr id="4" name="TextBox 3"/>
          <p:cNvSpPr txBox="1"/>
          <p:nvPr/>
        </p:nvSpPr>
        <p:spPr>
          <a:xfrm>
            <a:off x="777240" y="1627632"/>
            <a:ext cx="10637215" cy="640080"/>
          </a:xfrm>
          <a:prstGeom prst="rect">
            <a:avLst/>
          </a:prstGeom>
          <a:noFill/>
        </p:spPr>
        <p:txBody>
          <a:bodyPr wrap="square" anchor="t" lIns="0" rIns="0" tIns="0" bIns="0">
            <a:spAutoFit/>
          </a:bodyPr>
          <a:lstStyle/>
          <a:p>
            <a:pPr algn="ctr">
              <a:lnSpc>
                <a:spcPct val="115000"/>
              </a:lnSpc>
            </a:pPr>
            <a:r>
              <a:rPr sz="3400" b="1">
                <a:solidFill>
                  <a:srgbClr val="1F2933"/>
                </a:solidFill>
                <a:latin typeface="맑은 고딕"/>
                <a:ea typeface="맑은 고딕"/>
                <a:cs typeface="맑은 고딕"/>
              </a:rPr>
              <a:t>한 문장만 바꿔 주세요</a:t>
            </a:r>
          </a:p>
        </p:txBody>
      </p:sp>
      <p:sp>
        <p:nvSpPr>
          <p:cNvPr id="5" name="Rounded Rectangle 4"/>
          <p:cNvSpPr/>
          <p:nvPr/>
        </p:nvSpPr>
        <p:spPr>
          <a:xfrm>
            <a:off x="1478127" y="2743200"/>
            <a:ext cx="4160520" cy="1143000"/>
          </a:xfrm>
          <a:prstGeom prst="roundRect">
            <a:avLst>
              <a:gd name="adj" fmla="val 12000"/>
            </a:avLst>
          </a:prstGeom>
          <a:solidFill>
            <a:srgbClr val="F3F6FA"/>
          </a:solidFill>
          <a:ln w="1587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478127" y="3154680"/>
            <a:ext cx="4160520" cy="411480"/>
          </a:xfrm>
          <a:prstGeom prst="rect">
            <a:avLst/>
          </a:prstGeom>
          <a:noFill/>
        </p:spPr>
        <p:txBody>
          <a:bodyPr wrap="square" anchor="t" lIns="0" rIns="0" tIns="0" bIns="0">
            <a:spAutoFit/>
          </a:bodyPr>
          <a:lstStyle/>
          <a:p>
            <a:pPr algn="ctr">
              <a:lnSpc>
                <a:spcPct val="115000"/>
              </a:lnSpc>
            </a:pPr>
            <a:r>
              <a:rPr sz="1900" b="0">
                <a:solidFill>
                  <a:srgbClr val="7B8894"/>
                </a:solidFill>
                <a:latin typeface="맑은 고딕"/>
                <a:ea typeface="맑은 고딕"/>
                <a:cs typeface="맑은 고딕"/>
              </a:rPr>
              <a:t>“AI가 뭐라고 했어?”</a:t>
            </a:r>
          </a:p>
        </p:txBody>
      </p:sp>
      <p:sp>
        <p:nvSpPr>
          <p:cNvPr id="7" name="Right Arrow 6"/>
          <p:cNvSpPr/>
          <p:nvPr/>
        </p:nvSpPr>
        <p:spPr>
          <a:xfrm>
            <a:off x="5894679" y="3172968"/>
            <a:ext cx="411480" cy="274320"/>
          </a:xfrm>
          <a:prstGeom prst="rightArrow">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53047" y="2743200"/>
            <a:ext cx="4160520" cy="1143000"/>
          </a:xfrm>
          <a:prstGeom prst="roundRect">
            <a:avLst>
              <a:gd name="adj" fmla="val 12000"/>
            </a:avLst>
          </a:prstGeom>
          <a:solidFill>
            <a:srgbClr val="E8EF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53047" y="3154680"/>
            <a:ext cx="4160520" cy="411480"/>
          </a:xfrm>
          <a:prstGeom prst="rect">
            <a:avLst/>
          </a:prstGeom>
          <a:noFill/>
        </p:spPr>
        <p:txBody>
          <a:bodyPr wrap="square" anchor="t" lIns="0" rIns="0" tIns="0" bIns="0">
            <a:spAutoFit/>
          </a:bodyPr>
          <a:lstStyle/>
          <a:p>
            <a:pPr algn="ctr">
              <a:lnSpc>
                <a:spcPct val="115000"/>
              </a:lnSpc>
            </a:pPr>
            <a:r>
              <a:rPr sz="1900" b="1">
                <a:solidFill>
                  <a:srgbClr val="1F2933"/>
                </a:solidFill>
                <a:latin typeface="맑은 고딕"/>
                <a:ea typeface="맑은 고딕"/>
                <a:cs typeface="맑은 고딕"/>
              </a:rPr>
              <a:t>“너는 어떻게 생각해?”</a:t>
            </a:r>
          </a:p>
        </p:txBody>
      </p:sp>
      <p:sp>
        <p:nvSpPr>
          <p:cNvPr id="10" name="TextBox 9"/>
          <p:cNvSpPr txBox="1"/>
          <p:nvPr/>
        </p:nvSpPr>
        <p:spPr>
          <a:xfrm>
            <a:off x="777240" y="4434840"/>
            <a:ext cx="10637215" cy="365760"/>
          </a:xfrm>
          <a:prstGeom prst="rect">
            <a:avLst/>
          </a:prstGeom>
          <a:noFill/>
        </p:spPr>
        <p:txBody>
          <a:bodyPr wrap="square" anchor="t" lIns="0" rIns="0" tIns="0" bIns="0">
            <a:spAutoFit/>
          </a:bodyPr>
          <a:lstStyle/>
          <a:p>
            <a:pPr algn="ctr">
              <a:lnSpc>
                <a:spcPct val="115000"/>
              </a:lnSpc>
            </a:pPr>
            <a:r>
              <a:rPr sz="1600" b="0">
                <a:solidFill>
                  <a:srgbClr val="3E4C59"/>
                </a:solidFill>
                <a:latin typeface="맑은 고딕"/>
                <a:ea typeface="맑은 고딕"/>
                <a:cs typeface="맑은 고딕"/>
              </a:rPr>
              <a:t>AI를 막는다고 아이의 생각이 지켜지지는 않습니다.</a:t>
            </a:r>
          </a:p>
        </p:txBody>
      </p:sp>
      <p:sp>
        <p:nvSpPr>
          <p:cNvPr id="11" name="TextBox 10"/>
          <p:cNvSpPr txBox="1"/>
          <p:nvPr/>
        </p:nvSpPr>
        <p:spPr>
          <a:xfrm>
            <a:off x="777240" y="4846320"/>
            <a:ext cx="10637215" cy="365760"/>
          </a:xfrm>
          <a:prstGeom prst="rect">
            <a:avLst/>
          </a:prstGeom>
          <a:noFill/>
        </p:spPr>
        <p:txBody>
          <a:bodyPr wrap="square" anchor="t" lIns="0" rIns="0" tIns="0" bIns="0">
            <a:spAutoFit/>
          </a:bodyPr>
          <a:lstStyle/>
          <a:p>
            <a:pPr algn="ctr">
              <a:lnSpc>
                <a:spcPct val="115000"/>
              </a:lnSpc>
            </a:pPr>
            <a:r>
              <a:rPr sz="1600" b="0">
                <a:solidFill>
                  <a:srgbClr val="3E4C59"/>
                </a:solidFill>
                <a:latin typeface="맑은 고딕"/>
                <a:ea typeface="맑은 고딕"/>
                <a:cs typeface="맑은 고딕"/>
              </a:rPr>
              <a:t>먼저 묻고, 같이 확인하고, 자기 말로 설명하게 해 주세요.</a:t>
            </a:r>
          </a:p>
        </p:txBody>
      </p:sp>
      <p:sp>
        <p:nvSpPr>
          <p:cNvPr id="12" name="Rounded Rectangle 11"/>
          <p:cNvSpPr/>
          <p:nvPr/>
        </p:nvSpPr>
        <p:spPr>
          <a:xfrm>
            <a:off x="3626967" y="5532120"/>
            <a:ext cx="4937760" cy="530352"/>
          </a:xfrm>
          <a:prstGeom prst="roundRect">
            <a:avLst>
              <a:gd name="adj" fmla="val 30000"/>
            </a:avLst>
          </a:prstGeom>
          <a:solidFill>
            <a:srgbClr val="E4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26967" y="5687568"/>
            <a:ext cx="4937760" cy="274320"/>
          </a:xfrm>
          <a:prstGeom prst="rect">
            <a:avLst/>
          </a:prstGeom>
          <a:noFill/>
        </p:spPr>
        <p:txBody>
          <a:bodyPr wrap="square" anchor="t" lIns="0" rIns="0" tIns="0" bIns="0">
            <a:spAutoFit/>
          </a:bodyPr>
          <a:lstStyle/>
          <a:p>
            <a:pPr algn="ctr">
              <a:lnSpc>
                <a:spcPct val="115000"/>
              </a:lnSpc>
            </a:pPr>
            <a:r>
              <a:rPr sz="1450" b="1">
                <a:solidFill>
                  <a:srgbClr val="0E7C86"/>
                </a:solidFill>
                <a:latin typeface="맑은 고딕"/>
                <a:ea typeface="맑은 고딕"/>
                <a:cs typeface="맑은 고딕"/>
              </a:rPr>
              <a:t>오늘 실천할 한 가지를 정해 주세요.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시대, 우리 아이의 미래를 준비하는 부모 교육</dc:title>
  <dc:subject>학부모 연수 (2026. 9. 17.)</dc:subject>
  <dc:creator/>
  <cp:keywords/>
  <dc:description>학교의 AI 교육부터 가정에서 실천하는 올바른 AI 활용법까지. 슬라이드 하단 출처는 눌러서 원문으로 이동하며, 연구 조건·해석의 한계·퀴즈 정답은 발표자 노트에 수록.</dc:description>
  <cp:lastModifiedBy>Steve Canny</cp:lastModifiedBy>
  <cp:revision>1</cp:revision>
  <dcterms:created xsi:type="dcterms:W3CDTF">2013-01-27T09:14:16Z</dcterms:created>
  <dcterms:modified xsi:type="dcterms:W3CDTF">2013-01-27T09:15:58Z</dcterms:modified>
  <cp:category/>
</cp:coreProperties>
</file>