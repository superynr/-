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구간(숙제=17~21장, 사실 확인=23~24장, 시작 나이=9~13장)에서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20장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17장입니다.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표의 내용은 2026년 9월 확인 기준이며, 정책은 자주 바뀝니다. 연수 직전에 다시 확인하시고 바뀐 부분이 있으면 구두로 정정해 주십시오.</a:t>
            </a:r>
          </a:p>
          <a:p>
            <a:r>
              <a:rPr sz="1100">
                <a:latin typeface="맑은 고딕"/>
                <a:ea typeface="맑은 고딕"/>
                <a:cs typeface="맑은 고딕"/>
              </a:rPr>
              <a:t>핵심 메시지: ①일반 소비자용 서비스와 학교가 제공하는 교육용 계정은 조건이 다릅니다. ②부모 계정을 그냥 빌려주는 방식은 서비스가 정한 연령·계정 공유 조건을 벗어날 수 있습니다. ③‘보호자 동의’는 서류상 동의가 아니라 함께 쓰는 실제 습관을 뜻한다고 풀어 주십시오.</a:t>
            </a:r>
          </a:p>
          <a:p>
            <a:r>
              <a:rPr sz="1100">
                <a:latin typeface="맑은 고딕"/>
                <a:ea typeface="맑은 고딕"/>
                <a:cs typeface="맑은 고딕"/>
              </a:rPr>
              <a:t>‘자녀 계정 연결’ 질문이 나오면: 부모 계정과 아이 본인 계정을 묶는 기능이며, 아이가 이미 자기 계정을 가지고 있어야 합니다(만 13~18세). 부모가 설정 → 자녀 보호 기능 → 가족 구성원 추가에서 전화번호나 이메일로 초대하면 아이가 링크를 눌러 수락합니다. 연결하면 사용 금지 시간대(Quiet hours), 음성 모드·이미지 생성·메모리 끄기, 민감 콘텐츠 제한을 부모가 정할 수 있고, 연결된 동안 아이는 이 설정을 바꿀 수 없습니다.</a:t>
            </a:r>
          </a:p>
          <a:p>
            <a:r>
              <a:rPr sz="1100">
                <a:latin typeface="맑은 고딕"/>
                <a:ea typeface="맑은 고딕"/>
                <a:cs typeface="맑은 고딕"/>
              </a:rPr>
              <a:t>다만 부모가 아이의 대화 내용을 읽을 수는 없습니다. 학부모가 가장 많이 오해하는 지점이므로 먼저 짚어 주십시오. 감시 도구가 아니라 사용 조건을 거는 도구입니다.</a:t>
            </a:r>
          </a:p>
          <a:p>
            <a:r>
              <a:rPr sz="1100">
                <a:latin typeface="맑은 고딕"/>
                <a:ea typeface="맑은 고딕"/>
                <a:cs typeface="맑은 고딕"/>
              </a:rPr>
              <a:t>초등학교 학부모에게는 아직 해당하지 않는 기능입니다. 13세 미만은 계정 자체를 만들 수 없으므로 지금은 보호자 동반 사용이 기본이고, 중학교에 올라가면 쓸 수 있는 기능이라고 예고하는 정도로 안내하십시오.</a:t>
            </a:r>
          </a:p>
          <a:p>
            <a:r>
              <a:rPr sz="1100">
                <a:latin typeface="맑은 고딕"/>
                <a:ea typeface="맑은 고딕"/>
                <a:cs typeface="맑은 고딕"/>
              </a:rPr>
              <a:t>특정 제품을 권하거나 비교 평가하는 자리가 아님을 분명히 하고, 두 서비스는 예시로만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28장에서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질문은 답을 유용하게 만들지만 정확성을 보장하지는 않습니다. 이 점은 23장에서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이용 조건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부모 휴대폰, 어디까지 빌려줄까요?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빌려주기 전에, 그 서비스가 정해 둔 조건부터 보셔야 합니다.</a:t>
            </a:r>
          </a:p>
        </p:txBody>
      </p:sp>
      <p:sp>
        <p:nvSpPr>
          <p:cNvPr id="6" name="Rounded Rectangle 5"/>
          <p:cNvSpPr/>
          <p:nvPr/>
        </p:nvSpPr>
        <p:spPr>
          <a:xfrm>
            <a:off x="777240" y="2057400"/>
            <a:ext cx="5135727" cy="1719072"/>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3134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78024"/>
            <a:ext cx="4623663" cy="384048"/>
          </a:xfrm>
          <a:prstGeom prst="rect">
            <a:avLst/>
          </a:prstGeom>
          <a:noFill/>
        </p:spPr>
        <p:txBody>
          <a:bodyPr wrap="square" anchor="t" lIns="0" rIns="0" tIns="0" bIns="0">
            <a:spAutoFit/>
          </a:bodyPr>
          <a:lstStyle/>
          <a:p>
            <a:pPr algn="l">
              <a:lnSpc>
                <a:spcPct val="112000"/>
              </a:lnSpc>
            </a:pPr>
            <a:r>
              <a:rPr sz="1750" b="1">
                <a:solidFill>
                  <a:srgbClr val="1F2933"/>
                </a:solidFill>
                <a:latin typeface="맑은 고딕"/>
                <a:ea typeface="맑은 고딕"/>
                <a:cs typeface="맑은 고딕"/>
              </a:rPr>
              <a:t>보호자와 함께 쓰기</a:t>
            </a:r>
          </a:p>
        </p:txBody>
      </p:sp>
      <p:sp>
        <p:nvSpPr>
          <p:cNvPr id="9" name="TextBox 8"/>
          <p:cNvSpPr txBox="1"/>
          <p:nvPr/>
        </p:nvSpPr>
        <p:spPr>
          <a:xfrm>
            <a:off x="1033271" y="2904134"/>
            <a:ext cx="4623663" cy="762609"/>
          </a:xfrm>
          <a:prstGeom prst="rect">
            <a:avLst/>
          </a:prstGeom>
          <a:noFill/>
        </p:spPr>
        <p:txBody>
          <a:bodyPr wrap="square" anchor="t" lIns="0" rIns="0" tIns="0" bIns="0">
            <a:spAutoFit/>
          </a:bodyPr>
          <a:lstStyle/>
          <a:p>
            <a:pPr algn="l">
              <a:lnSpc>
                <a:spcPct val="132000"/>
              </a:lnSpc>
              <a:spcAft>
                <a:spcPts val="400"/>
              </a:spcAft>
            </a:pPr>
            <a:r>
              <a:rPr sz="1300" b="0">
                <a:solidFill>
                  <a:srgbClr val="3E4C59"/>
                </a:solidFill>
                <a:latin typeface="맑은 고딕"/>
                <a:ea typeface="맑은 고딕"/>
                <a:cs typeface="맑은 고딕"/>
              </a:rPr>
              <a:t>· 무엇을 알아볼지 먼저 정합니다</a:t>
            </a:r>
          </a:p>
          <a:p>
            <a:pPr algn="l">
              <a:lnSpc>
                <a:spcPct val="132000"/>
              </a:lnSpc>
              <a:spcAft>
                <a:spcPts val="400"/>
              </a:spcAft>
            </a:pPr>
            <a:r>
              <a:rPr sz="1300" b="0">
                <a:solidFill>
                  <a:srgbClr val="3E4C59"/>
                </a:solidFill>
                <a:latin typeface="맑은 고딕"/>
                <a:ea typeface="맑은 고딕"/>
                <a:cs typeface="맑은 고딕"/>
              </a:rPr>
              <a:t>· 어떤 정보를 넣을지 함께 봅니다</a:t>
            </a:r>
          </a:p>
          <a:p>
            <a:pPr algn="l">
              <a:lnSpc>
                <a:spcPct val="132000"/>
              </a:lnSpc>
              <a:spcAft>
                <a:spcPts val="400"/>
              </a:spcAft>
            </a:pPr>
            <a:r>
              <a:rPr sz="1300" b="0">
                <a:solidFill>
                  <a:srgbClr val="3E4C59"/>
                </a:solidFill>
                <a:latin typeface="맑은 고딕"/>
                <a:ea typeface="맑은 고딕"/>
                <a:cs typeface="맑은 고딕"/>
              </a:rPr>
              <a:t>· 언제 끝낼지 미리 약속합니다</a:t>
            </a:r>
          </a:p>
        </p:txBody>
      </p:sp>
      <p:sp>
        <p:nvSpPr>
          <p:cNvPr id="10" name="Rounded Rectangle 9"/>
          <p:cNvSpPr/>
          <p:nvPr/>
        </p:nvSpPr>
        <p:spPr>
          <a:xfrm>
            <a:off x="6278727" y="2057400"/>
            <a:ext cx="5135727" cy="1719072"/>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534759" y="231343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4759" y="2478024"/>
            <a:ext cx="4623663" cy="384048"/>
          </a:xfrm>
          <a:prstGeom prst="rect">
            <a:avLst/>
          </a:prstGeom>
          <a:noFill/>
        </p:spPr>
        <p:txBody>
          <a:bodyPr wrap="square" anchor="t" lIns="0" rIns="0" tIns="0" bIns="0">
            <a:spAutoFit/>
          </a:bodyPr>
          <a:lstStyle/>
          <a:p>
            <a:pPr algn="l">
              <a:lnSpc>
                <a:spcPct val="112000"/>
              </a:lnSpc>
            </a:pPr>
            <a:r>
              <a:rPr sz="1750" b="1">
                <a:solidFill>
                  <a:srgbClr val="1F2933"/>
                </a:solidFill>
                <a:latin typeface="맑은 고딕"/>
                <a:ea typeface="맑은 고딕"/>
                <a:cs typeface="맑은 고딕"/>
              </a:rPr>
              <a:t>아이 혼자 쓰기</a:t>
            </a:r>
          </a:p>
        </p:txBody>
      </p:sp>
      <p:sp>
        <p:nvSpPr>
          <p:cNvPr id="13" name="TextBox 12"/>
          <p:cNvSpPr txBox="1"/>
          <p:nvPr/>
        </p:nvSpPr>
        <p:spPr>
          <a:xfrm>
            <a:off x="6534759" y="2904134"/>
            <a:ext cx="4623663" cy="762609"/>
          </a:xfrm>
          <a:prstGeom prst="rect">
            <a:avLst/>
          </a:prstGeom>
          <a:noFill/>
        </p:spPr>
        <p:txBody>
          <a:bodyPr wrap="square" anchor="t" lIns="0" rIns="0" tIns="0" bIns="0">
            <a:spAutoFit/>
          </a:bodyPr>
          <a:lstStyle/>
          <a:p>
            <a:pPr algn="l">
              <a:lnSpc>
                <a:spcPct val="132000"/>
              </a:lnSpc>
              <a:spcAft>
                <a:spcPts val="400"/>
              </a:spcAft>
            </a:pPr>
            <a:r>
              <a:rPr sz="1300" b="0">
                <a:solidFill>
                  <a:srgbClr val="3E4C59"/>
                </a:solidFill>
                <a:latin typeface="맑은 고딕"/>
                <a:ea typeface="맑은 고딕"/>
                <a:cs typeface="맑은 고딕"/>
              </a:rPr>
              <a:t>· 10장의 준비도 네 가지를 갖췄을 때</a:t>
            </a:r>
          </a:p>
          <a:p>
            <a:pPr algn="l">
              <a:lnSpc>
                <a:spcPct val="132000"/>
              </a:lnSpc>
              <a:spcAft>
                <a:spcPts val="400"/>
              </a:spcAft>
            </a:pPr>
            <a:r>
              <a:rPr sz="1300" b="0">
                <a:solidFill>
                  <a:srgbClr val="3E4C59"/>
                </a:solidFill>
                <a:latin typeface="맑은 고딕"/>
                <a:ea typeface="맑은 고딕"/>
                <a:cs typeface="맑은 고딕"/>
              </a:rPr>
              <a:t>· 사용 목적과 시간을 정해 둔 상태에서</a:t>
            </a:r>
          </a:p>
          <a:p>
            <a:pPr algn="l">
              <a:lnSpc>
                <a:spcPct val="132000"/>
              </a:lnSpc>
              <a:spcAft>
                <a:spcPts val="400"/>
              </a:spcAft>
            </a:pPr>
            <a:r>
              <a:rPr sz="1300" b="0">
                <a:solidFill>
                  <a:srgbClr val="3E4C59"/>
                </a:solidFill>
                <a:latin typeface="맑은 고딕"/>
                <a:ea typeface="맑은 고딕"/>
                <a:cs typeface="맑은 고딕"/>
              </a:rPr>
              <a:t>· 무엇을 물었는지 나중에 이야기하기로</a:t>
            </a:r>
          </a:p>
        </p:txBody>
      </p:sp>
      <p:sp>
        <p:nvSpPr>
          <p:cNvPr id="14" name="Rounded Rectangle 13"/>
          <p:cNvSpPr/>
          <p:nvPr/>
        </p:nvSpPr>
        <p:spPr>
          <a:xfrm>
            <a:off x="777240" y="3895344"/>
            <a:ext cx="10637215" cy="1353312"/>
          </a:xfrm>
          <a:prstGeom prst="roundRect">
            <a:avLst>
              <a:gd name="adj" fmla="val 8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77240" y="3895344"/>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005072"/>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서비스</a:t>
            </a:r>
          </a:p>
        </p:txBody>
      </p:sp>
      <p:sp>
        <p:nvSpPr>
          <p:cNvPr id="17" name="TextBox 16"/>
          <p:cNvSpPr txBox="1"/>
          <p:nvPr/>
        </p:nvSpPr>
        <p:spPr>
          <a:xfrm>
            <a:off x="3383280" y="4005072"/>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연령·동의 조건</a:t>
            </a:r>
          </a:p>
        </p:txBody>
      </p:sp>
      <p:sp>
        <p:nvSpPr>
          <p:cNvPr id="18" name="TextBox 17"/>
          <p:cNvSpPr txBox="1"/>
          <p:nvPr/>
        </p:nvSpPr>
        <p:spPr>
          <a:xfrm>
            <a:off x="6583679" y="4005072"/>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보호자가 할 수 있는 것</a:t>
            </a:r>
          </a:p>
        </p:txBody>
      </p:sp>
      <p:sp>
        <p:nvSpPr>
          <p:cNvPr id="19" name="TextBox 18"/>
          <p:cNvSpPr txBox="1"/>
          <p:nvPr/>
        </p:nvSpPr>
        <p:spPr>
          <a:xfrm>
            <a:off x="1097280" y="4352544"/>
            <a:ext cx="2194560" cy="274320"/>
          </a:xfrm>
          <a:prstGeom prst="rect">
            <a:avLst/>
          </a:prstGeom>
          <a:noFill/>
        </p:spPr>
        <p:txBody>
          <a:bodyPr wrap="square" anchor="t" lIns="0" rIns="0" tIns="0" bIns="0">
            <a:spAutoFit/>
          </a:bodyPr>
          <a:lstStyle/>
          <a:p>
            <a:pPr algn="l">
              <a:lnSpc>
                <a:spcPct val="115000"/>
              </a:lnSpc>
            </a:pPr>
            <a:r>
              <a:rPr sz="1300" b="1" u="sng">
                <a:solidFill>
                  <a:srgbClr val="1D4ED8"/>
                </a:solidFill>
                <a:latin typeface="맑은 고딕"/>
                <a:hlinkClick r:id="rId2"/>
                <a:ea typeface="맑은 고딕"/>
                <a:cs typeface="맑은 고딕"/>
              </a:rPr>
              <a:t>ChatGPT (OpenAI)</a:t>
            </a:r>
          </a:p>
        </p:txBody>
      </p:sp>
      <p:sp>
        <p:nvSpPr>
          <p:cNvPr id="20" name="TextBox 19"/>
          <p:cNvSpPr txBox="1"/>
          <p:nvPr/>
        </p:nvSpPr>
        <p:spPr>
          <a:xfrm>
            <a:off x="3383280" y="4297680"/>
            <a:ext cx="3017520"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만 13세 미만 이용 불가.</a:t>
            </a:r>
          </a:p>
          <a:p>
            <a:pPr algn="l">
              <a:lnSpc>
                <a:spcPct val="125000"/>
              </a:lnSpc>
            </a:pPr>
            <a:r>
              <a:rPr sz="1200" b="0">
                <a:solidFill>
                  <a:srgbClr val="3E4C59"/>
                </a:solidFill>
                <a:latin typeface="맑은 고딕"/>
                <a:ea typeface="맑은 고딕"/>
                <a:cs typeface="맑은 고딕"/>
              </a:rPr>
              <a:t>13~18세는 보호자 동의 필요.</a:t>
            </a:r>
          </a:p>
        </p:txBody>
      </p:sp>
      <p:sp>
        <p:nvSpPr>
          <p:cNvPr id="21" name="TextBox 20"/>
          <p:cNvSpPr txBox="1"/>
          <p:nvPr/>
        </p:nvSpPr>
        <p:spPr>
          <a:xfrm>
            <a:off x="6583679" y="4297680"/>
            <a:ext cx="4480560"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(13세 이상) 자녀 계정과 연결해</a:t>
            </a:r>
          </a:p>
          <a:p>
            <a:pPr algn="l">
              <a:lnSpc>
                <a:spcPct val="125000"/>
              </a:lnSpc>
            </a:pPr>
            <a:r>
              <a:rPr sz="1200" b="0">
                <a:solidFill>
                  <a:srgbClr val="3E4C59"/>
                </a:solidFill>
                <a:latin typeface="맑은 고딕"/>
                <a:ea typeface="맑은 고딕"/>
                <a:cs typeface="맑은 고딕"/>
              </a:rPr>
              <a:t>사용 금지 시간대·기능 제한, 대화 내용 열람은 불가</a:t>
            </a:r>
          </a:p>
        </p:txBody>
      </p:sp>
      <p:sp>
        <p:nvSpPr>
          <p:cNvPr id="22" name="TextBox 21"/>
          <p:cNvSpPr txBox="1"/>
          <p:nvPr/>
        </p:nvSpPr>
        <p:spPr>
          <a:xfrm>
            <a:off x="1097280" y="4828031"/>
            <a:ext cx="2194560" cy="274320"/>
          </a:xfrm>
          <a:prstGeom prst="rect">
            <a:avLst/>
          </a:prstGeom>
          <a:noFill/>
        </p:spPr>
        <p:txBody>
          <a:bodyPr wrap="square" anchor="t" lIns="0" rIns="0" tIns="0" bIns="0">
            <a:spAutoFit/>
          </a:bodyPr>
          <a:lstStyle/>
          <a:p>
            <a:pPr algn="l">
              <a:lnSpc>
                <a:spcPct val="115000"/>
              </a:lnSpc>
            </a:pPr>
            <a:r>
              <a:rPr sz="1300" b="1" u="sng">
                <a:solidFill>
                  <a:srgbClr val="1D4ED8"/>
                </a:solidFill>
                <a:latin typeface="맑은 고딕"/>
                <a:hlinkClick r:id="rId3"/>
                <a:ea typeface="맑은 고딕"/>
                <a:cs typeface="맑은 고딕"/>
              </a:rPr>
              <a:t>Gemini (Google)</a:t>
            </a:r>
          </a:p>
        </p:txBody>
      </p:sp>
      <p:sp>
        <p:nvSpPr>
          <p:cNvPr id="23" name="TextBox 22"/>
          <p:cNvSpPr txBox="1"/>
          <p:nvPr/>
        </p:nvSpPr>
        <p:spPr>
          <a:xfrm>
            <a:off x="3383280" y="4773168"/>
            <a:ext cx="3017520"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만 13세 미만(국내 만 14세)은</a:t>
            </a:r>
          </a:p>
          <a:p>
            <a:pPr algn="l">
              <a:lnSpc>
                <a:spcPct val="125000"/>
              </a:lnSpc>
            </a:pPr>
            <a:r>
              <a:rPr sz="1200" b="0">
                <a:solidFill>
                  <a:srgbClr val="3E4C59"/>
                </a:solidFill>
                <a:latin typeface="맑은 고딕"/>
                <a:ea typeface="맑은 고딕"/>
                <a:cs typeface="맑은 고딕"/>
              </a:rPr>
              <a:t>보호자가 Family Link로 관리</a:t>
            </a:r>
          </a:p>
        </p:txBody>
      </p:sp>
      <p:sp>
        <p:nvSpPr>
          <p:cNvPr id="24" name="TextBox 23"/>
          <p:cNvSpPr txBox="1"/>
          <p:nvPr/>
        </p:nvSpPr>
        <p:spPr>
          <a:xfrm>
            <a:off x="6583679" y="4773168"/>
            <a:ext cx="4480560"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Family Link에서 액세스를 켜고 끄기</a:t>
            </a:r>
          </a:p>
        </p:txBody>
      </p:sp>
      <p:sp>
        <p:nvSpPr>
          <p:cNvPr id="25" name="Rounded Rectangle 24"/>
          <p:cNvSpPr/>
          <p:nvPr/>
        </p:nvSpPr>
        <p:spPr>
          <a:xfrm>
            <a:off x="777240" y="5376672"/>
            <a:ext cx="1063721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3000" y="5550408"/>
            <a:ext cx="9905695" cy="548640"/>
          </a:xfrm>
          <a:prstGeom prst="rect">
            <a:avLst/>
          </a:prstGeom>
          <a:noFill/>
        </p:spPr>
        <p:txBody>
          <a:bodyPr wrap="square" anchor="t" lIns="0" rIns="0" tIns="0" bIns="0">
            <a:spAutoFit/>
          </a:bodyPr>
          <a:lstStyle/>
          <a:p>
            <a:pPr algn="l">
              <a:lnSpc>
                <a:spcPct val="135000"/>
              </a:lnSpc>
              <a:spcAft>
                <a:spcPts val="300"/>
              </a:spcAft>
            </a:pPr>
            <a:r>
              <a:rPr sz="1350" b="1">
                <a:solidFill>
                  <a:srgbClr val="0E7C86"/>
                </a:solidFill>
                <a:latin typeface="맑은 고딕"/>
                <a:ea typeface="맑은 고딕"/>
                <a:cs typeface="맑은 고딕"/>
              </a:rPr>
              <a:t>국내에서는 만 14세 미만 아동의 서비스 가입에 보호자 동의가 필요합니다. 초등 단계는 동반 사용이 기본입니다.</a:t>
            </a:r>
          </a:p>
          <a:p>
            <a:pPr algn="l">
              <a:lnSpc>
                <a:spcPct val="135000"/>
              </a:lnSpc>
              <a:spcAft>
                <a:spcPts val="300"/>
              </a:spcAft>
            </a:pPr>
            <a:r>
              <a:rPr sz="1350" b="0">
                <a:solidFill>
                  <a:srgbClr val="3E4C59"/>
                </a:solidFill>
                <a:latin typeface="맑은 고딕"/>
                <a:ea typeface="맑은 고딕"/>
                <a:cs typeface="맑은 고딕"/>
              </a:rPr>
              <a:t>연령·계정 정책은 자주 바뀝니다. 실제로 쓰실 서비스의 공식 약관과 도움말을 확인해 주세요.</a:t>
            </a:r>
          </a:p>
        </p:txBody>
      </p:sp>
      <p:sp>
        <p:nvSpPr>
          <p:cNvPr id="27" name="Rectangle 2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4"/>
                <a:ea typeface="맑은 고딕"/>
                <a:cs typeface="맑은 고딕"/>
              </a:rPr>
              <a:t>출처: OpenAI 고객센터·이용약관, Google Gemini/Family Link 고객센터 (2026년 9월 확인 기준) · 개인정보 보호법 제22조의2(아동의 개인정보 보호)</a:t>
            </a: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초등학생이 직접 가입할 수 있는 범용 AI 챗봇은 사실상 없습니다.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질문의 구조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좋은 질문은 네 가지를 담습니다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이 네 가지가 들어가면 돌아오는 답이 확 달라집니다.</a:t>
            </a:r>
          </a:p>
        </p:txBody>
      </p:sp>
      <p:sp>
        <p:nvSpPr>
          <p:cNvPr id="6" name="Rounded Rectangle 5"/>
          <p:cNvSpPr/>
          <p:nvPr/>
        </p:nvSpPr>
        <p:spPr>
          <a:xfrm>
            <a:off x="777240"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33271"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33271"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Rounded Rectangle 10"/>
          <p:cNvSpPr/>
          <p:nvPr/>
        </p:nvSpPr>
        <p:spPr>
          <a:xfrm>
            <a:off x="3505123"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4" name="TextBox 13"/>
          <p:cNvSpPr txBox="1"/>
          <p:nvPr/>
        </p:nvSpPr>
        <p:spPr>
          <a:xfrm>
            <a:off x="3761155"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5" name="TextBox 14"/>
          <p:cNvSpPr txBox="1"/>
          <p:nvPr/>
        </p:nvSpPr>
        <p:spPr>
          <a:xfrm>
            <a:off x="3761155"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6" name="Rounded Rectangle 15"/>
          <p:cNvSpPr/>
          <p:nvPr/>
        </p:nvSpPr>
        <p:spPr>
          <a:xfrm>
            <a:off x="6233007"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8903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19" name="TextBox 18"/>
          <p:cNvSpPr txBox="1"/>
          <p:nvPr/>
        </p:nvSpPr>
        <p:spPr>
          <a:xfrm>
            <a:off x="6489039"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0" name="TextBox 19"/>
          <p:cNvSpPr txBox="1"/>
          <p:nvPr/>
        </p:nvSpPr>
        <p:spPr>
          <a:xfrm>
            <a:off x="6489039"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1" name="Rounded Rectangle 20"/>
          <p:cNvSpPr/>
          <p:nvPr/>
        </p:nvSpPr>
        <p:spPr>
          <a:xfrm>
            <a:off x="8960891"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1692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692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4" name="TextBox 23"/>
          <p:cNvSpPr txBox="1"/>
          <p:nvPr/>
        </p:nvSpPr>
        <p:spPr>
          <a:xfrm>
            <a:off x="9216923"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5" name="TextBox 24"/>
          <p:cNvSpPr txBox="1"/>
          <p:nvPr/>
        </p:nvSpPr>
        <p:spPr>
          <a:xfrm>
            <a:off x="9216923"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6" name="Rounded Rectangle 25"/>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4261104"/>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네 가지를 합치면 이런 질문이 됩니다</a:t>
            </a:r>
          </a:p>
        </p:txBody>
      </p:sp>
      <p:sp>
        <p:nvSpPr>
          <p:cNvPr id="28" name="Rectangle 27"/>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출처까지 달려 나오면 더 믿음이 갑니다. 그런데 그게 진짜인지는 또 다른 문제입니다.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하단에 출처, 발표자 노트에 연구 조건·해석의 한계·퀴즈 정답 수록.</dc:description>
  <cp:lastModifiedBy>Steve Canny</cp:lastModifiedBy>
  <cp:revision>1</cp:revision>
  <dcterms:created xsi:type="dcterms:W3CDTF">2013-01-27T09:14:16Z</dcterms:created>
  <dcterms:modified xsi:type="dcterms:W3CDTF">2013-01-27T09:15:58Z</dcterms:modified>
  <cp:category/>
</cp:coreProperties>
</file>