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구간(숙제=17~21장, 사실 확인=23~24장, 시작 나이=9~13장)에서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5~8장에서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23장에서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20장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13장에서 첫 번째 관문(서비스별 연령 조건)을 구체적으로 다룹니다. 두 번째 관문(학교 지침)은 11~12장, 17장입니다.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방법입니다(24장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표의 내용은 2026년 9월 확인 기준이며, 정책은 자주 바뀝니다. 연수 직전에 다시 확인하시고 바뀐 부분이 있으면 구두로 정정해 주십시오.</a:t>
            </a:r>
          </a:p>
          <a:p>
            <a:r>
              <a:rPr sz="1100">
                <a:latin typeface="맑은 고딕"/>
                <a:ea typeface="맑은 고딕"/>
                <a:cs typeface="맑은 고딕"/>
              </a:rPr>
              <a:t>핵심 메시지: ①일반 소비자용 서비스와 학교가 제공하는 교육용 계정은 조건이 다릅니다. ②부모 계정을 그냥 빌려주는 방식은 서비스가 정한 연령·계정 공유 조건을 벗어날 수 있습니다. ③‘보호자 동의’는 서류상 동의가 아니라 함께 쓰는 실제 습관을 뜻한다고 풀어 주십시오.</a:t>
            </a:r>
          </a:p>
          <a:p>
            <a:r>
              <a:rPr sz="1100">
                <a:latin typeface="맑은 고딕"/>
                <a:ea typeface="맑은 고딕"/>
                <a:cs typeface="맑은 고딕"/>
              </a:rPr>
              <a:t>특정 제품을 권하거나 비교 평가하는 자리가 아님을 분명히 하고, 두 서비스는 예시로만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28장에서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12장의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8장 연구에서 효과를 만든 것이 바로 이 부분, 즉 ‘정답 대신 힌트’ 설정이었습니다.</a:t>
            </a:r>
          </a:p>
          <a:p>
            <a:r>
              <a:rPr sz="1100">
                <a:latin typeface="맑은 고딕"/>
                <a:ea typeface="맑은 고딕"/>
                <a:cs typeface="맑은 고딕"/>
              </a:rPr>
              <a:t>주의: 좋은 질문은 답을 유용하게 만들지만 정확성을 보장하지는 않습니다. 이 점은 23장에서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표현입니다(5장과 연결).</a:t>
            </a:r>
          </a:p>
          <a:p>
            <a:r>
              <a:rPr sz="1100">
                <a:latin typeface="맑은 고딕"/>
                <a:ea typeface="맑은 고딕"/>
                <a:cs typeface="맑은 고딕"/>
              </a:rPr>
              <a:t>수치 안내: 한국청소년정책연구원 조사에서 ‘생성형 AI가 제공하는 정보가 사실인지 확인할 수 있다’는 자기 평가는 3.36점, ‘정보가 특정 견해에 치우쳐 있는지 판단할 수 있다’는 3.45점으로 낮게 나타났습니다.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 서비스와 시점에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아닌가’라는 불안에 답하는 장입니다.</a:t>
            </a:r>
          </a:p>
          <a:p>
            <a:r>
              <a:rPr sz="1100">
                <a:latin typeface="맑은 고딕"/>
                <a:ea typeface="맑은 고딕"/>
                <a:cs typeface="맑은 고딕"/>
              </a:rPr>
              <a:t>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있습니다(13장).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연수가 바꾸려는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초등학생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90분 뒤 집에서 바로 쓸 수 있는 것만 남기겠습니다.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365760"/>
          </a:xfrm>
          <a:prstGeom prst="rect">
            <a:avLst/>
          </a:prstGeom>
          <a:noFill/>
        </p:spPr>
        <p:txBody>
          <a:bodyPr wrap="square" anchor="t" lIns="0" rIns="0" tIns="0" bIns="0">
            <a:spAutoFit/>
          </a:bodyPr>
          <a:lstStyle/>
          <a:p>
            <a:pPr algn="l">
              <a:lnSpc>
                <a:spcPct val="115000"/>
              </a:lnSpc>
            </a:pPr>
            <a:r>
              <a:rPr sz="1900" b="1">
                <a:solidFill>
                  <a:srgbClr val="1F2933"/>
                </a:solidFill>
                <a:latin typeface="맑은 고딕"/>
                <a:ea typeface="맑은 고딕"/>
                <a:cs typeface="맑은 고딕"/>
              </a:rPr>
              <a:t>맞힌 것은 AI이고, 배우는 것은 아이입니다.</a:t>
            </a:r>
          </a:p>
        </p:txBody>
      </p:sp>
      <p:sp>
        <p:nvSpPr>
          <p:cNvPr id="12" name="Rounded Rectangle 11"/>
          <p:cNvSpPr/>
          <p:nvPr/>
        </p:nvSpPr>
        <p:spPr>
          <a:xfrm>
            <a:off x="6446520" y="2761488"/>
            <a:ext cx="2346807" cy="18288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017520"/>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427171"/>
            <a:ext cx="1834743" cy="105338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761488"/>
            <a:ext cx="2346807" cy="182880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01752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18211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591763"/>
            <a:ext cx="1834743" cy="88879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75488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495604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확인하는 방법은 하나입니다. 화면을 닫고 아이에게 설명하게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원리를 알면 어디를 확인해야 하는지가 보입니다.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자료를 함께 찾는지, 도구를 연결해 계산하는지는 서비스마다 다릅니다. 쓰는 서비스가 무엇을 하는지부터 확인해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갈림길을 정하는 것은 AI의 성능이 아니라 ‘무엇을 요청했는가’입니다.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장의 연구도 이 세 가지를 먼저 확인한 뒤에 읽겠습니다.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502920"/>
          </a:xfrm>
          <a:prstGeom prst="rect">
            <a:avLst/>
          </a:prstGeom>
          <a:noFill/>
        </p:spPr>
        <p:txBody>
          <a:bodyPr wrap="square" anchor="t" lIns="0" rIns="0" tIns="0" bIns="0">
            <a:spAutoFit/>
          </a:bodyPr>
          <a:lstStyle/>
          <a:p>
            <a:pPr algn="l">
              <a:lnSpc>
                <a:spcPct val="115000"/>
              </a:lnSpc>
            </a:pPr>
            <a:r>
              <a:rPr sz="1500" b="0">
                <a:solidFill>
                  <a:srgbClr val="3E4C59"/>
                </a:solidFill>
                <a:latin typeface="맑은 고딕"/>
                <a:ea typeface="맑은 고딕"/>
                <a:cs typeface="맑은 고딕"/>
              </a:rPr>
              <a:t>차이를 만든 것은 설정이었습니다. </a:t>
            </a:r>
            <a:r>
              <a:rPr sz="1500" b="1">
                <a:solidFill>
                  <a:srgbClr val="0E7C86"/>
                </a:solidFill>
                <a:latin typeface="맑은 고딕"/>
                <a:ea typeface="맑은 고딕"/>
                <a:cs typeface="맑은 고딕"/>
              </a:rPr>
              <a:t>정답을 바로 주지 않고 교사가 설계한 힌트를 주도록 했더니 부정적 효과가 대부분 사라졌습니다.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102412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54864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연령 조건을 충족한다고 곧바로 혼자 써도 된다는 뜻은 아닙니다. </a:t>
            </a:r>
            <a:r>
              <a:rPr sz="1500" b="0">
                <a:solidFill>
                  <a:srgbClr val="3E4C59"/>
                </a:solidFill>
                <a:latin typeface="맑은 고딕"/>
                <a:ea typeface="맑은 고딕"/>
                <a:cs typeface="맑은 고딕"/>
              </a:rPr>
              <a:t>세 관문을 모두 통과했을 때 비로소 ‘우리 아이에게 지금 맞다’고 말할 수 있습니다.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네 가지가 아직이라면, 금지가 아니라 ‘보호자와 함께 쓰기’ 단계입니다.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가르치는 것’과 ‘AI로 가르치는 것’은 다릅니다.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828032"/>
            <a:ext cx="9905695" cy="9144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2022 개정 교육과정에서 정보 교육 시수가 늘었습니다. </a:t>
            </a:r>
            <a:r>
              <a:rPr sz="1450" b="1">
                <a:solidFill>
                  <a:srgbClr val="0E7C86"/>
                </a:solidFill>
                <a:latin typeface="맑은 고딕"/>
                <a:ea typeface="맑은 고딕"/>
                <a:cs typeface="맑은 고딕"/>
              </a:rPr>
              <a:t>초등학교는 17시간에서 34시간 이상, 중학교는 34시간에서 68시간 이상.</a:t>
            </a:r>
          </a:p>
          <a:p>
            <a:pPr algn="l">
              <a:lnSpc>
                <a:spcPct val="135000"/>
              </a:lnSpc>
              <a:spcAft>
                <a:spcPts val="400"/>
              </a:spcAft>
            </a:pPr>
            <a:r>
              <a:rPr sz="1450" b="0">
                <a:solidFill>
                  <a:srgbClr val="3E4C59"/>
                </a:solidFill>
                <a:latin typeface="맑은 고딕"/>
                <a:ea typeface="맑은 고딕"/>
                <a:cs typeface="맑은 고딕"/>
              </a:rPr>
              <a:t>학교가 AI를 다루지 않는 것이 아니라, 이미 교육과정 안에 들어와 있습니다.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교육부, 2022 개정 교육과정(정보 교육 시수 확대)</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네 가지 답을 알고 있으면, 집에서 정할 규칙의 범위가 저절로 정해집니다.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이용 조건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부모 휴대폰, 어디까지 빌려줄까요?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빌려주기 전에 서비스가 정한 조건부터 확인합니다.</a:t>
            </a:r>
          </a:p>
        </p:txBody>
      </p:sp>
      <p:sp>
        <p:nvSpPr>
          <p:cNvPr id="6" name="Rounded Rectangle 5"/>
          <p:cNvSpPr/>
          <p:nvPr/>
        </p:nvSpPr>
        <p:spPr>
          <a:xfrm>
            <a:off x="777240" y="2084832"/>
            <a:ext cx="5135727" cy="1810512"/>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340864"/>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505456"/>
            <a:ext cx="4623663" cy="384048"/>
          </a:xfrm>
          <a:prstGeom prst="rect">
            <a:avLst/>
          </a:prstGeom>
          <a:noFill/>
        </p:spPr>
        <p:txBody>
          <a:bodyPr wrap="square" anchor="t" lIns="0" rIns="0" tIns="0" bIns="0">
            <a:spAutoFit/>
          </a:bodyPr>
          <a:lstStyle/>
          <a:p>
            <a:pPr algn="l">
              <a:lnSpc>
                <a:spcPct val="112000"/>
              </a:lnSpc>
            </a:pPr>
            <a:r>
              <a:rPr sz="1750" b="1">
                <a:solidFill>
                  <a:srgbClr val="1F2933"/>
                </a:solidFill>
                <a:latin typeface="맑은 고딕"/>
                <a:ea typeface="맑은 고딕"/>
                <a:cs typeface="맑은 고딕"/>
              </a:rPr>
              <a:t>보호자와 함께 쓰기</a:t>
            </a:r>
          </a:p>
        </p:txBody>
      </p:sp>
      <p:sp>
        <p:nvSpPr>
          <p:cNvPr id="9" name="TextBox 8"/>
          <p:cNvSpPr txBox="1"/>
          <p:nvPr/>
        </p:nvSpPr>
        <p:spPr>
          <a:xfrm>
            <a:off x="1033271" y="2931566"/>
            <a:ext cx="4623663" cy="854049"/>
          </a:xfrm>
          <a:prstGeom prst="rect">
            <a:avLst/>
          </a:prstGeom>
          <a:noFill/>
        </p:spPr>
        <p:txBody>
          <a:bodyPr wrap="square" anchor="t" lIns="0" rIns="0" tIns="0" bIns="0">
            <a:spAutoFit/>
          </a:bodyPr>
          <a:lstStyle/>
          <a:p>
            <a:pPr algn="l">
              <a:lnSpc>
                <a:spcPct val="132000"/>
              </a:lnSpc>
              <a:spcAft>
                <a:spcPts val="400"/>
              </a:spcAft>
            </a:pPr>
            <a:r>
              <a:rPr sz="1300" b="0">
                <a:solidFill>
                  <a:srgbClr val="3E4C59"/>
                </a:solidFill>
                <a:latin typeface="맑은 고딕"/>
                <a:ea typeface="맑은 고딕"/>
                <a:cs typeface="맑은 고딕"/>
              </a:rPr>
              <a:t>· 무엇을 알아볼지 먼저 정합니다</a:t>
            </a:r>
          </a:p>
          <a:p>
            <a:pPr algn="l">
              <a:lnSpc>
                <a:spcPct val="132000"/>
              </a:lnSpc>
              <a:spcAft>
                <a:spcPts val="400"/>
              </a:spcAft>
            </a:pPr>
            <a:r>
              <a:rPr sz="1300" b="0">
                <a:solidFill>
                  <a:srgbClr val="3E4C59"/>
                </a:solidFill>
                <a:latin typeface="맑은 고딕"/>
                <a:ea typeface="맑은 고딕"/>
                <a:cs typeface="맑은 고딕"/>
              </a:rPr>
              <a:t>· 어떤 정보를 넣을지 함께 봅니다</a:t>
            </a:r>
          </a:p>
          <a:p>
            <a:pPr algn="l">
              <a:lnSpc>
                <a:spcPct val="132000"/>
              </a:lnSpc>
              <a:spcAft>
                <a:spcPts val="400"/>
              </a:spcAft>
            </a:pPr>
            <a:r>
              <a:rPr sz="1300" b="0">
                <a:solidFill>
                  <a:srgbClr val="3E4C59"/>
                </a:solidFill>
                <a:latin typeface="맑은 고딕"/>
                <a:ea typeface="맑은 고딕"/>
                <a:cs typeface="맑은 고딕"/>
              </a:rPr>
              <a:t>· 언제 끝낼지 미리 약속합니다</a:t>
            </a:r>
          </a:p>
        </p:txBody>
      </p:sp>
      <p:sp>
        <p:nvSpPr>
          <p:cNvPr id="10" name="Rounded Rectangle 9"/>
          <p:cNvSpPr/>
          <p:nvPr/>
        </p:nvSpPr>
        <p:spPr>
          <a:xfrm>
            <a:off x="6278727" y="2084832"/>
            <a:ext cx="5135727" cy="1810512"/>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534759" y="2340864"/>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4759" y="2505456"/>
            <a:ext cx="4623663" cy="384048"/>
          </a:xfrm>
          <a:prstGeom prst="rect">
            <a:avLst/>
          </a:prstGeom>
          <a:noFill/>
        </p:spPr>
        <p:txBody>
          <a:bodyPr wrap="square" anchor="t" lIns="0" rIns="0" tIns="0" bIns="0">
            <a:spAutoFit/>
          </a:bodyPr>
          <a:lstStyle/>
          <a:p>
            <a:pPr algn="l">
              <a:lnSpc>
                <a:spcPct val="112000"/>
              </a:lnSpc>
            </a:pPr>
            <a:r>
              <a:rPr sz="1750" b="1">
                <a:solidFill>
                  <a:srgbClr val="1F2933"/>
                </a:solidFill>
                <a:latin typeface="맑은 고딕"/>
                <a:ea typeface="맑은 고딕"/>
                <a:cs typeface="맑은 고딕"/>
              </a:rPr>
              <a:t>아이 혼자 쓰기</a:t>
            </a:r>
          </a:p>
        </p:txBody>
      </p:sp>
      <p:sp>
        <p:nvSpPr>
          <p:cNvPr id="13" name="TextBox 12"/>
          <p:cNvSpPr txBox="1"/>
          <p:nvPr/>
        </p:nvSpPr>
        <p:spPr>
          <a:xfrm>
            <a:off x="6534759" y="2931566"/>
            <a:ext cx="4623663" cy="854049"/>
          </a:xfrm>
          <a:prstGeom prst="rect">
            <a:avLst/>
          </a:prstGeom>
          <a:noFill/>
        </p:spPr>
        <p:txBody>
          <a:bodyPr wrap="square" anchor="t" lIns="0" rIns="0" tIns="0" bIns="0">
            <a:spAutoFit/>
          </a:bodyPr>
          <a:lstStyle/>
          <a:p>
            <a:pPr algn="l">
              <a:lnSpc>
                <a:spcPct val="132000"/>
              </a:lnSpc>
              <a:spcAft>
                <a:spcPts val="400"/>
              </a:spcAft>
            </a:pPr>
            <a:r>
              <a:rPr sz="1300" b="0">
                <a:solidFill>
                  <a:srgbClr val="3E4C59"/>
                </a:solidFill>
                <a:latin typeface="맑은 고딕"/>
                <a:ea typeface="맑은 고딕"/>
                <a:cs typeface="맑은 고딕"/>
              </a:rPr>
              <a:t>· 10장의 준비도 네 가지를 갖췄을 때</a:t>
            </a:r>
          </a:p>
          <a:p>
            <a:pPr algn="l">
              <a:lnSpc>
                <a:spcPct val="132000"/>
              </a:lnSpc>
              <a:spcAft>
                <a:spcPts val="400"/>
              </a:spcAft>
            </a:pPr>
            <a:r>
              <a:rPr sz="1300" b="0">
                <a:solidFill>
                  <a:srgbClr val="3E4C59"/>
                </a:solidFill>
                <a:latin typeface="맑은 고딕"/>
                <a:ea typeface="맑은 고딕"/>
                <a:cs typeface="맑은 고딕"/>
              </a:rPr>
              <a:t>· 사용 목적과 시간을 정해 둔 상태에서</a:t>
            </a:r>
          </a:p>
          <a:p>
            <a:pPr algn="l">
              <a:lnSpc>
                <a:spcPct val="132000"/>
              </a:lnSpc>
              <a:spcAft>
                <a:spcPts val="400"/>
              </a:spcAft>
            </a:pPr>
            <a:r>
              <a:rPr sz="1300" b="0">
                <a:solidFill>
                  <a:srgbClr val="3E4C59"/>
                </a:solidFill>
                <a:latin typeface="맑은 고딕"/>
                <a:ea typeface="맑은 고딕"/>
                <a:cs typeface="맑은 고딕"/>
              </a:rPr>
              <a:t>· 무엇을 물었는지 나중에 이야기하기로</a:t>
            </a:r>
          </a:p>
        </p:txBody>
      </p:sp>
      <p:sp>
        <p:nvSpPr>
          <p:cNvPr id="14" name="Rounded Rectangle 13"/>
          <p:cNvSpPr/>
          <p:nvPr/>
        </p:nvSpPr>
        <p:spPr>
          <a:xfrm>
            <a:off x="777240" y="4041648"/>
            <a:ext cx="10637215" cy="1417320"/>
          </a:xfrm>
          <a:prstGeom prst="roundRect">
            <a:avLst>
              <a:gd name="adj" fmla="val 8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77240" y="4041648"/>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151376"/>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서비스</a:t>
            </a:r>
          </a:p>
        </p:txBody>
      </p:sp>
      <p:sp>
        <p:nvSpPr>
          <p:cNvPr id="17" name="TextBox 16"/>
          <p:cNvSpPr txBox="1"/>
          <p:nvPr/>
        </p:nvSpPr>
        <p:spPr>
          <a:xfrm>
            <a:off x="3611880" y="4151376"/>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연령·동의 조건</a:t>
            </a:r>
          </a:p>
        </p:txBody>
      </p:sp>
      <p:sp>
        <p:nvSpPr>
          <p:cNvPr id="18" name="TextBox 17"/>
          <p:cNvSpPr txBox="1"/>
          <p:nvPr/>
        </p:nvSpPr>
        <p:spPr>
          <a:xfrm>
            <a:off x="7543800" y="4151376"/>
            <a:ext cx="32918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보호자가 할 수 있는 것</a:t>
            </a:r>
          </a:p>
        </p:txBody>
      </p:sp>
      <p:sp>
        <p:nvSpPr>
          <p:cNvPr id="19" name="TextBox 18"/>
          <p:cNvSpPr txBox="1"/>
          <p:nvPr/>
        </p:nvSpPr>
        <p:spPr>
          <a:xfrm>
            <a:off x="1097280" y="4498848"/>
            <a:ext cx="2377440" cy="274320"/>
          </a:xfrm>
          <a:prstGeom prst="rect">
            <a:avLst/>
          </a:prstGeom>
          <a:noFill/>
        </p:spPr>
        <p:txBody>
          <a:bodyPr wrap="square" anchor="t" lIns="0" rIns="0" tIns="0" bIns="0">
            <a:spAutoFit/>
          </a:bodyPr>
          <a:lstStyle/>
          <a:p>
            <a:pPr algn="l">
              <a:lnSpc>
                <a:spcPct val="115000"/>
              </a:lnSpc>
            </a:pPr>
            <a:r>
              <a:rPr sz="1300" b="1">
                <a:solidFill>
                  <a:srgbClr val="1F2933"/>
                </a:solidFill>
                <a:latin typeface="맑은 고딕"/>
                <a:ea typeface="맑은 고딕"/>
                <a:cs typeface="맑은 고딕"/>
              </a:rPr>
              <a:t>ChatGPT (OpenAI)</a:t>
            </a:r>
          </a:p>
        </p:txBody>
      </p:sp>
      <p:sp>
        <p:nvSpPr>
          <p:cNvPr id="20" name="TextBox 19"/>
          <p:cNvSpPr txBox="1"/>
          <p:nvPr/>
        </p:nvSpPr>
        <p:spPr>
          <a:xfrm>
            <a:off x="3611880" y="4443984"/>
            <a:ext cx="3749039"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만 13세 미만 이용 불가.</a:t>
            </a:r>
          </a:p>
          <a:p>
            <a:pPr algn="l">
              <a:lnSpc>
                <a:spcPct val="125000"/>
              </a:lnSpc>
            </a:pPr>
            <a:r>
              <a:rPr sz="1200" b="0">
                <a:solidFill>
                  <a:srgbClr val="3E4C59"/>
                </a:solidFill>
                <a:latin typeface="맑은 고딕"/>
                <a:ea typeface="맑은 고딕"/>
                <a:cs typeface="맑은 고딕"/>
              </a:rPr>
              <a:t>13~18세는 보호자 동의 필요.</a:t>
            </a:r>
          </a:p>
        </p:txBody>
      </p:sp>
      <p:sp>
        <p:nvSpPr>
          <p:cNvPr id="21" name="TextBox 20"/>
          <p:cNvSpPr txBox="1"/>
          <p:nvPr/>
        </p:nvSpPr>
        <p:spPr>
          <a:xfrm>
            <a:off x="7543800" y="4498848"/>
            <a:ext cx="365760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자녀 계정을 연결해 사용 시간대·기능 제한 설정</a:t>
            </a:r>
          </a:p>
        </p:txBody>
      </p:sp>
      <p:sp>
        <p:nvSpPr>
          <p:cNvPr id="22" name="TextBox 21"/>
          <p:cNvSpPr txBox="1"/>
          <p:nvPr/>
        </p:nvSpPr>
        <p:spPr>
          <a:xfrm>
            <a:off x="1097280" y="5020056"/>
            <a:ext cx="2377440" cy="274320"/>
          </a:xfrm>
          <a:prstGeom prst="rect">
            <a:avLst/>
          </a:prstGeom>
          <a:noFill/>
        </p:spPr>
        <p:txBody>
          <a:bodyPr wrap="square" anchor="t" lIns="0" rIns="0" tIns="0" bIns="0">
            <a:spAutoFit/>
          </a:bodyPr>
          <a:lstStyle/>
          <a:p>
            <a:pPr algn="l">
              <a:lnSpc>
                <a:spcPct val="115000"/>
              </a:lnSpc>
            </a:pPr>
            <a:r>
              <a:rPr sz="1300" b="1">
                <a:solidFill>
                  <a:srgbClr val="1F2933"/>
                </a:solidFill>
                <a:latin typeface="맑은 고딕"/>
                <a:ea typeface="맑은 고딕"/>
                <a:cs typeface="맑은 고딕"/>
              </a:rPr>
              <a:t>Gemini (Google)</a:t>
            </a:r>
          </a:p>
        </p:txBody>
      </p:sp>
      <p:sp>
        <p:nvSpPr>
          <p:cNvPr id="23" name="TextBox 22"/>
          <p:cNvSpPr txBox="1"/>
          <p:nvPr/>
        </p:nvSpPr>
        <p:spPr>
          <a:xfrm>
            <a:off x="3611880" y="4965192"/>
            <a:ext cx="3749039" cy="502920"/>
          </a:xfrm>
          <a:prstGeom prst="rect">
            <a:avLst/>
          </a:prstGeom>
          <a:noFill/>
        </p:spPr>
        <p:txBody>
          <a:bodyPr wrap="square" anchor="t" lIns="0" rIns="0" tIns="0" bIns="0">
            <a:spAutoFit/>
          </a:bodyPr>
          <a:lstStyle/>
          <a:p>
            <a:pPr algn="l">
              <a:lnSpc>
                <a:spcPct val="125000"/>
              </a:lnSpc>
            </a:pPr>
            <a:r>
              <a:rPr sz="1200" b="0">
                <a:solidFill>
                  <a:srgbClr val="3E4C59"/>
                </a:solidFill>
                <a:latin typeface="맑은 고딕"/>
                <a:ea typeface="맑은 고딕"/>
                <a:cs typeface="맑은 고딕"/>
              </a:rPr>
              <a:t>만 13세 미만은 보호자가</a:t>
            </a:r>
          </a:p>
          <a:p>
            <a:pPr algn="l">
              <a:lnSpc>
                <a:spcPct val="125000"/>
              </a:lnSpc>
            </a:pPr>
            <a:r>
              <a:rPr sz="1200" b="0">
                <a:solidFill>
                  <a:srgbClr val="3E4C59"/>
                </a:solidFill>
                <a:latin typeface="맑은 고딕"/>
                <a:ea typeface="맑은 고딕"/>
                <a:cs typeface="맑은 고딕"/>
              </a:rPr>
              <a:t>Family Link로 관리.</a:t>
            </a:r>
          </a:p>
        </p:txBody>
      </p:sp>
      <p:sp>
        <p:nvSpPr>
          <p:cNvPr id="24" name="TextBox 23"/>
          <p:cNvSpPr txBox="1"/>
          <p:nvPr/>
        </p:nvSpPr>
        <p:spPr>
          <a:xfrm>
            <a:off x="7543800" y="5020056"/>
            <a:ext cx="365760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Family Link에서 액세스를 켜고 끄기</a:t>
            </a:r>
          </a:p>
        </p:txBody>
      </p:sp>
      <p:sp>
        <p:nvSpPr>
          <p:cNvPr id="25" name="Rounded Rectangle 24"/>
          <p:cNvSpPr/>
          <p:nvPr/>
        </p:nvSpPr>
        <p:spPr>
          <a:xfrm>
            <a:off x="777240" y="5596127"/>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143000" y="5779008"/>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조건은 바뀝니다. 실제로 쓰실 서비스의 공식 약관과 도움말을 그때그때 확인해 주세요.</a:t>
            </a:r>
          </a:p>
        </p:txBody>
      </p:sp>
      <p:sp>
        <p:nvSpPr>
          <p:cNvPr id="27" name="Rectangle 2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OpenAI 고객센터·이용약관, Google Gemini/Family Link 고객센터 (2026년 9월 확인 기준)</a:t>
            </a: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노랑이 가장 중요합니다. 금지가 아니라 “먼저 물어본다”가 습관이 되게 합니다.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3번 자리입니다. </a:t>
            </a:r>
            <a:r>
              <a:rPr sz="1450" b="0">
                <a:solidFill>
                  <a:srgbClr val="3E4C59"/>
                </a:solidFill>
                <a:latin typeface="맑은 고딕"/>
                <a:ea typeface="맑은 고딕"/>
                <a:cs typeface="맑은 고딕"/>
              </a:rPr>
              <a:t>1번과 2번을 건너뛰면 아이는 ‘무엇을 모르는지’를 모른 채 답부터 받게 됩니다.</a:t>
            </a:r>
          </a:p>
          <a:p>
            <a:pPr algn="l">
              <a:lnSpc>
                <a:spcPct val="135000"/>
              </a:lnSpc>
              <a:spcAft>
                <a:spcPts val="400"/>
              </a:spcAft>
            </a:pPr>
            <a:r>
              <a:rPr sz="1450" b="0">
                <a:solidFill>
                  <a:srgbClr val="3E4C59"/>
                </a:solidFill>
                <a:latin typeface="맑은 고딕"/>
                <a:ea typeface="맑은 고딕"/>
                <a:cs typeface="맑은 고딕"/>
              </a:rPr>
              <a:t>5번으로 한 바퀴를 닫아야 그날의 공부가 아이에게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하나가 나머지를 대신하지 않습니다.</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찾는 경험을 대신하지 않도록 자리를 정해 주는 것이 부모의 역할입니다.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수업과 연계되는 평가의 특성을 고려해, 금지보다 안전하고 교육적으로 활용하도록 하는 데 주안점을 두었습니다.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17043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83480"/>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321808"/>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교육부·17개 시도교육청, 「수행평가 시 인공지능(AI) 활용 관리 방안」</a:t>
            </a: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경계는 과제마다 다릅니다. </a:t>
            </a:r>
            <a:r>
              <a:rPr sz="1450" b="1">
                <a:solidFill>
                  <a:srgbClr val="0E7C86"/>
                </a:solidFill>
                <a:latin typeface="맑은 고딕"/>
                <a:ea typeface="맑은 고딕"/>
                <a:cs typeface="맑은 고딕"/>
              </a:rPr>
              <a:t>“이 과제가 평가하려는 능력을 AI가 대신하고 있지 않은가?”</a:t>
            </a:r>
            <a:r>
              <a:rPr sz="1450" b="0">
                <a:solidFill>
                  <a:srgbClr val="3E4C59"/>
                </a:solidFill>
                <a:latin typeface="맑은 고딕"/>
                <a:ea typeface="맑은 고딕"/>
                <a:cs typeface="맑은 고딕"/>
              </a:rPr>
              <a:t>를 기준으로 판단해 주세요.</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것이 과제의 목표였다면, 줄거리 요약을 AI에게 맡긴 순간 평가하려던 능력이 빠져나갑니다.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상황, 요청 한 줄만 바꿉니다.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한 가지씩 만들어 보세요. 우리 아이가 자주 하는 질문을 바꿔 보는 것이 가장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질문의 구조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좋은 질문은 네 가지를 담습니다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이 네 가지가 들어가면 AI의 답이 ‘아이에게 맞는 답’이 됩니다.</a:t>
            </a:r>
          </a:p>
        </p:txBody>
      </p:sp>
      <p:sp>
        <p:nvSpPr>
          <p:cNvPr id="6" name="Rounded Rectangle 5"/>
          <p:cNvSpPr/>
          <p:nvPr/>
        </p:nvSpPr>
        <p:spPr>
          <a:xfrm>
            <a:off x="777240"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33271"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33271"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Rounded Rectangle 10"/>
          <p:cNvSpPr/>
          <p:nvPr/>
        </p:nvSpPr>
        <p:spPr>
          <a:xfrm>
            <a:off x="3505123"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4" name="TextBox 13"/>
          <p:cNvSpPr txBox="1"/>
          <p:nvPr/>
        </p:nvSpPr>
        <p:spPr>
          <a:xfrm>
            <a:off x="3761155"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5" name="TextBox 14"/>
          <p:cNvSpPr txBox="1"/>
          <p:nvPr/>
        </p:nvSpPr>
        <p:spPr>
          <a:xfrm>
            <a:off x="3761155"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6" name="Rounded Rectangle 15"/>
          <p:cNvSpPr/>
          <p:nvPr/>
        </p:nvSpPr>
        <p:spPr>
          <a:xfrm>
            <a:off x="6233007"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8903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19" name="TextBox 18"/>
          <p:cNvSpPr txBox="1"/>
          <p:nvPr/>
        </p:nvSpPr>
        <p:spPr>
          <a:xfrm>
            <a:off x="6489039"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0" name="TextBox 19"/>
          <p:cNvSpPr txBox="1"/>
          <p:nvPr/>
        </p:nvSpPr>
        <p:spPr>
          <a:xfrm>
            <a:off x="6489039"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알고 싶어”</a:t>
            </a:r>
          </a:p>
        </p:txBody>
      </p:sp>
      <p:sp>
        <p:nvSpPr>
          <p:cNvPr id="21" name="Rounded Rectangle 20"/>
          <p:cNvSpPr/>
          <p:nvPr/>
        </p:nvSpPr>
        <p:spPr>
          <a:xfrm>
            <a:off x="8960891" y="2176272"/>
            <a:ext cx="2453563"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1692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692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4" name="TextBox 23"/>
          <p:cNvSpPr txBox="1"/>
          <p:nvPr/>
        </p:nvSpPr>
        <p:spPr>
          <a:xfrm>
            <a:off x="9216923" y="2834640"/>
            <a:ext cx="1941499"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5" name="TextBox 24"/>
          <p:cNvSpPr txBox="1"/>
          <p:nvPr/>
        </p:nvSpPr>
        <p:spPr>
          <a:xfrm>
            <a:off x="9216923" y="3145536"/>
            <a:ext cx="1941499"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물어봐 줘”</a:t>
            </a:r>
          </a:p>
        </p:txBody>
      </p:sp>
      <p:sp>
        <p:nvSpPr>
          <p:cNvPr id="26" name="Rounded Rectangle 25"/>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4261104"/>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네 가지를 합치면 이런 질문이 됩니다</a:t>
            </a:r>
          </a:p>
        </p:txBody>
      </p:sp>
      <p:sp>
        <p:nvSpPr>
          <p:cNvPr id="28" name="Rectangle 27"/>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막는 대신, 앞뒤에 한 가지씩 붙입니다.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초등학생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지금은 금지할 때가 아니라, 습관이 자리 잡기 전에 사용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출처가 붙어 있다는 것과 출처가 맞다는 것은 다릅니다.</a:t>
            </a:r>
          </a:p>
        </p:txBody>
      </p:sp>
      <p:sp>
        <p:nvSpPr>
          <p:cNvPr id="6" name="Rounded Rectangle 5"/>
          <p:cNvSpPr/>
          <p:nvPr/>
        </p:nvSpPr>
        <p:spPr>
          <a:xfrm>
            <a:off x="777240"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링크가 실제로 열리나?</a:t>
            </a:r>
          </a:p>
        </p:txBody>
      </p:sp>
      <p:sp>
        <p:nvSpPr>
          <p:cNvPr id="10" name="TextBox 9"/>
          <p:cNvSpPr txBox="1"/>
          <p:nvPr/>
        </p:nvSpPr>
        <p:spPr>
          <a:xfrm>
            <a:off x="1069848"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존재하지 않는 주소를</a:t>
            </a:r>
          </a:p>
          <a:p>
            <a:pPr algn="l">
              <a:lnSpc>
                <a:spcPct val="130000"/>
              </a:lnSpc>
            </a:pPr>
            <a:r>
              <a:rPr sz="1300" b="0">
                <a:solidFill>
                  <a:srgbClr val="3E4C59"/>
                </a:solidFill>
                <a:latin typeface="맑은 고딕"/>
                <a:ea typeface="맑은 고딕"/>
                <a:cs typeface="맑은 고딕"/>
              </a:rPr>
              <a:t>만들어 내기도 합니다.</a:t>
            </a:r>
          </a:p>
        </p:txBody>
      </p:sp>
      <p:sp>
        <p:nvSpPr>
          <p:cNvPr id="11" name="Rounded Rectangle 10"/>
          <p:cNvSpPr/>
          <p:nvPr/>
        </p:nvSpPr>
        <p:spPr>
          <a:xfrm>
            <a:off x="4453128"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원문에 그 내용이 있나?</a:t>
            </a:r>
          </a:p>
        </p:txBody>
      </p:sp>
      <p:sp>
        <p:nvSpPr>
          <p:cNvPr id="15" name="TextBox 14"/>
          <p:cNvSpPr txBox="1"/>
          <p:nvPr/>
        </p:nvSpPr>
        <p:spPr>
          <a:xfrm>
            <a:off x="4745736"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링크는 진짜인데 내용은</a:t>
            </a:r>
          </a:p>
          <a:p>
            <a:pPr algn="l">
              <a:lnSpc>
                <a:spcPct val="130000"/>
              </a:lnSpc>
            </a:pPr>
            <a:r>
              <a:rPr sz="13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8129016" y="2176272"/>
            <a:ext cx="3291840" cy="187451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날짜와 대상이 맞나?</a:t>
            </a:r>
          </a:p>
        </p:txBody>
      </p:sp>
      <p:sp>
        <p:nvSpPr>
          <p:cNvPr id="20" name="TextBox 19"/>
          <p:cNvSpPr txBox="1"/>
          <p:nvPr/>
        </p:nvSpPr>
        <p:spPr>
          <a:xfrm>
            <a:off x="8421624" y="3310128"/>
            <a:ext cx="2706624"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오래된 자료이거나</a:t>
            </a:r>
          </a:p>
          <a:p>
            <a:pPr algn="l">
              <a:lnSpc>
                <a:spcPct val="130000"/>
              </a:lnSpc>
            </a:pPr>
            <a:r>
              <a:rPr sz="13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777240" y="4297680"/>
            <a:ext cx="10637215" cy="749808"/>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4498848"/>
            <a:ext cx="9905695" cy="365760"/>
          </a:xfrm>
          <a:prstGeom prst="rect">
            <a:avLst/>
          </a:prstGeom>
          <a:noFill/>
        </p:spPr>
        <p:txBody>
          <a:bodyPr wrap="square" anchor="t" lIns="0" rIns="0" tIns="0" bIns="0">
            <a:spAutoFit/>
          </a:bodyPr>
          <a:lstStyle/>
          <a:p>
            <a:pPr algn="l">
              <a:lnSpc>
                <a:spcPct val="115000"/>
              </a:lnSpc>
            </a:pPr>
            <a:r>
              <a:rPr sz="1550" b="1">
                <a:solidFill>
                  <a:srgbClr val="B91C1C"/>
                </a:solidFill>
                <a:latin typeface="맑은 고딕"/>
                <a:ea typeface="맑은 고딕"/>
                <a:cs typeface="맑은 고딕"/>
              </a:rPr>
              <a:t>같은 AI에게 “정말 맞아?”라고 다시 묻는 것은 독립적인 검증이 아닙니다.</a:t>
            </a:r>
          </a:p>
        </p:txBody>
      </p:sp>
      <p:sp>
        <p:nvSpPr>
          <p:cNvPr id="23" name="Rounded Rectangle 22"/>
          <p:cNvSpPr/>
          <p:nvPr/>
        </p:nvSpPr>
        <p:spPr>
          <a:xfrm>
            <a:off x="777240" y="5230368"/>
            <a:ext cx="10637215" cy="98755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413248"/>
            <a:ext cx="9905695" cy="640080"/>
          </a:xfrm>
          <a:prstGeom prst="rect">
            <a:avLst/>
          </a:prstGeom>
          <a:noFill/>
        </p:spPr>
        <p:txBody>
          <a:bodyPr wrap="square" anchor="t" lIns="0" rIns="0" tIns="0" bIns="0">
            <a:spAutoFit/>
          </a:bodyPr>
          <a:lstStyle/>
          <a:p>
            <a:pPr algn="l">
              <a:lnSpc>
                <a:spcPct val="135000"/>
              </a:lnSpc>
            </a:pPr>
            <a:r>
              <a:rPr sz="1450" b="0">
                <a:solidFill>
                  <a:srgbClr val="3E4C59"/>
                </a:solidFill>
                <a:latin typeface="맑은 고딕"/>
                <a:ea typeface="맑은 고딕"/>
                <a:cs typeface="맑은 고딕"/>
              </a:rPr>
              <a:t>청소년의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온라인 정보의 진위가 불분명할 때 출처를 확인하는 등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에 그쳤습니다.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한국청소년정책연구원, 『청소년의 생성형 AI 이용실태 및 리터러시 증진방안 연구』(연구보고 24-기본02)</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아이를 시험하는 말이 아니라, 함께 확인하자는 초대가 되도록 말해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평가에서도 개인정보 보호는 별도 영역으로 다뤄집니다.</a:t>
            </a:r>
          </a:p>
          <a:p>
            <a:pPr algn="l">
              <a:lnSpc>
                <a:spcPct val="135000"/>
              </a:lnSpc>
              <a:spcAft>
                <a:spcPts val="400"/>
              </a:spcAft>
            </a:pPr>
            <a:r>
              <a:rPr sz="1450" b="0">
                <a:solidFill>
                  <a:srgbClr val="3E4C59"/>
                </a:solidFill>
                <a:latin typeface="맑은 고딕"/>
                <a:ea typeface="맑은 고딕"/>
                <a:cs typeface="맑은 고딕"/>
              </a:rPr>
              <a:t>과제에 AI를 활용할 때 무엇을 입력했는지까지 살피도록 안내되어 있습니다. 집에서도 같은 기준을 쓰면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어떤 도구를 미리 배워두면 좋을까요?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 제품의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계속 바뀝니다. </a:t>
            </a:r>
            <a:r>
              <a:rPr sz="1450" b="1">
                <a:solidFill>
                  <a:srgbClr val="0E7C86"/>
                </a:solidFill>
                <a:latin typeface="맑은 고딕"/>
                <a:ea typeface="맑은 고딕"/>
                <a:cs typeface="맑은 고딕"/>
              </a:rPr>
              <a:t>바뀌지 않는 것은 위의 다섯 가지입니다.</a:t>
            </a:r>
          </a:p>
          <a:p>
            <a:pPr algn="l">
              <a:lnSpc>
                <a:spcPct val="135000"/>
              </a:lnSpc>
              <a:spcAft>
                <a:spcPts val="400"/>
              </a:spcAft>
            </a:pPr>
            <a:r>
              <a:rPr sz="1450" b="0">
                <a:solidFill>
                  <a:srgbClr val="3E4C59"/>
                </a:solidFill>
                <a:latin typeface="맑은 고딕"/>
                <a:ea typeface="맑은 고딕"/>
                <a:cs typeface="맑은 고딕"/>
              </a:rPr>
              <a:t>AI는 이 활동을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이상한 답변을 보여 주는 것은 문제가 생겼다는 신호가 아니라, 부모를 믿고 있다는 신호입니다.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 오늘 한 장을 완성해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다룬 질문에 대한 짧은 답입니다.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아이의 생각을 지키는 일은 AI를 막는 데서 시작하지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함께 확인하고, 자기 말로 설명하게 하는 데서 시작합니다.</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하단에 출처, 발표자 노트에 연구 조건·해석의 한계·퀴즈 정답 수록.</dc:description>
  <cp:lastModifiedBy>Steve Canny</cp:lastModifiedBy>
  <cp:revision>1</cp:revision>
  <dcterms:created xsi:type="dcterms:W3CDTF">2013-01-27T09:14:16Z</dcterms:created>
  <dcterms:modified xsi:type="dcterms:W3CDTF">2013-01-27T09:15:58Z</dcterms:modified>
  <cp:category/>
</cp:coreProperties>
</file>